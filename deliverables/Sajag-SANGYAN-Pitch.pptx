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solution" id="{e7e97cb9-1a51-9662-123a-115409547b39}">
          <p14:sldIdLst>
            <p14:sldId id="256"/>
            <p14:sldId id="257"/>
            <p14:sldId id="258"/>
            <p14:sldId id="259"/>
          </p14:sldIdLst>
        </p14:section>
        <p14:section name="Demo and results" id="{e144d928-8fda-870b-a954-70d392fc5a5d}">
          <p14:sldIdLst>
            <p14:sldId id="260"/>
            <p14:sldId id="261"/>
            <p14:sldId id="262"/>
          </p14:sldIdLst>
        </p14:section>
        <p14:section name="How it works" id="{00904baa-5ff9-5f40-0124-33f428a286b0}">
          <p14:sldIdLst>
            <p14:sldId id="263"/>
            <p14:sldId id="264"/>
            <p14:sldId id="265"/>
          </p14:sldIdLst>
        </p14:section>
        <p14:section name="Evaluation and next steps" id="{07fc5c41-42a7-12c4-4233-bdacaa83aadd}">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convincing investment offer arriving in your family chat. Urgent wording and unfamiliar financial terms make it hard to judge. For first-time investors, the challenge is understanding the request before money or personal information changes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this is Sajag. Sajag connects checking with learning. Bring a message, understand the quoted warning, then explore the lessons behind it. Our web and Android prototype combines a private offline check with an optional AI review. No investment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Sajag combines two tracks in one journey.
Track C, Investor Education for Bharat: the lessons cover all seven terms the track names (NAV, risk, diversification, volatility, compounding, fees and nomination) with everyday analogies in English, Hindi and Bengali, and Listen reads them aloud. The money simulator lets people feel a sudden dip, an uneven journey or borrowing with fictional tokens.
Track E, Misinformation and Financial Content Literacy: the checker quotes the words behind each warning, links relevant official guidance and states uncertainty as levels instead of a true or false verdict. Each message also gets a purpose label that separates promotion from education.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look at the quoted words on screen. They explain what triggered the warnings, with relevant official guidance and context. Sharing and saving remain separate choices. Lessons and fictional simulations turn a warning into understanding. Android Back returns sections Home after closing overlays.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seen what the warning tells us and why these features matter, let's put them to a test. We'll move from the explanation to a few actual checks to see how the system responds to different types of messages. We'll start with a fictional parcel message asking for ₹49 to release a delivery. We'll run it locally, give permission for AI review, and then see what the result looks like. Next, we'll look at a routine insurance premium notice. The offline check raises a pattern warning, and the AI review label shows why the warning was withdrawn while keeping the result visible as context. These are genuine website checks using fictional messages, to demonstrate how the system behaves without making any claim about real-world accuracy. AI can still be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look at the language screens: English, Hindi and Bengali are interface choices. Messages can also use Hinglish and Banglish. That gives 5 tested language forms, including Romanised Hindi and Bengali. Bengali remains beta, awaiting native-speaker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counts from the test: 150 synthetic messages, 75 risky and 75 harmless, across 5 language forms. Offline got 124 correct, which is 82.7%. With AI, that makes 149 correct, which is 99.3%: a very good accuracy. Risky messages flagged rose from 57 to 74 out of 75. Harmless false alarms fell from 8 to 0 out of 75. AI completed 145 reviews; 5 used offline fallback. These results are not real-world guarantees, but yes, these are the testing results of our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two layers on the screen. Local rules and a small pattern model check wording on the device without sending any message. With permission, RAG retrieves relevant SEBI, RBI and government guidance for Gemini, our AI model. New AI warnings need matching quoted words and official guidance. A second pass confirms or withdraws warnings. Strong results cannot be withdrawn. Offline provides access; AI adds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look at 15 lessons: 7 money concepts and 8 scam lessons. 4 fictional chat stories reveal pressure tactics through your choices. A small task-job reward can lead to deposit demands. In the money simulator, a 20% loss needs a 25% rise to recover. This is arithmetic, not a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create and verify their account once, and returning users sign in securely with their password. Before every AI check, users can see what information will be shared and give explicit permission. Sensitive content is masked before it leaves the device, and users remain in control of what they choose to save. Core features continue to work offline, while AI review is used only by user choice. AI submissions may be subject to the provider's data policies, and locally saved notebook data is not encrypted.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Sajag to the five published evaluation criteria and their weights.
Performance figures come from the held-out test on the accuracy slide. The weights come from the hackathon brief. Product details such as languages, app size and the number of guidance cards come from the released app. Real-user impact is the next stage of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Sajag brings warning, explanation and practice together into a learning journey, helping people not just identify a risky message, but understand why it is risky and make a safer decision next time. This is Sajag by Team FirstBest: Anshuman Biswal and me, Masud Ali. Understand before you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241949"/>
        </a:solidFill>
      </p:bgPr>
    </p:bg>
    <p:spTree>
      <p:nvGrpSpPr>
        <p:cNvPr id="1" name=""/>
        <p:cNvGrpSpPr/>
        <p:nvPr/>
      </p:nvGrpSpPr>
      <p:grpSpPr>
        <a:xfrm>
          <a:off x="0" y="0"/>
          <a:ext cx="0" cy="0"/>
          <a:chOff x="0" y="0"/>
          <a:chExt cx="0" cy="0"/>
        </a:xfrm>
      </p:grpSpPr>
      <p:sp>
        <p:nvSpPr>
          <p:cNvPr id="2" name="Text 0"/>
          <p:cNvSpPr/>
          <p:nvPr/>
        </p:nvSpPr>
        <p:spPr>
          <a:xfrm>
            <a:off x="548640" y="6428232"/>
            <a:ext cx="2286000" cy="228600"/>
          </a:xfrm>
          <a:prstGeom prst="rect">
            <a:avLst/>
          </a:prstGeom>
          <a:noFill/>
          <a:ln/>
        </p:spPr>
        <p:txBody>
          <a:bodyPr wrap="square" lIns="0" tIns="0" rIns="0" bIns="0" rtlCol="0" anchor="ctr"/>
          <a:lstStyle/>
          <a:p>
            <a:pPr indent="0" marL="0">
              <a:buNone/>
            </a:pPr>
            <a:r>
              <a:rPr lang="en-US" sz="1000" b="1" dirty="0">
                <a:solidFill>
                  <a:srgbClr val="A9A2D6"/>
                </a:solidFill>
              </a:rPr>
              <a:t>sajag.</a:t>
            </a:r>
            <a:endParaRPr lang="en-US" sz="1000" dirty="0"/>
          </a:p>
        </p:txBody>
      </p:sp>
      <p:sp>
        <p:nvSpPr>
          <p:cNvPr id="3" name="Text 1"/>
          <p:cNvSpPr/>
          <p:nvPr/>
        </p:nvSpPr>
        <p:spPr>
          <a:xfrm>
            <a:off x="8229600" y="6428232"/>
            <a:ext cx="3017520" cy="228600"/>
          </a:xfrm>
          <a:prstGeom prst="rect">
            <a:avLst/>
          </a:prstGeom>
          <a:noFill/>
          <a:ln/>
        </p:spPr>
        <p:txBody>
          <a:bodyPr wrap="square" lIns="0" tIns="0" rIns="0" bIns="0" rtlCol="0" anchor="ctr"/>
          <a:lstStyle/>
          <a:p>
            <a:pPr algn="r" indent="0" marL="0">
              <a:buNone/>
            </a:pPr>
            <a:r>
              <a:rPr lang="en-US" sz="1000" dirty="0">
                <a:solidFill>
                  <a:srgbClr val="A9A2D6"/>
                </a:solidFill>
              </a:rPr>
              <a:t>Team FirstBest</a:t>
            </a:r>
            <a:endParaRPr lang="en-US" sz="1000" dirty="0"/>
          </a:p>
        </p:txBody>
      </p:sp>
      <p:sp>
        <p:nvSpPr>
          <p:cNvPr id="4" name="Text 2"/>
          <p:cNvSpPr/>
          <p:nvPr>
            <p:ph idx="102" type="body" hasCustomPrompt="1"/>
          </p:nvPr>
        </p:nvSpPr>
        <p:spPr>
          <a:xfrm>
            <a:off x="640080" y="1207008"/>
            <a:ext cx="6126480" cy="292608"/>
          </a:xfrm>
          <a:prstGeom prst="rect">
            <a:avLst/>
          </a:prstGeom>
          <a:noFill/>
          <a:ln/>
        </p:spPr>
        <p:txBody>
          <a:bodyPr wrap="square" rtlCol="0"/>
          <a:lstStyle>
            <a:lvl1pPr algn="l" indent="0" marL="0">
              <a:buNone/>
              <a:defRPr lang="en-US" sz="1200" b="1" dirty="0">
                <a:solidFill>
                  <a:srgbClr val="B9B1F5"/>
                </a:solidFill>
              </a:defRPr>
            </a:lvl1pPr>
          </a:lstStyle>
          <a:p>
            <a:pPr algn="l" indent="0" marL="0">
              <a:buNone/>
            </a:pPr>
            <a:endParaRPr lang="en-US" sz="1200" dirty="0"/>
          </a:p>
        </p:txBody>
      </p:sp>
      <p:sp>
        <p:nvSpPr>
          <p:cNvPr id="5" name="Text 2"/>
          <p:cNvSpPr/>
          <p:nvPr>
            <p:ph idx="103" type="title" hasCustomPrompt="1"/>
          </p:nvPr>
        </p:nvSpPr>
        <p:spPr>
          <a:xfrm>
            <a:off x="640080" y="1554480"/>
            <a:ext cx="6126480" cy="1280160"/>
          </a:xfrm>
          <a:prstGeom prst="rect">
            <a:avLst/>
          </a:prstGeom>
          <a:noFill/>
          <a:ln/>
        </p:spPr>
        <p:txBody>
          <a:bodyPr wrap="square" rtlCol="0"/>
          <a:lstStyle>
            <a:lvl1pPr algn="l" indent="0" marL="0">
              <a:buNone/>
              <a:defRPr lang="en-US" sz="3800" b="1" dirty="0">
                <a:solidFill>
                  <a:srgbClr val="FFFFFF"/>
                </a:solidFill>
              </a:defRPr>
            </a:lvl1pPr>
          </a:lstStyle>
          <a:p>
            <a:pPr algn="l" indent="0" marL="0">
              <a:buNone/>
            </a:pPr>
            <a:endParaRPr lang="en-US" sz="3800" dirty="0"/>
          </a:p>
        </p:txBody>
      </p:sp>
      <p:sp>
        <p:nvSpPr>
          <p:cNvPr id="25" name="Slide Number Placeholder 0"/>
          <p:cNvSpPr>
            <a:spLocks noGrp="1"/>
          </p:cNvSpPr>
          <p:nvPr>
            <p:ph type="sldNum" sz="quarter" idx="4294967295"/>
          </p:nvPr>
        </p:nvSpPr>
        <p:spPr>
          <a:xfrm>
            <a:off x="11091672" y="642823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A2D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28232"/>
            <a:ext cx="2286000" cy="228600"/>
          </a:xfrm>
          <a:prstGeom prst="rect">
            <a:avLst/>
          </a:prstGeom>
          <a:noFill/>
          <a:ln/>
        </p:spPr>
        <p:txBody>
          <a:bodyPr wrap="square" lIns="0" tIns="0" rIns="0" bIns="0" rtlCol="0" anchor="ctr"/>
          <a:lstStyle/>
          <a:p>
            <a:pPr indent="0" marL="0">
              <a:buNone/>
            </a:pPr>
            <a:r>
              <a:rPr lang="en-US" sz="1000" b="1" dirty="0">
                <a:solidFill>
                  <a:srgbClr val="6B6685"/>
                </a:solidFill>
              </a:rPr>
              <a:t>sajag.</a:t>
            </a:r>
            <a:endParaRPr lang="en-US" sz="1000" dirty="0"/>
          </a:p>
        </p:txBody>
      </p:sp>
      <p:sp>
        <p:nvSpPr>
          <p:cNvPr id="3" name="Text 1"/>
          <p:cNvSpPr/>
          <p:nvPr/>
        </p:nvSpPr>
        <p:spPr>
          <a:xfrm>
            <a:off x="8229600" y="6428232"/>
            <a:ext cx="3017520" cy="228600"/>
          </a:xfrm>
          <a:prstGeom prst="rect">
            <a:avLst/>
          </a:prstGeom>
          <a:noFill/>
          <a:ln/>
        </p:spPr>
        <p:txBody>
          <a:bodyPr wrap="square" lIns="0" tIns="0" rIns="0" bIns="0" rtlCol="0" anchor="ctr"/>
          <a:lstStyle/>
          <a:p>
            <a:pPr algn="r" indent="0" marL="0">
              <a:buNone/>
            </a:pPr>
            <a:r>
              <a:rPr lang="en-US" sz="1000" dirty="0">
                <a:solidFill>
                  <a:srgbClr val="6B6685"/>
                </a:solidFill>
              </a:rPr>
              <a:t>Team FirstBest</a:t>
            </a:r>
            <a:endParaRPr lang="en-US" sz="1000" dirty="0"/>
          </a:p>
        </p:txBody>
      </p:sp>
      <p:sp>
        <p:nvSpPr>
          <p:cNvPr id="4" name="Text 2"/>
          <p:cNvSpPr/>
          <p:nvPr>
            <p:ph idx="102" type="body" hasCustomPrompt="1"/>
          </p:nvPr>
        </p:nvSpPr>
        <p:spPr>
          <a:xfrm>
            <a:off x="548640" y="365760"/>
            <a:ext cx="8229600" cy="274320"/>
          </a:xfrm>
          <a:prstGeom prst="rect">
            <a:avLst/>
          </a:prstGeom>
          <a:noFill/>
          <a:ln/>
        </p:spPr>
        <p:txBody>
          <a:bodyPr wrap="square" rtlCol="0"/>
          <a:lstStyle>
            <a:lvl1pPr algn="l" indent="0" marL="0">
              <a:buNone/>
              <a:defRPr lang="en-US" sz="1200" b="1" dirty="0">
                <a:solidFill>
                  <a:srgbClr val="6955E8"/>
                </a:solidFill>
              </a:defRPr>
            </a:lvl1pPr>
          </a:lstStyle>
          <a:p>
            <a:pPr algn="l" indent="0" marL="0">
              <a:buNone/>
            </a:pPr>
            <a:endParaRPr lang="en-US" sz="1200" dirty="0"/>
          </a:p>
        </p:txBody>
      </p:sp>
      <p:sp>
        <p:nvSpPr>
          <p:cNvPr id="5" name="Text 2"/>
          <p:cNvSpPr/>
          <p:nvPr>
            <p:ph idx="103" type="title" hasCustomPrompt="1"/>
          </p:nvPr>
        </p:nvSpPr>
        <p:spPr>
          <a:xfrm>
            <a:off x="548640" y="658368"/>
            <a:ext cx="11064240" cy="603504"/>
          </a:xfrm>
          <a:prstGeom prst="rect">
            <a:avLst/>
          </a:prstGeom>
          <a:noFill/>
          <a:ln/>
        </p:spPr>
        <p:txBody>
          <a:bodyPr wrap="square" rtlCol="0"/>
          <a:lstStyle>
            <a:lvl1pPr algn="l" indent="0" marL="0">
              <a:buNone/>
              <a:defRPr lang="en-US" sz="3000" b="1" dirty="0">
                <a:solidFill>
                  <a:srgbClr val="1E1B2E"/>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2823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68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2823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A2D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2.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3.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hyperlink" Target="https://sajag-ashen.vercel.app" TargetMode="Externa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7" Type="http://schemas.openxmlformats.org/officeDocument/2006/relationships/image" Target="../media/image-12-6.png"/><Relationship Id="rId8" Type="http://schemas.openxmlformats.org/officeDocument/2006/relationships/slideLayout" Target="../slideLayouts/slideLayout2.xml"/><Relationship Id="rId9"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2" type="body" hasCustomPrompt="1"/>
          </p:nvPr>
        </p:nvSpPr>
        <p:spPr>
          <a:xfrm>
            <a:off x="640080" y="1207008"/>
            <a:ext cx="6126480" cy="292608"/>
          </a:xfrm>
          <a:prstGeom prst="rect">
            <a:avLst/>
          </a:prstGeom>
          <a:noFill/>
          <a:ln/>
        </p:spPr>
        <p:txBody>
          <a:bodyPr wrap="square" lIns="0" tIns="0" rIns="0" bIns="0" rtlCol="0" anchor="ctr"/>
          <a:lstStyle/>
          <a:p>
            <a:pPr algn="l" indent="0" marL="0">
              <a:buNone/>
            </a:pPr>
            <a:r>
              <a:rPr lang="en-US" sz="1200" b="1" spc="150" kern="0" dirty="0">
                <a:solidFill>
                  <a:srgbClr val="B9B1F5"/>
                </a:solidFill>
              </a:rPr>
              <a:t>01   THE PROBLEM</a:t>
            </a:r>
            <a:endParaRPr lang="en-US" sz="1200" dirty="0"/>
          </a:p>
        </p:txBody>
      </p:sp>
      <p:sp>
        <p:nvSpPr>
          <p:cNvPr id="3" name="Text 2"/>
          <p:cNvSpPr/>
          <p:nvPr>
            <p:ph idx="103" type="title" hasCustomPrompt="1"/>
          </p:nvPr>
        </p:nvSpPr>
        <p:spPr>
          <a:xfrm>
            <a:off x="640080" y="1554480"/>
            <a:ext cx="6126480" cy="1280160"/>
          </a:xfrm>
          <a:prstGeom prst="rect">
            <a:avLst/>
          </a:prstGeom>
          <a:noFill/>
          <a:ln/>
        </p:spPr>
        <p:txBody>
          <a:bodyPr wrap="square" lIns="0" tIns="0" rIns="0" bIns="0" rtlCol="0" anchor="t"/>
          <a:lstStyle/>
          <a:p>
            <a:pPr algn="l" indent="0" marL="0">
              <a:buNone/>
            </a:pPr>
            <a:r>
              <a:rPr lang="en-US" sz="3800" b="1" dirty="0">
                <a:solidFill>
                  <a:srgbClr val="FFFFFF"/>
                </a:solidFill>
              </a:rPr>
              <a:t>A convincing offer lands in the family chat</a:t>
            </a:r>
            <a:endParaRPr lang="en-US" sz="3800" dirty="0"/>
          </a:p>
        </p:txBody>
      </p:sp>
      <p:sp>
        <p:nvSpPr>
          <p:cNvPr id="5" name="logo tile"/>
          <p:cNvSpPr/>
          <p:nvPr/>
        </p:nvSpPr>
        <p:spPr>
          <a:xfrm>
            <a:off x="640080" y="457200"/>
            <a:ext cx="512064" cy="512064"/>
          </a:xfrm>
          <a:prstGeom prst="roundRect">
            <a:avLst>
              <a:gd name="adj" fmla="val 25000"/>
            </a:avLst>
          </a:prstGeom>
          <a:solidFill>
            <a:schemeClr val="accent1"/>
          </a:solidFill>
          <a:ln/>
        </p:spPr>
      </p:sp>
      <p:pic>
        <p:nvPicPr>
          <p:cNvPr id="6" name="Image 0" descr="Sajag shield">    </p:cNvPr>
          <p:cNvPicPr>
            <a:picLocks noChangeAspect="1"/>
          </p:cNvPicPr>
          <p:nvPr/>
        </p:nvPicPr>
        <p:blipFill>
          <a:blip r:embed="rId1"/>
          <a:stretch>
            <a:fillRect/>
          </a:stretch>
        </p:blipFill>
        <p:spPr>
          <a:xfrm>
            <a:off x="740664" y="557784"/>
            <a:ext cx="310896" cy="310896"/>
          </a:xfrm>
          <a:prstGeom prst="rect">
            <a:avLst/>
          </a:prstGeom>
        </p:spPr>
      </p:pic>
      <p:sp>
        <p:nvSpPr>
          <p:cNvPr id="7" name="Text 3"/>
          <p:cNvSpPr txBox="1"/>
          <p:nvPr/>
        </p:nvSpPr>
        <p:spPr>
          <a:xfrm>
            <a:off x="1298448" y="457200"/>
            <a:ext cx="5303520" cy="512064"/>
          </a:xfrm>
          <a:prstGeom prst="rect">
            <a:avLst/>
          </a:prstGeom>
          <a:noFill/>
          <a:ln/>
        </p:spPr>
        <p:txBody>
          <a:bodyPr wrap="square" lIns="0" tIns="0" rIns="0" bIns="0" rtlCol="0" anchor="ctr"/>
          <a:lstStyle/>
          <a:p>
            <a:pPr indent="0" marL="0">
              <a:buNone/>
            </a:pPr>
            <a:r>
              <a:rPr lang="en-US" sz="2400" b="1" dirty="0">
                <a:solidFill>
                  <a:srgbClr val="FFFFFF"/>
                </a:solidFill>
              </a:rPr>
              <a:t>sajag.</a:t>
            </a:r>
            <a:pPr indent="0" marL="0">
              <a:buNone/>
            </a:pPr>
            <a:r>
              <a:rPr lang="en-US" sz="1400" dirty="0">
                <a:solidFill>
                  <a:srgbClr val="C9C2F2"/>
                </a:solidFill>
              </a:rPr>
              <a:t>   Understand before you act.</a:t>
            </a:r>
            <a:endParaRPr lang="en-US" sz="1400" dirty="0"/>
          </a:p>
        </p:txBody>
      </p:sp>
      <p:sp>
        <p:nvSpPr>
          <p:cNvPr id="8" name="Text 4"/>
          <p:cNvSpPr txBox="1"/>
          <p:nvPr/>
        </p:nvSpPr>
        <p:spPr>
          <a:xfrm>
            <a:off x="640080" y="2880360"/>
            <a:ext cx="5943600" cy="914400"/>
          </a:xfrm>
          <a:prstGeom prst="rect">
            <a:avLst/>
          </a:prstGeom>
          <a:noFill/>
          <a:ln/>
        </p:spPr>
        <p:txBody>
          <a:bodyPr wrap="square" lIns="0" tIns="0" rIns="0" bIns="0" rtlCol="0" anchor="t"/>
          <a:lstStyle/>
          <a:p>
            <a:pPr indent="0" marL="0">
              <a:lnSpc>
                <a:spcPct val="112000"/>
              </a:lnSpc>
              <a:buNone/>
            </a:pPr>
            <a:r>
              <a:rPr lang="en-US" sz="1600" dirty="0">
                <a:solidFill>
                  <a:srgbClr val="DAD5F7"/>
                </a:solidFill>
              </a:rPr>
              <a:t>Urgent wording and unfamiliar financial terms make it hard to judge. The challenge is understanding what a message asks before money or personal details change hands.</a:t>
            </a:r>
            <a:endParaRPr lang="en-US" sz="1600" dirty="0"/>
          </a:p>
        </p:txBody>
      </p:sp>
      <p:sp>
        <p:nvSpPr>
          <p:cNvPr id="9" name="Text 5"/>
          <p:cNvSpPr txBox="1"/>
          <p:nvPr/>
        </p:nvSpPr>
        <p:spPr>
          <a:xfrm>
            <a:off x="640080" y="3986784"/>
            <a:ext cx="5486400" cy="274320"/>
          </a:xfrm>
          <a:prstGeom prst="rect">
            <a:avLst/>
          </a:prstGeom>
          <a:noFill/>
          <a:ln/>
        </p:spPr>
        <p:txBody>
          <a:bodyPr wrap="square" lIns="0" tIns="0" rIns="0" bIns="0" rtlCol="0" anchor="t"/>
          <a:lstStyle/>
          <a:p>
            <a:pPr indent="0" marL="0">
              <a:buNone/>
            </a:pPr>
            <a:r>
              <a:rPr lang="en-US" sz="1100" b="1" spc="150" kern="0" dirty="0">
                <a:solidFill>
                  <a:srgbClr val="B9B1F5"/>
                </a:solidFill>
              </a:rPr>
              <a:t>WHO WE BUILT FOR</a:t>
            </a:r>
            <a:endParaRPr lang="en-US" sz="1100" dirty="0"/>
          </a:p>
        </p:txBody>
      </p:sp>
      <p:sp>
        <p:nvSpPr>
          <p:cNvPr id="10" name="Shape 6"/>
          <p:cNvSpPr/>
          <p:nvPr/>
        </p:nvSpPr>
        <p:spPr>
          <a:xfrm>
            <a:off x="640080" y="4361688"/>
            <a:ext cx="384048" cy="384048"/>
          </a:xfrm>
          <a:prstGeom prst="ellipse">
            <a:avLst/>
          </a:prstGeom>
          <a:solidFill>
            <a:srgbClr val="3A2D72"/>
          </a:solidFill>
          <a:ln/>
        </p:spPr>
      </p:sp>
      <p:pic>
        <p:nvPicPr>
          <p:cNvPr id="11" name="Image 1" descr="preencoded.png">    </p:cNvPr>
          <p:cNvPicPr>
            <a:picLocks noChangeAspect="1"/>
          </p:cNvPicPr>
          <p:nvPr/>
        </p:nvPicPr>
        <p:blipFill>
          <a:blip r:embed="rId2"/>
          <a:stretch>
            <a:fillRect/>
          </a:stretch>
        </p:blipFill>
        <p:spPr>
          <a:xfrm>
            <a:off x="731520" y="4453128"/>
            <a:ext cx="201168" cy="201168"/>
          </a:xfrm>
          <a:prstGeom prst="rect">
            <a:avLst/>
          </a:prstGeom>
        </p:spPr>
      </p:pic>
      <p:sp>
        <p:nvSpPr>
          <p:cNvPr id="12" name="Text 7"/>
          <p:cNvSpPr txBox="1"/>
          <p:nvPr/>
        </p:nvSpPr>
        <p:spPr>
          <a:xfrm>
            <a:off x="1143000" y="4334256"/>
            <a:ext cx="2423160" cy="457200"/>
          </a:xfrm>
          <a:prstGeom prst="rect">
            <a:avLst/>
          </a:prstGeom>
          <a:noFill/>
          <a:ln/>
        </p:spPr>
        <p:txBody>
          <a:bodyPr wrap="square" lIns="0" tIns="0" rIns="0" bIns="0" rtlCol="0" anchor="ctr"/>
          <a:lstStyle/>
          <a:p>
            <a:pPr indent="0" marL="0">
              <a:buNone/>
            </a:pPr>
            <a:r>
              <a:rPr lang="en-US" sz="1200" dirty="0">
                <a:solidFill>
                  <a:srgbClr val="FFFFFF"/>
                </a:solidFill>
              </a:rPr>
              <a:t>First-time investors in Tier-2 and Tier-3 cities</a:t>
            </a:r>
            <a:endParaRPr lang="en-US" sz="1200" dirty="0"/>
          </a:p>
        </p:txBody>
      </p:sp>
      <p:sp>
        <p:nvSpPr>
          <p:cNvPr id="13" name="Shape 8"/>
          <p:cNvSpPr/>
          <p:nvPr/>
        </p:nvSpPr>
        <p:spPr>
          <a:xfrm>
            <a:off x="3657600" y="4361688"/>
            <a:ext cx="384048" cy="384048"/>
          </a:xfrm>
          <a:prstGeom prst="ellipse">
            <a:avLst/>
          </a:prstGeom>
          <a:solidFill>
            <a:srgbClr val="3A2D72"/>
          </a:solidFill>
          <a:ln/>
        </p:spPr>
      </p:sp>
      <p:pic>
        <p:nvPicPr>
          <p:cNvPr id="14" name="Image 2" descr="preencoded.png">    </p:cNvPr>
          <p:cNvPicPr>
            <a:picLocks noChangeAspect="1"/>
          </p:cNvPicPr>
          <p:nvPr/>
        </p:nvPicPr>
        <p:blipFill>
          <a:blip r:embed="rId3"/>
          <a:stretch>
            <a:fillRect/>
          </a:stretch>
        </p:blipFill>
        <p:spPr>
          <a:xfrm>
            <a:off x="3749040" y="4453128"/>
            <a:ext cx="201168" cy="201168"/>
          </a:xfrm>
          <a:prstGeom prst="rect">
            <a:avLst/>
          </a:prstGeom>
        </p:spPr>
      </p:pic>
      <p:sp>
        <p:nvSpPr>
          <p:cNvPr id="15" name="Text 9"/>
          <p:cNvSpPr txBox="1"/>
          <p:nvPr/>
        </p:nvSpPr>
        <p:spPr>
          <a:xfrm>
            <a:off x="4160520" y="4334256"/>
            <a:ext cx="2423160" cy="457200"/>
          </a:xfrm>
          <a:prstGeom prst="rect">
            <a:avLst/>
          </a:prstGeom>
          <a:noFill/>
          <a:ln/>
        </p:spPr>
        <p:txBody>
          <a:bodyPr wrap="square" lIns="0" tIns="0" rIns="0" bIns="0" rtlCol="0" anchor="ctr"/>
          <a:lstStyle/>
          <a:p>
            <a:pPr indent="0" marL="0">
              <a:buNone/>
            </a:pPr>
            <a:r>
              <a:rPr lang="en-US" sz="1200" dirty="0">
                <a:solidFill>
                  <a:srgbClr val="FFFFFF"/>
                </a:solidFill>
              </a:rPr>
              <a:t>People more at home in Hindi or Bengali</a:t>
            </a:r>
            <a:endParaRPr lang="en-US" sz="1200" dirty="0"/>
          </a:p>
        </p:txBody>
      </p:sp>
      <p:sp>
        <p:nvSpPr>
          <p:cNvPr id="16" name="Shape 10"/>
          <p:cNvSpPr/>
          <p:nvPr/>
        </p:nvSpPr>
        <p:spPr>
          <a:xfrm>
            <a:off x="640080" y="4928616"/>
            <a:ext cx="384048" cy="384048"/>
          </a:xfrm>
          <a:prstGeom prst="ellipse">
            <a:avLst/>
          </a:prstGeom>
          <a:solidFill>
            <a:srgbClr val="3A2D72"/>
          </a:solidFill>
          <a:ln/>
        </p:spPr>
      </p:sp>
      <p:pic>
        <p:nvPicPr>
          <p:cNvPr id="17" name="Image 3" descr="preencoded.png">    </p:cNvPr>
          <p:cNvPicPr>
            <a:picLocks noChangeAspect="1"/>
          </p:cNvPicPr>
          <p:nvPr/>
        </p:nvPicPr>
        <p:blipFill>
          <a:blip r:embed="rId4"/>
          <a:stretch>
            <a:fillRect/>
          </a:stretch>
        </p:blipFill>
        <p:spPr>
          <a:xfrm>
            <a:off x="731520" y="5020056"/>
            <a:ext cx="201168" cy="201168"/>
          </a:xfrm>
          <a:prstGeom prst="rect">
            <a:avLst/>
          </a:prstGeom>
        </p:spPr>
      </p:pic>
      <p:sp>
        <p:nvSpPr>
          <p:cNvPr id="18" name="Text 11"/>
          <p:cNvSpPr txBox="1"/>
          <p:nvPr/>
        </p:nvSpPr>
        <p:spPr>
          <a:xfrm>
            <a:off x="1143000" y="4901184"/>
            <a:ext cx="2423160" cy="457200"/>
          </a:xfrm>
          <a:prstGeom prst="rect">
            <a:avLst/>
          </a:prstGeom>
          <a:noFill/>
          <a:ln/>
        </p:spPr>
        <p:txBody>
          <a:bodyPr wrap="square" lIns="0" tIns="0" rIns="0" bIns="0" rtlCol="0" anchor="ctr"/>
          <a:lstStyle/>
          <a:p>
            <a:pPr indent="0" marL="0">
              <a:buNone/>
            </a:pPr>
            <a:r>
              <a:rPr lang="en-US" sz="1200" dirty="0">
                <a:solidFill>
                  <a:srgbClr val="FFFFFF"/>
                </a:solidFill>
              </a:rPr>
              <a:t>Families who receive forwarded offers</a:t>
            </a:r>
            <a:endParaRPr lang="en-US" sz="1200" dirty="0"/>
          </a:p>
        </p:txBody>
      </p:sp>
      <p:sp>
        <p:nvSpPr>
          <p:cNvPr id="19" name="Shape 12"/>
          <p:cNvSpPr/>
          <p:nvPr/>
        </p:nvSpPr>
        <p:spPr>
          <a:xfrm>
            <a:off x="3657600" y="4928616"/>
            <a:ext cx="384048" cy="384048"/>
          </a:xfrm>
          <a:prstGeom prst="ellipse">
            <a:avLst/>
          </a:prstGeom>
          <a:solidFill>
            <a:srgbClr val="3A2D72"/>
          </a:solidFill>
          <a:ln/>
        </p:spPr>
      </p:sp>
      <p:pic>
        <p:nvPicPr>
          <p:cNvPr id="20" name="Image 4" descr="preencoded.png">    </p:cNvPr>
          <p:cNvPicPr>
            <a:picLocks noChangeAspect="1"/>
          </p:cNvPicPr>
          <p:nvPr/>
        </p:nvPicPr>
        <p:blipFill>
          <a:blip r:embed="rId5"/>
          <a:stretch>
            <a:fillRect/>
          </a:stretch>
        </p:blipFill>
        <p:spPr>
          <a:xfrm>
            <a:off x="3749040" y="5020056"/>
            <a:ext cx="201168" cy="201168"/>
          </a:xfrm>
          <a:prstGeom prst="rect">
            <a:avLst/>
          </a:prstGeom>
        </p:spPr>
      </p:pic>
      <p:sp>
        <p:nvSpPr>
          <p:cNvPr id="21" name="Text 13"/>
          <p:cNvSpPr txBox="1"/>
          <p:nvPr/>
        </p:nvSpPr>
        <p:spPr>
          <a:xfrm>
            <a:off x="4160520" y="4901184"/>
            <a:ext cx="2423160" cy="457200"/>
          </a:xfrm>
          <a:prstGeom prst="rect">
            <a:avLst/>
          </a:prstGeom>
          <a:noFill/>
          <a:ln/>
        </p:spPr>
        <p:txBody>
          <a:bodyPr wrap="square" lIns="0" tIns="0" rIns="0" bIns="0" rtlCol="0" anchor="ctr"/>
          <a:lstStyle/>
          <a:p>
            <a:pPr indent="0" marL="0">
              <a:buNone/>
            </a:pPr>
            <a:r>
              <a:rPr lang="en-US" sz="1200" dirty="0">
                <a:solidFill>
                  <a:srgbClr val="FFFFFF"/>
                </a:solidFill>
              </a:rPr>
              <a:t>Anyone who prefers listening to reading</a:t>
            </a:r>
            <a:endParaRPr lang="en-US" sz="1200" dirty="0"/>
          </a:p>
        </p:txBody>
      </p:sp>
      <p:sp>
        <p:nvSpPr>
          <p:cNvPr id="22" name="Text 14"/>
          <p:cNvSpPr txBox="1"/>
          <p:nvPr/>
        </p:nvSpPr>
        <p:spPr>
          <a:xfrm>
            <a:off x="640080" y="5596128"/>
            <a:ext cx="6035040" cy="594360"/>
          </a:xfrm>
          <a:prstGeom prst="rect">
            <a:avLst/>
          </a:prstGeom>
          <a:noFill/>
          <a:ln/>
        </p:spPr>
        <p:txBody>
          <a:bodyPr wrap="square" lIns="0" tIns="0" rIns="0" bIns="0" rtlCol="0" anchor="t"/>
          <a:lstStyle/>
          <a:p>
            <a:pPr indent="0" marL="0">
              <a:buNone/>
            </a:pPr>
            <a:r>
              <a:rPr lang="en-US" sz="1400" b="1" dirty="0">
                <a:solidFill>
                  <a:srgbClr val="FFFFFF"/>
                </a:solidFill>
              </a:rPr>
              <a:t>Team FirstBest</a:t>
            </a:r>
            <a:pPr indent="0" marL="0">
              <a:buNone/>
            </a:pPr>
            <a:r>
              <a:rPr lang="en-US" sz="1400" dirty="0">
                <a:solidFill>
                  <a:srgbClr val="DAD5F7"/>
                </a:solidFill>
              </a:rPr>
              <a:t>  ·  Anshuman Biswal · Masud Ali</a:t>
            </a:r>
            <a:endParaRPr lang="en-US" sz="1400" dirty="0"/>
          </a:p>
          <a:p>
            <a:pPr indent="0" marL="0">
              <a:buNone/>
            </a:pPr>
            <a:r>
              <a:rPr lang="en-US" sz="1100" dirty="0">
                <a:solidFill>
                  <a:srgbClr val="9C95C9"/>
                </a:solidFill>
              </a:rPr>
              <a:t>SANGYAN Investor Resilience Hackathon · Track C and Track E</a:t>
            </a:r>
            <a:endParaRPr lang="en-US" sz="1400" dirty="0"/>
          </a:p>
        </p:txBody>
      </p:sp>
      <p:sp>
        <p:nvSpPr>
          <p:cNvPr id="23" name="chat card"/>
          <p:cNvSpPr/>
          <p:nvPr/>
        </p:nvSpPr>
        <p:spPr>
          <a:xfrm>
            <a:off x="7086600" y="1051560"/>
            <a:ext cx="4526280" cy="4892040"/>
          </a:xfrm>
          <a:prstGeom prst="roundRect">
            <a:avLst>
              <a:gd name="adj" fmla="val 4444"/>
            </a:avLst>
          </a:prstGeom>
          <a:solidFill>
            <a:srgbClr val="F7F6FC"/>
          </a:solidFill>
          <a:ln/>
          <a:effectLst>
            <a:outerShdw sx="100000" sy="100000" kx="0" ky="0" algn="bl" rotWithShape="0" blurRad="304800" dist="101600" dir="5400000">
              <a:srgbClr val="000000">
                <a:alpha val="35000"/>
              </a:srgbClr>
            </a:outerShdw>
          </a:effectLst>
        </p:spPr>
      </p:sp>
      <p:sp>
        <p:nvSpPr>
          <p:cNvPr id="24" name="chat header"/>
          <p:cNvSpPr/>
          <p:nvPr/>
        </p:nvSpPr>
        <p:spPr>
          <a:xfrm>
            <a:off x="7086600" y="1051560"/>
            <a:ext cx="4526280" cy="777240"/>
          </a:xfrm>
          <a:prstGeom prst="roundRect">
            <a:avLst>
              <a:gd name="adj" fmla="val 25882"/>
            </a:avLst>
          </a:prstGeom>
          <a:solidFill>
            <a:srgbClr val="FFFFFF"/>
          </a:solidFill>
          <a:ln/>
        </p:spPr>
      </p:sp>
      <p:sp>
        <p:nvSpPr>
          <p:cNvPr id="25" name="Shape 17"/>
          <p:cNvSpPr/>
          <p:nvPr/>
        </p:nvSpPr>
        <p:spPr>
          <a:xfrm>
            <a:off x="7086600" y="1600200"/>
            <a:ext cx="4526280" cy="228600"/>
          </a:xfrm>
          <a:prstGeom prst="rect">
            <a:avLst/>
          </a:prstGeom>
          <a:solidFill>
            <a:srgbClr val="FFFFFF"/>
          </a:solidFill>
          <a:ln/>
        </p:spPr>
      </p:sp>
      <p:sp>
        <p:nvSpPr>
          <p:cNvPr id="26" name="Shape 18"/>
          <p:cNvSpPr/>
          <p:nvPr/>
        </p:nvSpPr>
        <p:spPr>
          <a:xfrm>
            <a:off x="7360920" y="1207008"/>
            <a:ext cx="475488" cy="475488"/>
          </a:xfrm>
          <a:prstGeom prst="ellipse">
            <a:avLst/>
          </a:prstGeom>
          <a:solidFill>
            <a:schemeClr val="accent4"/>
          </a:solidFill>
          <a:ln/>
        </p:spPr>
      </p:sp>
      <p:pic>
        <p:nvPicPr>
          <p:cNvPr id="27" name="Image 5" descr="preencoded.png">    </p:cNvPr>
          <p:cNvPicPr>
            <a:picLocks noChangeAspect="1"/>
          </p:cNvPicPr>
          <p:nvPr/>
        </p:nvPicPr>
        <p:blipFill>
          <a:blip r:embed="rId6"/>
          <a:stretch>
            <a:fillRect/>
          </a:stretch>
        </p:blipFill>
        <p:spPr>
          <a:xfrm>
            <a:off x="7470648" y="1316736"/>
            <a:ext cx="256032" cy="256032"/>
          </a:xfrm>
          <a:prstGeom prst="rect">
            <a:avLst/>
          </a:prstGeom>
        </p:spPr>
      </p:pic>
      <p:sp>
        <p:nvSpPr>
          <p:cNvPr id="28" name="Text 19"/>
          <p:cNvSpPr txBox="1"/>
          <p:nvPr/>
        </p:nvSpPr>
        <p:spPr>
          <a:xfrm>
            <a:off x="7982712" y="1234440"/>
            <a:ext cx="3108960" cy="502920"/>
          </a:xfrm>
          <a:prstGeom prst="rect">
            <a:avLst/>
          </a:prstGeom>
          <a:noFill/>
          <a:ln/>
        </p:spPr>
        <p:txBody>
          <a:bodyPr wrap="square" lIns="0" tIns="0" rIns="0" bIns="0" rtlCol="0" anchor="t"/>
          <a:lstStyle/>
          <a:p>
            <a:pPr indent="0" marL="0">
              <a:buNone/>
            </a:pPr>
            <a:r>
              <a:rPr lang="en-US" sz="1500" b="1" dirty="0">
                <a:solidFill>
                  <a:srgbClr val="1E1B2E"/>
                </a:solidFill>
              </a:rPr>
              <a:t>Family group</a:t>
            </a:r>
            <a:endParaRPr lang="en-US" sz="1400" dirty="0"/>
          </a:p>
          <a:p>
            <a:pPr indent="0" marL="0">
              <a:buNone/>
            </a:pPr>
            <a:r>
              <a:rPr lang="en-US" sz="1100" dirty="0">
                <a:solidFill>
                  <a:srgbClr val="6B6685"/>
                </a:solidFill>
              </a:rPr>
              <a:t>Forwarded message</a:t>
            </a:r>
            <a:endParaRPr lang="en-US" sz="1400" dirty="0"/>
          </a:p>
        </p:txBody>
      </p:sp>
      <p:sp>
        <p:nvSpPr>
          <p:cNvPr id="29" name="message bubble"/>
          <p:cNvSpPr/>
          <p:nvPr/>
        </p:nvSpPr>
        <p:spPr>
          <a:xfrm>
            <a:off x="7360920" y="2103120"/>
            <a:ext cx="3840480" cy="1417320"/>
          </a:xfrm>
          <a:prstGeom prst="roundRect">
            <a:avLst>
              <a:gd name="adj" fmla="val 10323"/>
            </a:avLst>
          </a:prstGeom>
          <a:solidFill>
            <a:srgbClr val="FFFFFF"/>
          </a:solidFill>
          <a:ln w="12700">
            <a:solidFill>
              <a:srgbClr val="E4E0F5"/>
            </a:solidFill>
            <a:prstDash val="solid"/>
          </a:ln>
        </p:spPr>
      </p:sp>
      <p:sp>
        <p:nvSpPr>
          <p:cNvPr id="30" name="Text 21"/>
          <p:cNvSpPr txBox="1"/>
          <p:nvPr/>
        </p:nvSpPr>
        <p:spPr>
          <a:xfrm>
            <a:off x="7543800" y="2240280"/>
            <a:ext cx="3474720" cy="1188720"/>
          </a:xfrm>
          <a:prstGeom prst="rect">
            <a:avLst/>
          </a:prstGeom>
          <a:noFill/>
          <a:ln/>
        </p:spPr>
        <p:txBody>
          <a:bodyPr wrap="square" lIns="0" tIns="0" rIns="0" bIns="0" rtlCol="0" anchor="t"/>
          <a:lstStyle/>
          <a:p>
            <a:pPr indent="0" marL="0">
              <a:lnSpc>
                <a:spcPct val="110000"/>
              </a:lnSpc>
              <a:buNone/>
            </a:pPr>
            <a:r>
              <a:rPr lang="en-US" sz="1600" dirty="0">
                <a:solidFill>
                  <a:srgbClr val="1E1B2E"/>
                </a:solidFill>
              </a:rPr>
              <a:t>Har mahine 8% pakka return. Join our VIP group today; only 5 places left.</a:t>
            </a:r>
            <a:endParaRPr lang="en-US" sz="1400" dirty="0"/>
          </a:p>
          <a:p>
            <a:pPr indent="0" marL="0">
              <a:lnSpc>
                <a:spcPct val="110000"/>
              </a:lnSpc>
              <a:buNone/>
            </a:pPr>
            <a:r>
              <a:rPr lang="en-US" sz="1200" i="1" dirty="0">
                <a:solidFill>
                  <a:srgbClr val="6B6685"/>
                </a:solidFill>
              </a:rPr>
              <a:t>“8% guaranteed every month. Join today; only 5 places left.”</a:t>
            </a:r>
            <a:endParaRPr lang="en-US" sz="1400" dirty="0"/>
          </a:p>
        </p:txBody>
      </p:sp>
      <p:sp>
        <p:nvSpPr>
          <p:cNvPr id="31" name="Text 22"/>
          <p:cNvSpPr txBox="1"/>
          <p:nvPr/>
        </p:nvSpPr>
        <p:spPr>
          <a:xfrm>
            <a:off x="7360920" y="3685032"/>
            <a:ext cx="2377440" cy="274320"/>
          </a:xfrm>
          <a:prstGeom prst="rect">
            <a:avLst/>
          </a:prstGeom>
          <a:noFill/>
          <a:ln/>
        </p:spPr>
        <p:txBody>
          <a:bodyPr wrap="square" lIns="0" tIns="0" rIns="0" bIns="0" rtlCol="0" anchor="ctr"/>
          <a:lstStyle/>
          <a:p>
            <a:pPr indent="0" marL="0">
              <a:buNone/>
            </a:pPr>
            <a:r>
              <a:rPr lang="en-US" sz="1100" b="1" spc="100" kern="0" dirty="0">
                <a:solidFill>
                  <a:srgbClr val="6B6685"/>
                </a:solidFill>
              </a:rPr>
              <a:t>WHAT SAJAG POINTS OUT</a:t>
            </a:r>
            <a:endParaRPr lang="en-US" sz="1100" dirty="0"/>
          </a:p>
        </p:txBody>
      </p:sp>
      <p:sp>
        <p:nvSpPr>
          <p:cNvPr id="32" name="chip Promotional cues"/>
          <p:cNvSpPr/>
          <p:nvPr/>
        </p:nvSpPr>
        <p:spPr>
          <a:xfrm>
            <a:off x="9738360" y="3666744"/>
            <a:ext cx="1600200" cy="310896"/>
          </a:xfrm>
          <a:prstGeom prst="roundRect">
            <a:avLst>
              <a:gd name="adj" fmla="val 50000"/>
            </a:avLst>
          </a:prstGeom>
          <a:solidFill>
            <a:srgbClr val="ECE8FB"/>
          </a:solidFill>
          <a:ln/>
        </p:spPr>
      </p:sp>
      <p:sp>
        <p:nvSpPr>
          <p:cNvPr id="33" name="Text 24"/>
          <p:cNvSpPr txBox="1"/>
          <p:nvPr/>
        </p:nvSpPr>
        <p:spPr>
          <a:xfrm>
            <a:off x="9738360" y="3666744"/>
            <a:ext cx="1600200" cy="310896"/>
          </a:xfrm>
          <a:prstGeom prst="rect">
            <a:avLst/>
          </a:prstGeom>
          <a:noFill/>
          <a:ln/>
        </p:spPr>
        <p:txBody>
          <a:bodyPr wrap="square" lIns="0" tIns="0" rIns="0" bIns="0" rtlCol="0" anchor="ctr"/>
          <a:lstStyle/>
          <a:p>
            <a:pPr algn="ctr" indent="0" marL="0">
              <a:buNone/>
            </a:pPr>
            <a:r>
              <a:rPr lang="en-US" sz="1100" b="1" dirty="0">
                <a:solidFill>
                  <a:srgbClr val="4B3BB5"/>
                </a:solidFill>
              </a:rPr>
              <a:t>Promotional cues</a:t>
            </a:r>
            <a:endParaRPr lang="en-US" sz="1100" dirty="0"/>
          </a:p>
        </p:txBody>
      </p:sp>
      <p:sp>
        <p:nvSpPr>
          <p:cNvPr id="34" name="cue 1"/>
          <p:cNvSpPr/>
          <p:nvPr/>
        </p:nvSpPr>
        <p:spPr>
          <a:xfrm>
            <a:off x="7360920" y="4023360"/>
            <a:ext cx="3977640" cy="457200"/>
          </a:xfrm>
          <a:prstGeom prst="roundRect">
            <a:avLst>
              <a:gd name="adj" fmla="val 20000"/>
            </a:avLst>
          </a:prstGeom>
          <a:solidFill>
            <a:srgbClr val="FFF1DC"/>
          </a:solidFill>
          <a:ln/>
        </p:spPr>
      </p:sp>
      <p:pic>
        <p:nvPicPr>
          <p:cNvPr id="35" name="Image 6" descr="preencoded.png">    </p:cNvPr>
          <p:cNvPicPr>
            <a:picLocks noChangeAspect="1"/>
          </p:cNvPicPr>
          <p:nvPr/>
        </p:nvPicPr>
        <p:blipFill>
          <a:blip r:embed="rId7"/>
          <a:stretch>
            <a:fillRect/>
          </a:stretch>
        </p:blipFill>
        <p:spPr>
          <a:xfrm>
            <a:off x="7498080" y="4133088"/>
            <a:ext cx="237744" cy="237744"/>
          </a:xfrm>
          <a:prstGeom prst="rect">
            <a:avLst/>
          </a:prstGeom>
        </p:spPr>
      </p:pic>
      <p:sp>
        <p:nvSpPr>
          <p:cNvPr id="36" name="Text 26"/>
          <p:cNvSpPr txBox="1"/>
          <p:nvPr/>
        </p:nvSpPr>
        <p:spPr>
          <a:xfrm>
            <a:off x="7818120" y="4023360"/>
            <a:ext cx="3429000" cy="457200"/>
          </a:xfrm>
          <a:prstGeom prst="rect">
            <a:avLst/>
          </a:prstGeom>
          <a:noFill/>
          <a:ln/>
        </p:spPr>
        <p:txBody>
          <a:bodyPr wrap="square" lIns="0" tIns="0" rIns="0" bIns="0" rtlCol="0" anchor="ctr"/>
          <a:lstStyle/>
          <a:p>
            <a:pPr indent="0" marL="0">
              <a:buNone/>
            </a:pPr>
            <a:r>
              <a:rPr lang="en-US" sz="1250" b="1" dirty="0">
                <a:solidFill>
                  <a:srgbClr val="1E1B2E"/>
                </a:solidFill>
              </a:rPr>
              <a:t>A promise that needs evidence  </a:t>
            </a:r>
            <a:pPr indent="0" marL="0">
              <a:buNone/>
            </a:pPr>
            <a:r>
              <a:rPr lang="en-US" sz="1250" dirty="0">
                <a:solidFill>
                  <a:srgbClr val="8A5A12"/>
                </a:solidFill>
              </a:rPr>
              <a:t>“pakka return”</a:t>
            </a:r>
            <a:endParaRPr lang="en-US" sz="1250" dirty="0"/>
          </a:p>
        </p:txBody>
      </p:sp>
      <p:sp>
        <p:nvSpPr>
          <p:cNvPr id="37" name="cue 2"/>
          <p:cNvSpPr/>
          <p:nvPr/>
        </p:nvSpPr>
        <p:spPr>
          <a:xfrm>
            <a:off x="7360920" y="4553712"/>
            <a:ext cx="3977640" cy="457200"/>
          </a:xfrm>
          <a:prstGeom prst="roundRect">
            <a:avLst>
              <a:gd name="adj" fmla="val 20000"/>
            </a:avLst>
          </a:prstGeom>
          <a:solidFill>
            <a:srgbClr val="FFF1DC"/>
          </a:solidFill>
          <a:ln/>
        </p:spPr>
      </p:sp>
      <p:pic>
        <p:nvPicPr>
          <p:cNvPr id="38" name="Image 7" descr="preencoded.png">    </p:cNvPr>
          <p:cNvPicPr>
            <a:picLocks noChangeAspect="1"/>
          </p:cNvPicPr>
          <p:nvPr/>
        </p:nvPicPr>
        <p:blipFill>
          <a:blip r:embed="rId8"/>
          <a:stretch>
            <a:fillRect/>
          </a:stretch>
        </p:blipFill>
        <p:spPr>
          <a:xfrm>
            <a:off x="7498080" y="4663440"/>
            <a:ext cx="237744" cy="237744"/>
          </a:xfrm>
          <a:prstGeom prst="rect">
            <a:avLst/>
          </a:prstGeom>
        </p:spPr>
      </p:pic>
      <p:sp>
        <p:nvSpPr>
          <p:cNvPr id="39" name="Text 28"/>
          <p:cNvSpPr txBox="1"/>
          <p:nvPr/>
        </p:nvSpPr>
        <p:spPr>
          <a:xfrm>
            <a:off x="7818120" y="4553712"/>
            <a:ext cx="3429000" cy="457200"/>
          </a:xfrm>
          <a:prstGeom prst="rect">
            <a:avLst/>
          </a:prstGeom>
          <a:noFill/>
          <a:ln/>
        </p:spPr>
        <p:txBody>
          <a:bodyPr wrap="square" lIns="0" tIns="0" rIns="0" bIns="0" rtlCol="0" anchor="ctr"/>
          <a:lstStyle/>
          <a:p>
            <a:pPr indent="0" marL="0">
              <a:buNone/>
            </a:pPr>
            <a:r>
              <a:rPr lang="en-US" sz="1250" b="1" dirty="0">
                <a:solidFill>
                  <a:srgbClr val="1E1B2E"/>
                </a:solidFill>
              </a:rPr>
              <a:t>Pressure to act quickly  </a:t>
            </a:r>
            <a:pPr indent="0" marL="0">
              <a:buNone/>
            </a:pPr>
            <a:r>
              <a:rPr lang="en-US" sz="1250" dirty="0">
                <a:solidFill>
                  <a:srgbClr val="8A5A12"/>
                </a:solidFill>
              </a:rPr>
              <a:t>“only 5 places left”</a:t>
            </a:r>
            <a:endParaRPr lang="en-US" sz="1250" dirty="0"/>
          </a:p>
        </p:txBody>
      </p:sp>
      <p:sp>
        <p:nvSpPr>
          <p:cNvPr id="40" name="cue 3"/>
          <p:cNvSpPr/>
          <p:nvPr/>
        </p:nvSpPr>
        <p:spPr>
          <a:xfrm>
            <a:off x="7360920" y="5084064"/>
            <a:ext cx="3977640" cy="457200"/>
          </a:xfrm>
          <a:prstGeom prst="roundRect">
            <a:avLst>
              <a:gd name="adj" fmla="val 20000"/>
            </a:avLst>
          </a:prstGeom>
          <a:solidFill>
            <a:srgbClr val="FFF1DC"/>
          </a:solidFill>
          <a:ln/>
        </p:spPr>
      </p:sp>
      <p:pic>
        <p:nvPicPr>
          <p:cNvPr id="41" name="Image 8" descr="preencoded.png">    </p:cNvPr>
          <p:cNvPicPr>
            <a:picLocks noChangeAspect="1"/>
          </p:cNvPicPr>
          <p:nvPr/>
        </p:nvPicPr>
        <p:blipFill>
          <a:blip r:embed="rId9"/>
          <a:stretch>
            <a:fillRect/>
          </a:stretch>
        </p:blipFill>
        <p:spPr>
          <a:xfrm>
            <a:off x="7498080" y="5193792"/>
            <a:ext cx="237744" cy="237744"/>
          </a:xfrm>
          <a:prstGeom prst="rect">
            <a:avLst/>
          </a:prstGeom>
        </p:spPr>
      </p:pic>
      <p:sp>
        <p:nvSpPr>
          <p:cNvPr id="42" name="Text 30"/>
          <p:cNvSpPr txBox="1"/>
          <p:nvPr/>
        </p:nvSpPr>
        <p:spPr>
          <a:xfrm>
            <a:off x="7818120" y="5084064"/>
            <a:ext cx="3429000" cy="457200"/>
          </a:xfrm>
          <a:prstGeom prst="rect">
            <a:avLst/>
          </a:prstGeom>
          <a:noFill/>
          <a:ln/>
        </p:spPr>
        <p:txBody>
          <a:bodyPr wrap="square" lIns="0" tIns="0" rIns="0" bIns="0" rtlCol="0" anchor="ctr"/>
          <a:lstStyle/>
          <a:p>
            <a:pPr indent="0" marL="0">
              <a:buNone/>
            </a:pPr>
            <a:r>
              <a:rPr lang="en-US" sz="1250" b="1" dirty="0">
                <a:solidFill>
                  <a:srgbClr val="1E1B2E"/>
                </a:solidFill>
              </a:rPr>
              <a:t>A possible selling incentive  </a:t>
            </a:r>
            <a:pPr indent="0" marL="0">
              <a:buNone/>
            </a:pPr>
            <a:r>
              <a:rPr lang="en-US" sz="1250" dirty="0">
                <a:solidFill>
                  <a:srgbClr val="8A5A12"/>
                </a:solidFill>
              </a:rPr>
              <a:t>“VIP group”</a:t>
            </a:r>
            <a:endParaRPr lang="en-US" sz="1250" dirty="0"/>
          </a:p>
        </p:txBody>
      </p:sp>
      <p:sp>
        <p:nvSpPr>
          <p:cNvPr id="43" name="Text 31"/>
          <p:cNvSpPr txBox="1"/>
          <p:nvPr/>
        </p:nvSpPr>
        <p:spPr>
          <a:xfrm>
            <a:off x="7360920" y="5614416"/>
            <a:ext cx="3657600" cy="256032"/>
          </a:xfrm>
          <a:prstGeom prst="rect">
            <a:avLst/>
          </a:prstGeom>
          <a:noFill/>
          <a:ln/>
        </p:spPr>
        <p:txBody>
          <a:bodyPr wrap="square" lIns="0" tIns="0" rIns="0" bIns="0" rtlCol="0" anchor="t"/>
          <a:lstStyle/>
          <a:p>
            <a:pPr indent="0" marL="0">
              <a:buNone/>
            </a:pPr>
            <a:r>
              <a:rPr lang="en-US" sz="1000" i="1" dirty="0">
                <a:solidFill>
                  <a:srgbClr val="6B6685"/>
                </a:solidFill>
              </a:rPr>
              <a:t>Fictional example from the app</a:t>
            </a:r>
            <a:endParaRPr lang="en-US" sz="1000" dirty="0"/>
          </a:p>
        </p:txBody>
      </p:sp>
      <p:sp>
        <p:nvSpPr>
          <p:cNvPr id="25" name="Slide Number Placeholder 0"/>
          <p:cNvSpPr>
            <a:spLocks noGrp="1"/>
          </p:cNvSpPr>
          <p:nvPr>
            <p:ph type="sldNum" sz="quarter" idx="4294967295"/>
          </p:nvPr>
        </p:nvSpPr>
        <p:spPr>
          <a:xfrm>
            <a:off x="11091672" y="642823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A2D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8229600" cy="274320"/>
          </a:xfrm>
          <a:prstGeom prst="rect">
            <a:avLst/>
          </a:prstGeom>
          <a:noFill/>
          <a:ln/>
        </p:spPr>
        <p:txBody>
          <a:bodyPr wrap="square" lIns="0" tIns="0" rIns="0" bIns="0" rtlCol="0" anchor="ctr"/>
          <a:lstStyle/>
          <a:p>
            <a:pPr algn="l" indent="0" marL="0">
              <a:buNone/>
            </a:pPr>
            <a:r>
              <a:rPr lang="en-US" sz="1200" b="1" spc="150" kern="0" dirty="0">
                <a:solidFill>
                  <a:srgbClr val="6955E8"/>
                </a:solidFill>
              </a:rPr>
              <a:t>02   OUR SOLUTION</a:t>
            </a:r>
            <a:endParaRPr lang="en-US" sz="1200" dirty="0"/>
          </a:p>
        </p:txBody>
      </p:sp>
      <p:sp>
        <p:nvSpPr>
          <p:cNvPr id="3" name="Text 2"/>
          <p:cNvSpPr/>
          <p:nvPr>
            <p:ph idx="103" type="title" hasCustomPrompt="1"/>
          </p:nvPr>
        </p:nvSpPr>
        <p:spPr>
          <a:xfrm>
            <a:off x="548640" y="658368"/>
            <a:ext cx="11064240" cy="603504"/>
          </a:xfrm>
          <a:prstGeom prst="rect">
            <a:avLst/>
          </a:prstGeom>
          <a:noFill/>
          <a:ln/>
        </p:spPr>
        <p:txBody>
          <a:bodyPr wrap="square" lIns="0" tIns="0" rIns="0" bIns="0" rtlCol="0" anchor="t"/>
          <a:lstStyle/>
          <a:p>
            <a:pPr algn="l" indent="0" marL="0">
              <a:buNone/>
            </a:pPr>
            <a:r>
              <a:rPr lang="en-US" sz="3000" b="1" dirty="0">
                <a:solidFill>
                  <a:srgbClr val="1E1B2E"/>
                </a:solidFill>
              </a:rPr>
              <a:t>Sajag connects checking with learning</a:t>
            </a:r>
            <a:endParaRPr lang="en-US" sz="3000" dirty="0"/>
          </a:p>
        </p:txBody>
      </p:sp>
      <p:sp>
        <p:nvSpPr>
          <p:cNvPr id="5" name="Shape 2"/>
          <p:cNvSpPr/>
          <p:nvPr/>
        </p:nvSpPr>
        <p:spPr>
          <a:xfrm>
            <a:off x="850392" y="1783080"/>
            <a:ext cx="0" cy="2377440"/>
          </a:xfrm>
          <a:prstGeom prst="line">
            <a:avLst/>
          </a:prstGeom>
          <a:noFill/>
          <a:ln w="25400">
            <a:solidFill>
              <a:schemeClr val="accent4"/>
            </a:solidFill>
            <a:prstDash val="dash"/>
          </a:ln>
        </p:spPr>
      </p:sp>
      <p:sp>
        <p:nvSpPr>
          <p:cNvPr id="6" name="ScanSearch badge"/>
          <p:cNvSpPr/>
          <p:nvPr/>
        </p:nvSpPr>
        <p:spPr>
          <a:xfrm>
            <a:off x="548640" y="1481328"/>
            <a:ext cx="603504" cy="603504"/>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699516" y="1632204"/>
            <a:ext cx="301752" cy="301752"/>
          </a:xfrm>
          <a:prstGeom prst="rect">
            <a:avLst/>
          </a:prstGeom>
        </p:spPr>
      </p:pic>
      <p:sp>
        <p:nvSpPr>
          <p:cNvPr id="8" name="Text 4"/>
          <p:cNvSpPr txBox="1"/>
          <p:nvPr/>
        </p:nvSpPr>
        <p:spPr>
          <a:xfrm>
            <a:off x="1371600" y="1463040"/>
            <a:ext cx="3429000" cy="1051560"/>
          </a:xfrm>
          <a:prstGeom prst="rect">
            <a:avLst/>
          </a:prstGeom>
          <a:noFill/>
          <a:ln/>
        </p:spPr>
        <p:txBody>
          <a:bodyPr wrap="square" lIns="0" tIns="0" rIns="0" bIns="0" rtlCol="0" anchor="t"/>
          <a:lstStyle/>
          <a:p>
            <a:pPr indent="0" marL="0">
              <a:lnSpc>
                <a:spcPct val="105000"/>
              </a:lnSpc>
              <a:buNone/>
            </a:pPr>
            <a:r>
              <a:rPr lang="en-US" sz="1800" b="1" dirty="0">
                <a:solidFill>
                  <a:schemeClr val="tx1"/>
                </a:solidFill>
              </a:rPr>
              <a:t>Check a message</a:t>
            </a:r>
            <a:endParaRPr lang="en-US" sz="1400" dirty="0"/>
          </a:p>
          <a:p>
            <a:pPr indent="0" marL="0">
              <a:lnSpc>
                <a:spcPct val="105000"/>
              </a:lnSpc>
              <a:buNone/>
            </a:pPr>
            <a:r>
              <a:rPr lang="en-US" sz="1400" dirty="0">
                <a:solidFill>
                  <a:schemeClr val="accent6"/>
                </a:solidFill>
              </a:rPr>
              <a:t>Paste, type, share or speak it. The first check runs on the device.</a:t>
            </a:r>
            <a:endParaRPr lang="en-US" sz="1400" dirty="0"/>
          </a:p>
        </p:txBody>
      </p:sp>
      <p:sp>
        <p:nvSpPr>
          <p:cNvPr id="9" name="Quote badge"/>
          <p:cNvSpPr/>
          <p:nvPr/>
        </p:nvSpPr>
        <p:spPr>
          <a:xfrm>
            <a:off x="548640" y="2688336"/>
            <a:ext cx="603504" cy="603504"/>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699516" y="2839212"/>
            <a:ext cx="301752" cy="301752"/>
          </a:xfrm>
          <a:prstGeom prst="rect">
            <a:avLst/>
          </a:prstGeom>
        </p:spPr>
      </p:pic>
      <p:sp>
        <p:nvSpPr>
          <p:cNvPr id="11" name="Text 6"/>
          <p:cNvSpPr txBox="1"/>
          <p:nvPr/>
        </p:nvSpPr>
        <p:spPr>
          <a:xfrm>
            <a:off x="1371600" y="2670048"/>
            <a:ext cx="3429000" cy="1051560"/>
          </a:xfrm>
          <a:prstGeom prst="rect">
            <a:avLst/>
          </a:prstGeom>
          <a:noFill/>
          <a:ln/>
        </p:spPr>
        <p:txBody>
          <a:bodyPr wrap="square" lIns="0" tIns="0" rIns="0" bIns="0" rtlCol="0" anchor="t"/>
          <a:lstStyle/>
          <a:p>
            <a:pPr indent="0" marL="0">
              <a:lnSpc>
                <a:spcPct val="105000"/>
              </a:lnSpc>
              <a:buNone/>
            </a:pPr>
            <a:r>
              <a:rPr lang="en-US" sz="1800" b="1" dirty="0">
                <a:solidFill>
                  <a:schemeClr val="tx1"/>
                </a:solidFill>
              </a:rPr>
              <a:t>Understand the warning</a:t>
            </a:r>
            <a:endParaRPr lang="en-US" sz="1400" dirty="0"/>
          </a:p>
          <a:p>
            <a:pPr indent="0" marL="0">
              <a:lnSpc>
                <a:spcPct val="105000"/>
              </a:lnSpc>
              <a:buNone/>
            </a:pPr>
            <a:r>
              <a:rPr lang="en-US" sz="1400" dirty="0">
                <a:solidFill>
                  <a:schemeClr val="accent6"/>
                </a:solidFill>
              </a:rPr>
              <a:t>See the exact words behind it, with relevant official guidance.</a:t>
            </a:r>
            <a:endParaRPr lang="en-US" sz="1400" dirty="0"/>
          </a:p>
        </p:txBody>
      </p:sp>
      <p:sp>
        <p:nvSpPr>
          <p:cNvPr id="12" name="GraduationCap badge"/>
          <p:cNvSpPr/>
          <p:nvPr/>
        </p:nvSpPr>
        <p:spPr>
          <a:xfrm>
            <a:off x="548640" y="3895344"/>
            <a:ext cx="603504" cy="603504"/>
          </a:xfrm>
          <a:prstGeom prst="ellipse">
            <a:avLst/>
          </a:prstGeom>
          <a:solidFill>
            <a:schemeClr val="accent1"/>
          </a:solidFill>
          <a:ln/>
        </p:spPr>
      </p:sp>
      <p:pic>
        <p:nvPicPr>
          <p:cNvPr id="13" name="Image 2" descr="preencoded.png">    </p:cNvPr>
          <p:cNvPicPr>
            <a:picLocks noChangeAspect="1"/>
          </p:cNvPicPr>
          <p:nvPr/>
        </p:nvPicPr>
        <p:blipFill>
          <a:blip r:embed="rId3"/>
          <a:stretch>
            <a:fillRect/>
          </a:stretch>
        </p:blipFill>
        <p:spPr>
          <a:xfrm>
            <a:off x="699516" y="4046220"/>
            <a:ext cx="301752" cy="301752"/>
          </a:xfrm>
          <a:prstGeom prst="rect">
            <a:avLst/>
          </a:prstGeom>
        </p:spPr>
      </p:pic>
      <p:sp>
        <p:nvSpPr>
          <p:cNvPr id="14" name="Text 8"/>
          <p:cNvSpPr txBox="1"/>
          <p:nvPr/>
        </p:nvSpPr>
        <p:spPr>
          <a:xfrm>
            <a:off x="1371600" y="3877056"/>
            <a:ext cx="3429000" cy="1051560"/>
          </a:xfrm>
          <a:prstGeom prst="rect">
            <a:avLst/>
          </a:prstGeom>
          <a:noFill/>
          <a:ln/>
        </p:spPr>
        <p:txBody>
          <a:bodyPr wrap="square" lIns="0" tIns="0" rIns="0" bIns="0" rtlCol="0" anchor="t"/>
          <a:lstStyle/>
          <a:p>
            <a:pPr indent="0" marL="0">
              <a:lnSpc>
                <a:spcPct val="105000"/>
              </a:lnSpc>
              <a:buNone/>
            </a:pPr>
            <a:r>
              <a:rPr lang="en-US" sz="1800" b="1" dirty="0">
                <a:solidFill>
                  <a:schemeClr val="tx1"/>
                </a:solidFill>
              </a:rPr>
              <a:t>Learn the idea behind it</a:t>
            </a:r>
            <a:endParaRPr lang="en-US" sz="1400" dirty="0"/>
          </a:p>
          <a:p>
            <a:pPr indent="0" marL="0">
              <a:lnSpc>
                <a:spcPct val="105000"/>
              </a:lnSpc>
              <a:buNone/>
            </a:pPr>
            <a:r>
              <a:rPr lang="en-US" sz="1400" dirty="0">
                <a:solidFill>
                  <a:schemeClr val="accent6"/>
                </a:solidFill>
              </a:rPr>
              <a:t>Short lessons, fictional chat stories and a money simulator.</a:t>
            </a:r>
            <a:endParaRPr lang="en-US" sz="1400" dirty="0"/>
          </a:p>
        </p:txBody>
      </p:sp>
      <p:sp>
        <p:nvSpPr>
          <p:cNvPr id="15" name="chip Web + Android app"/>
          <p:cNvSpPr/>
          <p:nvPr/>
        </p:nvSpPr>
        <p:spPr>
          <a:xfrm>
            <a:off x="548640" y="5230368"/>
            <a:ext cx="2103120" cy="347472"/>
          </a:xfrm>
          <a:prstGeom prst="roundRect">
            <a:avLst>
              <a:gd name="adj" fmla="val 50000"/>
            </a:avLst>
          </a:prstGeom>
          <a:solidFill>
            <a:schemeClr val="bg2"/>
          </a:solidFill>
          <a:ln/>
        </p:spPr>
      </p:sp>
      <p:sp>
        <p:nvSpPr>
          <p:cNvPr id="16" name="Text 10"/>
          <p:cNvSpPr txBox="1"/>
          <p:nvPr/>
        </p:nvSpPr>
        <p:spPr>
          <a:xfrm>
            <a:off x="548640" y="5230368"/>
            <a:ext cx="2103120" cy="347472"/>
          </a:xfrm>
          <a:prstGeom prst="rect">
            <a:avLst/>
          </a:prstGeom>
          <a:noFill/>
          <a:ln/>
        </p:spPr>
        <p:txBody>
          <a:bodyPr wrap="square" lIns="0" tIns="0" rIns="0" bIns="0" rtlCol="0" anchor="ctr"/>
          <a:lstStyle/>
          <a:p>
            <a:pPr algn="ctr" indent="0" marL="0">
              <a:buNone/>
            </a:pPr>
            <a:r>
              <a:rPr lang="en-US" sz="1200" b="1" dirty="0">
                <a:solidFill>
                  <a:schemeClr val="accent5"/>
                </a:solidFill>
              </a:rPr>
              <a:t>Web + Android app</a:t>
            </a:r>
            <a:endParaRPr lang="en-US" sz="1200" dirty="0"/>
          </a:p>
        </p:txBody>
      </p:sp>
      <p:sp>
        <p:nvSpPr>
          <p:cNvPr id="17" name="chip Private on-device check"/>
          <p:cNvSpPr/>
          <p:nvPr/>
        </p:nvSpPr>
        <p:spPr>
          <a:xfrm>
            <a:off x="2761488" y="5230368"/>
            <a:ext cx="2103120" cy="347472"/>
          </a:xfrm>
          <a:prstGeom prst="roundRect">
            <a:avLst>
              <a:gd name="adj" fmla="val 50000"/>
            </a:avLst>
          </a:prstGeom>
          <a:solidFill>
            <a:schemeClr val="bg2"/>
          </a:solidFill>
          <a:ln/>
        </p:spPr>
      </p:sp>
      <p:sp>
        <p:nvSpPr>
          <p:cNvPr id="18" name="Text 12"/>
          <p:cNvSpPr txBox="1"/>
          <p:nvPr/>
        </p:nvSpPr>
        <p:spPr>
          <a:xfrm>
            <a:off x="2761488" y="5230368"/>
            <a:ext cx="2103120" cy="347472"/>
          </a:xfrm>
          <a:prstGeom prst="rect">
            <a:avLst/>
          </a:prstGeom>
          <a:noFill/>
          <a:ln/>
        </p:spPr>
        <p:txBody>
          <a:bodyPr wrap="square" lIns="0" tIns="0" rIns="0" bIns="0" rtlCol="0" anchor="ctr"/>
          <a:lstStyle/>
          <a:p>
            <a:pPr algn="ctr" indent="0" marL="0">
              <a:buNone/>
            </a:pPr>
            <a:r>
              <a:rPr lang="en-US" sz="1200" b="1" dirty="0">
                <a:solidFill>
                  <a:schemeClr val="accent5"/>
                </a:solidFill>
              </a:rPr>
              <a:t>Private on-device check</a:t>
            </a:r>
            <a:endParaRPr lang="en-US" sz="1200" dirty="0"/>
          </a:p>
        </p:txBody>
      </p:sp>
      <p:sp>
        <p:nvSpPr>
          <p:cNvPr id="19" name="chip Optional AI review"/>
          <p:cNvSpPr/>
          <p:nvPr/>
        </p:nvSpPr>
        <p:spPr>
          <a:xfrm>
            <a:off x="548640" y="5687568"/>
            <a:ext cx="2103120" cy="347472"/>
          </a:xfrm>
          <a:prstGeom prst="roundRect">
            <a:avLst>
              <a:gd name="adj" fmla="val 50000"/>
            </a:avLst>
          </a:prstGeom>
          <a:solidFill>
            <a:schemeClr val="bg2"/>
          </a:solidFill>
          <a:ln/>
        </p:spPr>
      </p:sp>
      <p:sp>
        <p:nvSpPr>
          <p:cNvPr id="20" name="Text 14"/>
          <p:cNvSpPr txBox="1"/>
          <p:nvPr/>
        </p:nvSpPr>
        <p:spPr>
          <a:xfrm>
            <a:off x="548640" y="5687568"/>
            <a:ext cx="2103120" cy="347472"/>
          </a:xfrm>
          <a:prstGeom prst="rect">
            <a:avLst/>
          </a:prstGeom>
          <a:noFill/>
          <a:ln/>
        </p:spPr>
        <p:txBody>
          <a:bodyPr wrap="square" lIns="0" tIns="0" rIns="0" bIns="0" rtlCol="0" anchor="ctr"/>
          <a:lstStyle/>
          <a:p>
            <a:pPr algn="ctr" indent="0" marL="0">
              <a:buNone/>
            </a:pPr>
            <a:r>
              <a:rPr lang="en-US" sz="1200" b="1" dirty="0">
                <a:solidFill>
                  <a:schemeClr val="accent5"/>
                </a:solidFill>
              </a:rPr>
              <a:t>Optional AI review</a:t>
            </a:r>
            <a:endParaRPr lang="en-US" sz="1200" dirty="0"/>
          </a:p>
        </p:txBody>
      </p:sp>
      <p:sp>
        <p:nvSpPr>
          <p:cNvPr id="21" name="chip No investment advice"/>
          <p:cNvSpPr/>
          <p:nvPr/>
        </p:nvSpPr>
        <p:spPr>
          <a:xfrm>
            <a:off x="2761488" y="5687568"/>
            <a:ext cx="2103120" cy="347472"/>
          </a:xfrm>
          <a:prstGeom prst="roundRect">
            <a:avLst>
              <a:gd name="adj" fmla="val 50000"/>
            </a:avLst>
          </a:prstGeom>
          <a:solidFill>
            <a:schemeClr val="bg2"/>
          </a:solidFill>
          <a:ln/>
        </p:spPr>
      </p:sp>
      <p:sp>
        <p:nvSpPr>
          <p:cNvPr id="22" name="Text 16"/>
          <p:cNvSpPr txBox="1"/>
          <p:nvPr/>
        </p:nvSpPr>
        <p:spPr>
          <a:xfrm>
            <a:off x="2761488" y="5687568"/>
            <a:ext cx="2103120" cy="347472"/>
          </a:xfrm>
          <a:prstGeom prst="rect">
            <a:avLst/>
          </a:prstGeom>
          <a:noFill/>
          <a:ln/>
        </p:spPr>
        <p:txBody>
          <a:bodyPr wrap="square" lIns="0" tIns="0" rIns="0" bIns="0" rtlCol="0" anchor="ctr"/>
          <a:lstStyle/>
          <a:p>
            <a:pPr algn="ctr" indent="0" marL="0">
              <a:buNone/>
            </a:pPr>
            <a:r>
              <a:rPr lang="en-US" sz="1200" b="1" dirty="0">
                <a:solidFill>
                  <a:schemeClr val="accent5"/>
                </a:solidFill>
              </a:rPr>
              <a:t>No investment advice</a:t>
            </a:r>
            <a:endParaRPr lang="en-US" sz="1200" dirty="0"/>
          </a:p>
        </p:txBody>
      </p:sp>
      <p:pic>
        <p:nvPicPr>
          <p:cNvPr id="23" name="Image 3" descr="Sajag home page on the live website">    </p:cNvPr>
          <p:cNvPicPr>
            <a:picLocks noChangeAspect="1"/>
          </p:cNvPicPr>
          <p:nvPr/>
        </p:nvPicPr>
        <p:blipFill>
          <a:blip r:embed="rId4"/>
          <a:stretch>
            <a:fillRect/>
          </a:stretch>
        </p:blipFill>
        <p:spPr>
          <a:xfrm>
            <a:off x="5074920" y="1325880"/>
            <a:ext cx="6720840" cy="4525010"/>
          </a:xfrm>
          <a:prstGeom prst="rect">
            <a:avLst/>
          </a:prstGeom>
        </p:spPr>
      </p:pic>
      <p:sp>
        <p:nvSpPr>
          <p:cNvPr id="25" name="Slide Number Placeholder 0"/>
          <p:cNvSpPr>
            <a:spLocks noGrp="1"/>
          </p:cNvSpPr>
          <p:nvPr>
            <p:ph type="sldNum" sz="quarter" idx="4294967295"/>
          </p:nvPr>
        </p:nvSpPr>
        <p:spPr>
          <a:xfrm>
            <a:off x="11091672" y="642823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6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8229600" cy="274320"/>
          </a:xfrm>
          <a:prstGeom prst="rect">
            <a:avLst/>
          </a:prstGeom>
          <a:noFill/>
          <a:ln/>
        </p:spPr>
        <p:txBody>
          <a:bodyPr wrap="square" lIns="0" tIns="0" rIns="0" bIns="0" rtlCol="0" anchor="ctr"/>
          <a:lstStyle/>
          <a:p>
            <a:pPr algn="l" indent="0" marL="0">
              <a:buNone/>
            </a:pPr>
            <a:r>
              <a:rPr lang="en-US" sz="1200" b="1" spc="150" kern="0" dirty="0">
                <a:solidFill>
                  <a:srgbClr val="6955E8"/>
                </a:solidFill>
              </a:rPr>
              <a:t>03   OUR TRACKS</a:t>
            </a:r>
            <a:endParaRPr lang="en-US" sz="1200" dirty="0"/>
          </a:p>
        </p:txBody>
      </p:sp>
      <p:sp>
        <p:nvSpPr>
          <p:cNvPr id="3" name="Text 2"/>
          <p:cNvSpPr/>
          <p:nvPr>
            <p:ph idx="103" type="title" hasCustomPrompt="1"/>
          </p:nvPr>
        </p:nvSpPr>
        <p:spPr>
          <a:xfrm>
            <a:off x="548640" y="658368"/>
            <a:ext cx="11064240" cy="603504"/>
          </a:xfrm>
          <a:prstGeom prst="rect">
            <a:avLst/>
          </a:prstGeom>
          <a:noFill/>
          <a:ln/>
        </p:spPr>
        <p:txBody>
          <a:bodyPr wrap="square" lIns="0" tIns="0" rIns="0" bIns="0" rtlCol="0" anchor="t"/>
          <a:lstStyle/>
          <a:p>
            <a:pPr algn="l" indent="0" marL="0">
              <a:buNone/>
            </a:pPr>
            <a:r>
              <a:rPr lang="en-US" sz="3000" b="1" dirty="0">
                <a:solidFill>
                  <a:srgbClr val="1E1B2E"/>
                </a:solidFill>
              </a:rPr>
              <a:t>Built for Track C and Track E</a:t>
            </a:r>
            <a:endParaRPr lang="en-US" sz="3000" dirty="0"/>
          </a:p>
        </p:txBody>
      </p:sp>
      <p:sp>
        <p:nvSpPr>
          <p:cNvPr id="5" name="TRACK C header"/>
          <p:cNvSpPr/>
          <p:nvPr/>
        </p:nvSpPr>
        <p:spPr>
          <a:xfrm>
            <a:off x="548640" y="1371600"/>
            <a:ext cx="5468112" cy="841248"/>
          </a:xfrm>
          <a:prstGeom prst="roundRect">
            <a:avLst>
              <a:gd name="adj" fmla="val 13043"/>
            </a:avLst>
          </a:prstGeom>
          <a:solidFill>
            <a:schemeClr val="tx2"/>
          </a:solidFill>
          <a:ln/>
        </p:spPr>
      </p:sp>
      <p:sp>
        <p:nvSpPr>
          <p:cNvPr id="6" name="Text 3"/>
          <p:cNvSpPr txBox="1"/>
          <p:nvPr/>
        </p:nvSpPr>
        <p:spPr>
          <a:xfrm>
            <a:off x="822960" y="1371600"/>
            <a:ext cx="5029200" cy="841248"/>
          </a:xfrm>
          <a:prstGeom prst="rect">
            <a:avLst/>
          </a:prstGeom>
          <a:noFill/>
          <a:ln/>
        </p:spPr>
        <p:txBody>
          <a:bodyPr wrap="square" lIns="0" tIns="0" rIns="0" bIns="0" rtlCol="0" anchor="ctr"/>
          <a:lstStyle/>
          <a:p>
            <a:pPr indent="0" marL="0">
              <a:buNone/>
            </a:pPr>
            <a:r>
              <a:rPr lang="en-US" sz="1100" b="1" spc="150" kern="0" dirty="0">
                <a:solidFill>
                  <a:srgbClr val="B9B1F5"/>
                </a:solidFill>
              </a:rPr>
              <a:t>TRACK C</a:t>
            </a:r>
            <a:endParaRPr lang="en-US" sz="1400" dirty="0"/>
          </a:p>
          <a:p>
            <a:pPr indent="0" marL="0">
              <a:buNone/>
            </a:pPr>
            <a:r>
              <a:rPr lang="en-US" sz="1700" b="1" dirty="0">
                <a:solidFill>
                  <a:schemeClr val="bg1"/>
                </a:solidFill>
              </a:rPr>
              <a:t>Investor Education for Bharat</a:t>
            </a:r>
            <a:endParaRPr lang="en-US" sz="1400" dirty="0"/>
          </a:p>
        </p:txBody>
      </p:sp>
      <p:sp>
        <p:nvSpPr>
          <p:cNvPr id="7" name="TRACK C direction 1"/>
          <p:cNvSpPr/>
          <p:nvPr/>
        </p:nvSpPr>
        <p:spPr>
          <a:xfrm>
            <a:off x="548640" y="2377440"/>
            <a:ext cx="5468112" cy="1783080"/>
          </a:xfrm>
          <a:prstGeom prst="roundRect">
            <a:avLst>
              <a:gd name="adj" fmla="val 6154"/>
            </a:avLst>
          </a:prstGeom>
          <a:solidFill>
            <a:schemeClr val="bg2"/>
          </a:solidFill>
          <a:ln/>
        </p:spPr>
      </p:sp>
      <p:sp>
        <p:nvSpPr>
          <p:cNvPr id="8" name="Volume2 badge"/>
          <p:cNvSpPr/>
          <p:nvPr/>
        </p:nvSpPr>
        <p:spPr>
          <a:xfrm>
            <a:off x="777240" y="2624328"/>
            <a:ext cx="603504" cy="603504"/>
          </a:xfrm>
          <a:prstGeom prst="ellipse">
            <a:avLst/>
          </a:prstGeom>
          <a:solidFill>
            <a:schemeClr val="bg1"/>
          </a:solidFill>
          <a:ln/>
        </p:spPr>
      </p:sp>
      <p:pic>
        <p:nvPicPr>
          <p:cNvPr id="9" name="Image 0" descr="preencoded.png">    </p:cNvPr>
          <p:cNvPicPr>
            <a:picLocks noChangeAspect="1"/>
          </p:cNvPicPr>
          <p:nvPr/>
        </p:nvPicPr>
        <p:blipFill>
          <a:blip r:embed="rId1"/>
          <a:stretch>
            <a:fillRect/>
          </a:stretch>
        </p:blipFill>
        <p:spPr>
          <a:xfrm>
            <a:off x="928116" y="2775204"/>
            <a:ext cx="301752" cy="301752"/>
          </a:xfrm>
          <a:prstGeom prst="rect">
            <a:avLst/>
          </a:prstGeom>
        </p:spPr>
      </p:pic>
      <p:sp>
        <p:nvSpPr>
          <p:cNvPr id="10" name="Text 6"/>
          <p:cNvSpPr txBox="1"/>
          <p:nvPr/>
        </p:nvSpPr>
        <p:spPr>
          <a:xfrm>
            <a:off x="1600200" y="2560320"/>
            <a:ext cx="4206240" cy="1508760"/>
          </a:xfrm>
          <a:prstGeom prst="rect">
            <a:avLst/>
          </a:prstGeom>
          <a:noFill/>
          <a:ln/>
        </p:spPr>
        <p:txBody>
          <a:bodyPr wrap="square" lIns="0" tIns="0" rIns="0" bIns="0" rtlCol="0" anchor="t"/>
          <a:lstStyle/>
          <a:p>
            <a:pPr indent="0" marL="0">
              <a:lnSpc>
                <a:spcPct val="105000"/>
              </a:lnSpc>
              <a:buNone/>
            </a:pPr>
            <a:r>
              <a:rPr lang="en-US" sz="1000" b="1" spc="100" kern="0" dirty="0">
                <a:solidFill>
                  <a:schemeClr val="accent6"/>
                </a:solidFill>
              </a:rPr>
              <a:t>SUGGESTED DIRECTION</a:t>
            </a:r>
            <a:endParaRPr lang="en-US" sz="1400" dirty="0"/>
          </a:p>
          <a:p>
            <a:pPr indent="0" marL="0">
              <a:lnSpc>
                <a:spcPct val="105000"/>
              </a:lnSpc>
              <a:buNone/>
            </a:pPr>
            <a:r>
              <a:rPr lang="en-US" sz="1700" b="1" dirty="0">
                <a:solidFill>
                  <a:schemeClr val="tx1"/>
                </a:solidFill>
              </a:rPr>
              <a:t>Voice-first explainer</a:t>
            </a:r>
            <a:endParaRPr lang="en-US" sz="1400" dirty="0"/>
          </a:p>
          <a:p>
            <a:pPr indent="0" marL="0">
              <a:lnSpc>
                <a:spcPct val="105000"/>
              </a:lnSpc>
              <a:buNone/>
            </a:pPr>
            <a:r>
              <a:rPr lang="en-US" sz="1350" dirty="0">
                <a:solidFill>
                  <a:schemeClr val="tx1"/>
                </a:solidFill>
              </a:rPr>
              <a:t>Lessons for all 7 terms the track names: NAV, risk, diversification, volatility, compounding, fees and nomination. Everyday analogies in English, Hindi and Bengali, read aloud with Listen.</a:t>
            </a:r>
            <a:endParaRPr lang="en-US" sz="1400" dirty="0"/>
          </a:p>
        </p:txBody>
      </p:sp>
      <p:sp>
        <p:nvSpPr>
          <p:cNvPr id="11" name="TRACK C direction 2"/>
          <p:cNvSpPr/>
          <p:nvPr/>
        </p:nvSpPr>
        <p:spPr>
          <a:xfrm>
            <a:off x="548640" y="4297680"/>
            <a:ext cx="5468112" cy="1783080"/>
          </a:xfrm>
          <a:prstGeom prst="roundRect">
            <a:avLst>
              <a:gd name="adj" fmla="val 6154"/>
            </a:avLst>
          </a:prstGeom>
          <a:solidFill>
            <a:schemeClr val="bg2"/>
          </a:solidFill>
          <a:ln/>
        </p:spPr>
      </p:sp>
      <p:sp>
        <p:nvSpPr>
          <p:cNvPr id="12" name="Gauge badge"/>
          <p:cNvSpPr/>
          <p:nvPr/>
        </p:nvSpPr>
        <p:spPr>
          <a:xfrm>
            <a:off x="777240" y="4544568"/>
            <a:ext cx="603504" cy="603504"/>
          </a:xfrm>
          <a:prstGeom prst="ellipse">
            <a:avLst/>
          </a:prstGeom>
          <a:solidFill>
            <a:schemeClr val="bg1"/>
          </a:solidFill>
          <a:ln/>
        </p:spPr>
      </p:sp>
      <p:pic>
        <p:nvPicPr>
          <p:cNvPr id="13" name="Image 1" descr="preencoded.png">    </p:cNvPr>
          <p:cNvPicPr>
            <a:picLocks noChangeAspect="1"/>
          </p:cNvPicPr>
          <p:nvPr/>
        </p:nvPicPr>
        <p:blipFill>
          <a:blip r:embed="rId2"/>
          <a:stretch>
            <a:fillRect/>
          </a:stretch>
        </p:blipFill>
        <p:spPr>
          <a:xfrm>
            <a:off x="928116" y="4695444"/>
            <a:ext cx="301752" cy="301752"/>
          </a:xfrm>
          <a:prstGeom prst="rect">
            <a:avLst/>
          </a:prstGeom>
        </p:spPr>
      </p:pic>
      <p:sp>
        <p:nvSpPr>
          <p:cNvPr id="14" name="Text 9"/>
          <p:cNvSpPr txBox="1"/>
          <p:nvPr/>
        </p:nvSpPr>
        <p:spPr>
          <a:xfrm>
            <a:off x="1600200" y="4480560"/>
            <a:ext cx="4206240" cy="1508760"/>
          </a:xfrm>
          <a:prstGeom prst="rect">
            <a:avLst/>
          </a:prstGeom>
          <a:noFill/>
          <a:ln/>
        </p:spPr>
        <p:txBody>
          <a:bodyPr wrap="square" lIns="0" tIns="0" rIns="0" bIns="0" rtlCol="0" anchor="t"/>
          <a:lstStyle/>
          <a:p>
            <a:pPr indent="0" marL="0">
              <a:lnSpc>
                <a:spcPct val="105000"/>
              </a:lnSpc>
              <a:buNone/>
            </a:pPr>
            <a:r>
              <a:rPr lang="en-US" sz="1000" b="1" spc="100" kern="0" dirty="0">
                <a:solidFill>
                  <a:schemeClr val="accent6"/>
                </a:solidFill>
              </a:rPr>
              <a:t>SUGGESTED DIRECTION</a:t>
            </a:r>
            <a:endParaRPr lang="en-US" sz="1400" dirty="0"/>
          </a:p>
          <a:p>
            <a:pPr indent="0" marL="0">
              <a:lnSpc>
                <a:spcPct val="105000"/>
              </a:lnSpc>
              <a:buNone/>
            </a:pPr>
            <a:r>
              <a:rPr lang="en-US" sz="1700" b="1" dirty="0">
                <a:solidFill>
                  <a:schemeClr val="tx1"/>
                </a:solidFill>
              </a:rPr>
              <a:t>Consequence simulator</a:t>
            </a:r>
            <a:endParaRPr lang="en-US" sz="1400" dirty="0"/>
          </a:p>
          <a:p>
            <a:pPr indent="0" marL="0">
              <a:lnSpc>
                <a:spcPct val="105000"/>
              </a:lnSpc>
              <a:buNone/>
            </a:pPr>
            <a:r>
              <a:rPr lang="en-US" sz="1350" dirty="0">
                <a:solidFill>
                  <a:schemeClr val="tx1"/>
                </a:solidFill>
              </a:rPr>
              <a:t>Feel a sudden dip, an uneven journey or borrowing with fictional tokens: zero real money. Four chat stories show where a scam’s choices lead.</a:t>
            </a:r>
            <a:endParaRPr lang="en-US" sz="1400" dirty="0"/>
          </a:p>
        </p:txBody>
      </p:sp>
      <p:sp>
        <p:nvSpPr>
          <p:cNvPr id="15" name="TRACK E header"/>
          <p:cNvSpPr/>
          <p:nvPr/>
        </p:nvSpPr>
        <p:spPr>
          <a:xfrm>
            <a:off x="6190488" y="1371600"/>
            <a:ext cx="5468112" cy="841248"/>
          </a:xfrm>
          <a:prstGeom prst="roundRect">
            <a:avLst>
              <a:gd name="adj" fmla="val 13043"/>
            </a:avLst>
          </a:prstGeom>
          <a:solidFill>
            <a:schemeClr val="tx2"/>
          </a:solidFill>
          <a:ln/>
        </p:spPr>
      </p:sp>
      <p:sp>
        <p:nvSpPr>
          <p:cNvPr id="16" name="Text 11"/>
          <p:cNvSpPr txBox="1"/>
          <p:nvPr/>
        </p:nvSpPr>
        <p:spPr>
          <a:xfrm>
            <a:off x="6464808" y="1371600"/>
            <a:ext cx="5029200" cy="841248"/>
          </a:xfrm>
          <a:prstGeom prst="rect">
            <a:avLst/>
          </a:prstGeom>
          <a:noFill/>
          <a:ln/>
        </p:spPr>
        <p:txBody>
          <a:bodyPr wrap="square" lIns="0" tIns="0" rIns="0" bIns="0" rtlCol="0" anchor="ctr"/>
          <a:lstStyle/>
          <a:p>
            <a:pPr indent="0" marL="0">
              <a:buNone/>
            </a:pPr>
            <a:r>
              <a:rPr lang="en-US" sz="1100" b="1" spc="150" kern="0" dirty="0">
                <a:solidFill>
                  <a:srgbClr val="B9B1F5"/>
                </a:solidFill>
              </a:rPr>
              <a:t>TRACK E</a:t>
            </a:r>
            <a:endParaRPr lang="en-US" sz="1400" dirty="0"/>
          </a:p>
          <a:p>
            <a:pPr indent="0" marL="0">
              <a:buNone/>
            </a:pPr>
            <a:r>
              <a:rPr lang="en-US" sz="1700" b="1" dirty="0">
                <a:solidFill>
                  <a:schemeClr val="bg1"/>
                </a:solidFill>
              </a:rPr>
              <a:t>Misinformation &amp; Financial Content Literacy</a:t>
            </a:r>
            <a:endParaRPr lang="en-US" sz="1400" dirty="0"/>
          </a:p>
        </p:txBody>
      </p:sp>
      <p:sp>
        <p:nvSpPr>
          <p:cNvPr id="17" name="TRACK E direction 1"/>
          <p:cNvSpPr/>
          <p:nvPr/>
        </p:nvSpPr>
        <p:spPr>
          <a:xfrm>
            <a:off x="6190488" y="2377440"/>
            <a:ext cx="5468112" cy="1783080"/>
          </a:xfrm>
          <a:prstGeom prst="roundRect">
            <a:avLst>
              <a:gd name="adj" fmla="val 6154"/>
            </a:avLst>
          </a:prstGeom>
          <a:solidFill>
            <a:schemeClr val="bg2"/>
          </a:solidFill>
          <a:ln/>
        </p:spPr>
      </p:sp>
      <p:sp>
        <p:nvSpPr>
          <p:cNvPr id="18" name="FileCheck2 badge"/>
          <p:cNvSpPr/>
          <p:nvPr/>
        </p:nvSpPr>
        <p:spPr>
          <a:xfrm>
            <a:off x="6419088" y="2624328"/>
            <a:ext cx="603504" cy="603504"/>
          </a:xfrm>
          <a:prstGeom prst="ellipse">
            <a:avLst/>
          </a:prstGeom>
          <a:solidFill>
            <a:schemeClr val="bg1"/>
          </a:solidFill>
          <a:ln/>
        </p:spPr>
      </p:sp>
      <p:pic>
        <p:nvPicPr>
          <p:cNvPr id="19" name="Image 2" descr="preencoded.png">    </p:cNvPr>
          <p:cNvPicPr>
            <a:picLocks noChangeAspect="1"/>
          </p:cNvPicPr>
          <p:nvPr/>
        </p:nvPicPr>
        <p:blipFill>
          <a:blip r:embed="rId3"/>
          <a:stretch>
            <a:fillRect/>
          </a:stretch>
        </p:blipFill>
        <p:spPr>
          <a:xfrm>
            <a:off x="6569964" y="2775204"/>
            <a:ext cx="301752" cy="301752"/>
          </a:xfrm>
          <a:prstGeom prst="rect">
            <a:avLst/>
          </a:prstGeom>
        </p:spPr>
      </p:pic>
      <p:sp>
        <p:nvSpPr>
          <p:cNvPr id="20" name="Text 14"/>
          <p:cNvSpPr txBox="1"/>
          <p:nvPr/>
        </p:nvSpPr>
        <p:spPr>
          <a:xfrm>
            <a:off x="7242048" y="2560320"/>
            <a:ext cx="4206240" cy="1508760"/>
          </a:xfrm>
          <a:prstGeom prst="rect">
            <a:avLst/>
          </a:prstGeom>
          <a:noFill/>
          <a:ln/>
        </p:spPr>
        <p:txBody>
          <a:bodyPr wrap="square" lIns="0" tIns="0" rIns="0" bIns="0" rtlCol="0" anchor="t"/>
          <a:lstStyle/>
          <a:p>
            <a:pPr indent="0" marL="0">
              <a:lnSpc>
                <a:spcPct val="105000"/>
              </a:lnSpc>
              <a:buNone/>
            </a:pPr>
            <a:r>
              <a:rPr lang="en-US" sz="1000" b="1" spc="100" kern="0" dirty="0">
                <a:solidFill>
                  <a:schemeClr val="accent6"/>
                </a:solidFill>
              </a:rPr>
              <a:t>SUGGESTED DIRECTION</a:t>
            </a:r>
            <a:endParaRPr lang="en-US" sz="1400" dirty="0"/>
          </a:p>
          <a:p>
            <a:pPr indent="0" marL="0">
              <a:lnSpc>
                <a:spcPct val="105000"/>
              </a:lnSpc>
              <a:buNone/>
            </a:pPr>
            <a:r>
              <a:rPr lang="en-US" sz="1700" b="1" dirty="0">
                <a:solidFill>
                  <a:schemeClr val="tx1"/>
                </a:solidFill>
              </a:rPr>
              <a:t>Claim evidence-checker</a:t>
            </a:r>
            <a:endParaRPr lang="en-US" sz="1400" dirty="0"/>
          </a:p>
          <a:p>
            <a:pPr indent="0" marL="0">
              <a:lnSpc>
                <a:spcPct val="105000"/>
              </a:lnSpc>
              <a:buNone/>
            </a:pPr>
            <a:r>
              <a:rPr lang="en-US" sz="1350" dirty="0">
                <a:solidFill>
                  <a:schemeClr val="tx1"/>
                </a:solidFill>
              </a:rPr>
              <a:t>Quotes the exact words, links relevant SEBI, RBI and government guidance, and shows Potential, Strong or Not enough evidence, never a true/false verdict. Guidance explains the pattern; the sender and the claim stay unverified.</a:t>
            </a:r>
            <a:endParaRPr lang="en-US" sz="1400" dirty="0"/>
          </a:p>
        </p:txBody>
      </p:sp>
      <p:sp>
        <p:nvSpPr>
          <p:cNvPr id="21" name="TRACK E direction 2"/>
          <p:cNvSpPr/>
          <p:nvPr/>
        </p:nvSpPr>
        <p:spPr>
          <a:xfrm>
            <a:off x="6190488" y="4297680"/>
            <a:ext cx="5468112" cy="1783080"/>
          </a:xfrm>
          <a:prstGeom prst="roundRect">
            <a:avLst>
              <a:gd name="adj" fmla="val 6154"/>
            </a:avLst>
          </a:prstGeom>
          <a:solidFill>
            <a:schemeClr val="bg2"/>
          </a:solidFill>
          <a:ln/>
        </p:spPr>
      </p:sp>
      <p:sp>
        <p:nvSpPr>
          <p:cNvPr id="22" name="Megaphone badge"/>
          <p:cNvSpPr/>
          <p:nvPr/>
        </p:nvSpPr>
        <p:spPr>
          <a:xfrm>
            <a:off x="6419088" y="4544568"/>
            <a:ext cx="603504" cy="603504"/>
          </a:xfrm>
          <a:prstGeom prst="ellipse">
            <a:avLst/>
          </a:prstGeom>
          <a:solidFill>
            <a:schemeClr val="bg1"/>
          </a:solidFill>
          <a:ln/>
        </p:spPr>
      </p:sp>
      <p:pic>
        <p:nvPicPr>
          <p:cNvPr id="23" name="Image 3" descr="preencoded.png">    </p:cNvPr>
          <p:cNvPicPr>
            <a:picLocks noChangeAspect="1"/>
          </p:cNvPicPr>
          <p:nvPr/>
        </p:nvPicPr>
        <p:blipFill>
          <a:blip r:embed="rId4"/>
          <a:stretch>
            <a:fillRect/>
          </a:stretch>
        </p:blipFill>
        <p:spPr>
          <a:xfrm>
            <a:off x="6569964" y="4695444"/>
            <a:ext cx="301752" cy="301752"/>
          </a:xfrm>
          <a:prstGeom prst="rect">
            <a:avLst/>
          </a:prstGeom>
        </p:spPr>
      </p:pic>
      <p:sp>
        <p:nvSpPr>
          <p:cNvPr id="24" name="Text 17"/>
          <p:cNvSpPr txBox="1"/>
          <p:nvPr/>
        </p:nvSpPr>
        <p:spPr>
          <a:xfrm>
            <a:off x="7242048" y="4480560"/>
            <a:ext cx="4206240" cy="1508760"/>
          </a:xfrm>
          <a:prstGeom prst="rect">
            <a:avLst/>
          </a:prstGeom>
          <a:noFill/>
          <a:ln/>
        </p:spPr>
        <p:txBody>
          <a:bodyPr wrap="square" lIns="0" tIns="0" rIns="0" bIns="0" rtlCol="0" anchor="t"/>
          <a:lstStyle/>
          <a:p>
            <a:pPr indent="0" marL="0">
              <a:lnSpc>
                <a:spcPct val="105000"/>
              </a:lnSpc>
              <a:buNone/>
            </a:pPr>
            <a:r>
              <a:rPr lang="en-US" sz="1000" b="1" spc="100" kern="0" dirty="0">
                <a:solidFill>
                  <a:schemeClr val="accent6"/>
                </a:solidFill>
              </a:rPr>
              <a:t>SUGGESTED DIRECTION</a:t>
            </a:r>
            <a:endParaRPr lang="en-US" sz="1400" dirty="0"/>
          </a:p>
          <a:p>
            <a:pPr indent="0" marL="0">
              <a:lnSpc>
                <a:spcPct val="105000"/>
              </a:lnSpc>
              <a:buNone/>
            </a:pPr>
            <a:r>
              <a:rPr lang="en-US" sz="1700" b="1" dirty="0">
                <a:solidFill>
                  <a:schemeClr val="tx1"/>
                </a:solidFill>
              </a:rPr>
              <a:t>Promotion vs education</a:t>
            </a:r>
            <a:endParaRPr lang="en-US" sz="1400" dirty="0"/>
          </a:p>
          <a:p>
            <a:pPr indent="0" marL="0">
              <a:lnSpc>
                <a:spcPct val="105000"/>
              </a:lnSpc>
              <a:buNone/>
            </a:pPr>
            <a:r>
              <a:rPr lang="en-US" sz="1350" dirty="0">
                <a:solidFill>
                  <a:schemeClr val="tx1"/>
                </a:solidFill>
              </a:rPr>
              <a:t>Every message gets a purpose label: Promotional cues, Explanatory wording, Education + promotion, or Purpose unclear.</a:t>
            </a:r>
            <a:endParaRPr lang="en-US" sz="1400" dirty="0"/>
          </a:p>
        </p:txBody>
      </p:sp>
      <p:sp>
        <p:nvSpPr>
          <p:cNvPr id="25" name="Slide Number Placeholder 0"/>
          <p:cNvSpPr>
            <a:spLocks noGrp="1"/>
          </p:cNvSpPr>
          <p:nvPr>
            <p:ph type="sldNum" sz="quarter" idx="4294967295"/>
          </p:nvPr>
        </p:nvSpPr>
        <p:spPr>
          <a:xfrm>
            <a:off x="11091672" y="642823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6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8229600" cy="274320"/>
          </a:xfrm>
          <a:prstGeom prst="rect">
            <a:avLst/>
          </a:prstGeom>
          <a:noFill/>
          <a:ln/>
        </p:spPr>
        <p:txBody>
          <a:bodyPr wrap="square" lIns="0" tIns="0" rIns="0" bIns="0" rtlCol="0" anchor="ctr"/>
          <a:lstStyle/>
          <a:p>
            <a:pPr algn="l" indent="0" marL="0">
              <a:buNone/>
            </a:pPr>
            <a:r>
              <a:rPr lang="en-US" sz="1200" b="1" spc="150" kern="0" dirty="0">
                <a:solidFill>
                  <a:srgbClr val="6955E8"/>
                </a:solidFill>
              </a:rPr>
              <a:t>04   FEATURES AND WHY THEY MATTER</a:t>
            </a:r>
            <a:endParaRPr lang="en-US" sz="1200" dirty="0"/>
          </a:p>
        </p:txBody>
      </p:sp>
      <p:sp>
        <p:nvSpPr>
          <p:cNvPr id="3" name="Text 2"/>
          <p:cNvSpPr/>
          <p:nvPr>
            <p:ph idx="103" type="title" hasCustomPrompt="1"/>
          </p:nvPr>
        </p:nvSpPr>
        <p:spPr>
          <a:xfrm>
            <a:off x="548640" y="658368"/>
            <a:ext cx="11064240" cy="603504"/>
          </a:xfrm>
          <a:prstGeom prst="rect">
            <a:avLst/>
          </a:prstGeom>
          <a:noFill/>
          <a:ln/>
        </p:spPr>
        <p:txBody>
          <a:bodyPr wrap="square" lIns="0" tIns="0" rIns="0" bIns="0" rtlCol="0" anchor="t"/>
          <a:lstStyle/>
          <a:p>
            <a:pPr algn="l" indent="0" marL="0">
              <a:buNone/>
            </a:pPr>
            <a:r>
              <a:rPr lang="en-US" sz="3000" b="1" dirty="0">
                <a:solidFill>
                  <a:srgbClr val="1E1B2E"/>
                </a:solidFill>
              </a:rPr>
              <a:t>Features that explain, not just alert</a:t>
            </a:r>
            <a:endParaRPr lang="en-US" sz="3000" dirty="0"/>
          </a:p>
        </p:txBody>
      </p:sp>
      <p:pic>
        <p:nvPicPr>
          <p:cNvPr id="5" name="Image 0" descr="A Sajag result: warning level, the message, quoted words, official guidance and related lessons">    </p:cNvPr>
          <p:cNvPicPr>
            <a:picLocks noChangeAspect="1"/>
          </p:cNvPicPr>
          <p:nvPr/>
        </p:nvPicPr>
        <p:blipFill>
          <a:blip r:embed="rId1"/>
          <a:stretch>
            <a:fillRect/>
          </a:stretch>
        </p:blipFill>
        <p:spPr>
          <a:xfrm>
            <a:off x="384048" y="1353312"/>
            <a:ext cx="6903720" cy="4865264"/>
          </a:xfrm>
          <a:prstGeom prst="rect">
            <a:avLst/>
          </a:prstGeom>
        </p:spPr>
      </p:pic>
      <p:sp>
        <p:nvSpPr>
          <p:cNvPr id="6" name="marker 1"/>
          <p:cNvSpPr/>
          <p:nvPr/>
        </p:nvSpPr>
        <p:spPr>
          <a:xfrm>
            <a:off x="4342140" y="5080529"/>
            <a:ext cx="384048" cy="384048"/>
          </a:xfrm>
          <a:prstGeom prst="ellipse">
            <a:avLst/>
          </a:prstGeom>
          <a:solidFill>
            <a:schemeClr val="accent1"/>
          </a:solidFill>
          <a:ln w="19050">
            <a:solidFill>
              <a:schemeClr val="bg1"/>
            </a:solidFill>
            <a:prstDash val="solid"/>
          </a:ln>
        </p:spPr>
      </p:sp>
      <p:sp>
        <p:nvSpPr>
          <p:cNvPr id="7" name="Text 3"/>
          <p:cNvSpPr txBox="1"/>
          <p:nvPr/>
        </p:nvSpPr>
        <p:spPr>
          <a:xfrm>
            <a:off x="4342140" y="5080529"/>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marker 2"/>
          <p:cNvSpPr/>
          <p:nvPr/>
        </p:nvSpPr>
        <p:spPr>
          <a:xfrm>
            <a:off x="4342140" y="5429656"/>
            <a:ext cx="384048" cy="384048"/>
          </a:xfrm>
          <a:prstGeom prst="ellipse">
            <a:avLst/>
          </a:prstGeom>
          <a:solidFill>
            <a:schemeClr val="accent1"/>
          </a:solidFill>
          <a:ln w="19050">
            <a:solidFill>
              <a:schemeClr val="bg1"/>
            </a:solidFill>
            <a:prstDash val="solid"/>
          </a:ln>
        </p:spPr>
      </p:sp>
      <p:sp>
        <p:nvSpPr>
          <p:cNvPr id="9" name="Text 5"/>
          <p:cNvSpPr txBox="1"/>
          <p:nvPr/>
        </p:nvSpPr>
        <p:spPr>
          <a:xfrm>
            <a:off x="4342140" y="54296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marker 3"/>
          <p:cNvSpPr/>
          <p:nvPr/>
        </p:nvSpPr>
        <p:spPr>
          <a:xfrm>
            <a:off x="5800593" y="1532940"/>
            <a:ext cx="384048" cy="384048"/>
          </a:xfrm>
          <a:prstGeom prst="ellipse">
            <a:avLst/>
          </a:prstGeom>
          <a:solidFill>
            <a:schemeClr val="accent1"/>
          </a:solidFill>
          <a:ln w="19050">
            <a:solidFill>
              <a:schemeClr val="bg1"/>
            </a:solidFill>
            <a:prstDash val="solid"/>
          </a:ln>
        </p:spPr>
      </p:sp>
      <p:sp>
        <p:nvSpPr>
          <p:cNvPr id="11" name="Text 7"/>
          <p:cNvSpPr txBox="1"/>
          <p:nvPr/>
        </p:nvSpPr>
        <p:spPr>
          <a:xfrm>
            <a:off x="5800593" y="15329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marker 4"/>
          <p:cNvSpPr/>
          <p:nvPr/>
        </p:nvSpPr>
        <p:spPr>
          <a:xfrm>
            <a:off x="4516703" y="4590624"/>
            <a:ext cx="384048" cy="384048"/>
          </a:xfrm>
          <a:prstGeom prst="ellipse">
            <a:avLst/>
          </a:prstGeom>
          <a:solidFill>
            <a:schemeClr val="accent1"/>
          </a:solidFill>
          <a:ln w="19050">
            <a:solidFill>
              <a:schemeClr val="bg1"/>
            </a:solidFill>
            <a:prstDash val="solid"/>
          </a:ln>
        </p:spPr>
      </p:sp>
      <p:sp>
        <p:nvSpPr>
          <p:cNvPr id="13" name="Text 9"/>
          <p:cNvSpPr txBox="1"/>
          <p:nvPr/>
        </p:nvSpPr>
        <p:spPr>
          <a:xfrm>
            <a:off x="4516703" y="459062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marker 1"/>
          <p:cNvSpPr/>
          <p:nvPr/>
        </p:nvSpPr>
        <p:spPr>
          <a:xfrm>
            <a:off x="7589520" y="1499616"/>
            <a:ext cx="384048" cy="384048"/>
          </a:xfrm>
          <a:prstGeom prst="ellipse">
            <a:avLst/>
          </a:prstGeom>
          <a:solidFill>
            <a:schemeClr val="accent1"/>
          </a:solidFill>
          <a:ln w="19050">
            <a:solidFill>
              <a:schemeClr val="bg1"/>
            </a:solidFill>
            <a:prstDash val="solid"/>
          </a:ln>
        </p:spPr>
      </p:sp>
      <p:sp>
        <p:nvSpPr>
          <p:cNvPr id="15" name="Text 11"/>
          <p:cNvSpPr txBox="1"/>
          <p:nvPr/>
        </p:nvSpPr>
        <p:spPr>
          <a:xfrm>
            <a:off x="7589520" y="14996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2"/>
          <p:cNvSpPr txBox="1"/>
          <p:nvPr/>
        </p:nvSpPr>
        <p:spPr>
          <a:xfrm>
            <a:off x="8138160" y="1481328"/>
            <a:ext cx="3520440" cy="868680"/>
          </a:xfrm>
          <a:prstGeom prst="rect">
            <a:avLst/>
          </a:prstGeom>
          <a:noFill/>
          <a:ln/>
        </p:spPr>
        <p:txBody>
          <a:bodyPr wrap="square" lIns="0" tIns="0" rIns="0" bIns="0" rtlCol="0" anchor="t"/>
          <a:lstStyle/>
          <a:p>
            <a:pPr indent="0" marL="0">
              <a:buNone/>
            </a:pPr>
            <a:r>
              <a:rPr lang="en-US" sz="1600" b="1" dirty="0">
                <a:solidFill>
                  <a:schemeClr val="tx1"/>
                </a:solidFill>
              </a:rPr>
              <a:t>Quoted words</a:t>
            </a:r>
            <a:endParaRPr lang="en-US" sz="1400" dirty="0"/>
          </a:p>
          <a:p>
            <a:pPr indent="0" marL="0">
              <a:buNone/>
            </a:pPr>
            <a:r>
              <a:rPr lang="en-US" sz="1300" dirty="0">
                <a:solidFill>
                  <a:schemeClr val="accent6"/>
                </a:solidFill>
              </a:rPr>
              <a:t>Each warning points to the exact words that raised it.</a:t>
            </a:r>
            <a:endParaRPr lang="en-US" sz="1400" dirty="0"/>
          </a:p>
        </p:txBody>
      </p:sp>
      <p:sp>
        <p:nvSpPr>
          <p:cNvPr id="17" name="marker 2"/>
          <p:cNvSpPr/>
          <p:nvPr/>
        </p:nvSpPr>
        <p:spPr>
          <a:xfrm>
            <a:off x="7589520" y="2487168"/>
            <a:ext cx="384048" cy="384048"/>
          </a:xfrm>
          <a:prstGeom prst="ellipse">
            <a:avLst/>
          </a:prstGeom>
          <a:solidFill>
            <a:schemeClr val="accent1"/>
          </a:solidFill>
          <a:ln w="19050">
            <a:solidFill>
              <a:schemeClr val="bg1"/>
            </a:solidFill>
            <a:prstDash val="solid"/>
          </a:ln>
        </p:spPr>
      </p:sp>
      <p:sp>
        <p:nvSpPr>
          <p:cNvPr id="18" name="Text 14"/>
          <p:cNvSpPr txBox="1"/>
          <p:nvPr/>
        </p:nvSpPr>
        <p:spPr>
          <a:xfrm>
            <a:off x="7589520" y="24871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9" name="Text 15"/>
          <p:cNvSpPr txBox="1"/>
          <p:nvPr/>
        </p:nvSpPr>
        <p:spPr>
          <a:xfrm>
            <a:off x="8138160" y="2468880"/>
            <a:ext cx="3520440" cy="868680"/>
          </a:xfrm>
          <a:prstGeom prst="rect">
            <a:avLst/>
          </a:prstGeom>
          <a:noFill/>
          <a:ln/>
        </p:spPr>
        <p:txBody>
          <a:bodyPr wrap="square" lIns="0" tIns="0" rIns="0" bIns="0" rtlCol="0" anchor="t"/>
          <a:lstStyle/>
          <a:p>
            <a:pPr indent="0" marL="0">
              <a:buNone/>
            </a:pPr>
            <a:r>
              <a:rPr lang="en-US" sz="1600" b="1" dirty="0">
                <a:solidFill>
                  <a:schemeClr val="tx1"/>
                </a:solidFill>
              </a:rPr>
              <a:t>Official guidance</a:t>
            </a:r>
            <a:endParaRPr lang="en-US" sz="1400" dirty="0"/>
          </a:p>
          <a:p>
            <a:pPr indent="0" marL="0">
              <a:buNone/>
            </a:pPr>
            <a:r>
              <a:rPr lang="en-US" sz="1300" dirty="0">
                <a:solidFill>
                  <a:schemeClr val="accent6"/>
                </a:solidFill>
              </a:rPr>
              <a:t>Relevant SEBI, RBI and government material explains the pattern.</a:t>
            </a:r>
            <a:endParaRPr lang="en-US" sz="1400" dirty="0"/>
          </a:p>
        </p:txBody>
      </p:sp>
      <p:sp>
        <p:nvSpPr>
          <p:cNvPr id="20" name="marker 3"/>
          <p:cNvSpPr/>
          <p:nvPr/>
        </p:nvSpPr>
        <p:spPr>
          <a:xfrm>
            <a:off x="7589520" y="3474720"/>
            <a:ext cx="384048" cy="384048"/>
          </a:xfrm>
          <a:prstGeom prst="ellipse">
            <a:avLst/>
          </a:prstGeom>
          <a:solidFill>
            <a:schemeClr val="accent1"/>
          </a:solidFill>
          <a:ln w="19050">
            <a:solidFill>
              <a:schemeClr val="bg1"/>
            </a:solidFill>
            <a:prstDash val="solid"/>
          </a:ln>
        </p:spPr>
      </p:sp>
      <p:sp>
        <p:nvSpPr>
          <p:cNvPr id="21" name="Text 17"/>
          <p:cNvSpPr txBox="1"/>
          <p:nvPr/>
        </p:nvSpPr>
        <p:spPr>
          <a:xfrm>
            <a:off x="7589520" y="3474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2" name="Text 18"/>
          <p:cNvSpPr txBox="1"/>
          <p:nvPr/>
        </p:nvSpPr>
        <p:spPr>
          <a:xfrm>
            <a:off x="8138160" y="3456432"/>
            <a:ext cx="3520440" cy="868680"/>
          </a:xfrm>
          <a:prstGeom prst="rect">
            <a:avLst/>
          </a:prstGeom>
          <a:noFill/>
          <a:ln/>
        </p:spPr>
        <p:txBody>
          <a:bodyPr wrap="square" lIns="0" tIns="0" rIns="0" bIns="0" rtlCol="0" anchor="t"/>
          <a:lstStyle/>
          <a:p>
            <a:pPr indent="0" marL="0">
              <a:buNone/>
            </a:pPr>
            <a:r>
              <a:rPr lang="en-US" sz="1600" b="1" dirty="0">
                <a:solidFill>
                  <a:schemeClr val="tx1"/>
                </a:solidFill>
              </a:rPr>
              <a:t>Your choices stay separate</a:t>
            </a:r>
            <a:endParaRPr lang="en-US" sz="1400" dirty="0"/>
          </a:p>
          <a:p>
            <a:pPr indent="0" marL="0">
              <a:buNone/>
            </a:pPr>
            <a:r>
              <a:rPr lang="en-US" sz="1300" dirty="0">
                <a:solidFill>
                  <a:schemeClr val="accent6"/>
                </a:solidFill>
              </a:rPr>
              <a:t>Checking, sharing, AI review and saving are each a deliberate step.</a:t>
            </a:r>
            <a:endParaRPr lang="en-US" sz="1400" dirty="0"/>
          </a:p>
        </p:txBody>
      </p:sp>
      <p:sp>
        <p:nvSpPr>
          <p:cNvPr id="23" name="marker 4"/>
          <p:cNvSpPr/>
          <p:nvPr/>
        </p:nvSpPr>
        <p:spPr>
          <a:xfrm>
            <a:off x="7589520" y="4462272"/>
            <a:ext cx="384048" cy="384048"/>
          </a:xfrm>
          <a:prstGeom prst="ellipse">
            <a:avLst/>
          </a:prstGeom>
          <a:solidFill>
            <a:schemeClr val="accent1"/>
          </a:solidFill>
          <a:ln w="19050">
            <a:solidFill>
              <a:schemeClr val="bg1"/>
            </a:solidFill>
            <a:prstDash val="solid"/>
          </a:ln>
        </p:spPr>
      </p:sp>
      <p:sp>
        <p:nvSpPr>
          <p:cNvPr id="24" name="Text 20"/>
          <p:cNvSpPr txBox="1"/>
          <p:nvPr/>
        </p:nvSpPr>
        <p:spPr>
          <a:xfrm>
            <a:off x="7589520" y="44622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5" name="Text 21"/>
          <p:cNvSpPr txBox="1"/>
          <p:nvPr/>
        </p:nvSpPr>
        <p:spPr>
          <a:xfrm>
            <a:off x="8138160" y="4443984"/>
            <a:ext cx="3520440" cy="868680"/>
          </a:xfrm>
          <a:prstGeom prst="rect">
            <a:avLst/>
          </a:prstGeom>
          <a:noFill/>
          <a:ln/>
        </p:spPr>
        <p:txBody>
          <a:bodyPr wrap="square" lIns="0" tIns="0" rIns="0" bIns="0" rtlCol="0" anchor="t"/>
          <a:lstStyle/>
          <a:p>
            <a:pPr indent="0" marL="0">
              <a:buNone/>
            </a:pPr>
            <a:r>
              <a:rPr lang="en-US" sz="1600" b="1" dirty="0">
                <a:solidFill>
                  <a:schemeClr val="tx1"/>
                </a:solidFill>
              </a:rPr>
              <a:t>Lessons and simulations</a:t>
            </a:r>
            <a:endParaRPr lang="en-US" sz="1400" dirty="0"/>
          </a:p>
          <a:p>
            <a:pPr indent="0" marL="0">
              <a:buNone/>
            </a:pPr>
            <a:r>
              <a:rPr lang="en-US" sz="1300" dirty="0">
                <a:solidFill>
                  <a:schemeClr val="accent6"/>
                </a:solidFill>
              </a:rPr>
              <a:t>Fictional practice turns a warning into understanding.</a:t>
            </a:r>
            <a:endParaRPr lang="en-US" sz="1400" dirty="0"/>
          </a:p>
        </p:txBody>
      </p:sp>
      <p:sp>
        <p:nvSpPr>
          <p:cNvPr id="26" name="back note"/>
          <p:cNvSpPr/>
          <p:nvPr/>
        </p:nvSpPr>
        <p:spPr>
          <a:xfrm>
            <a:off x="7589520" y="5486400"/>
            <a:ext cx="4069080" cy="713232"/>
          </a:xfrm>
          <a:prstGeom prst="roundRect">
            <a:avLst>
              <a:gd name="adj" fmla="val 15385"/>
            </a:avLst>
          </a:prstGeom>
          <a:solidFill>
            <a:schemeClr val="bg2"/>
          </a:solidFill>
          <a:ln/>
        </p:spPr>
      </p:sp>
      <p:sp>
        <p:nvSpPr>
          <p:cNvPr id="27" name="Undo2 badge"/>
          <p:cNvSpPr/>
          <p:nvPr/>
        </p:nvSpPr>
        <p:spPr>
          <a:xfrm>
            <a:off x="7699248" y="5586984"/>
            <a:ext cx="512064" cy="512064"/>
          </a:xfrm>
          <a:prstGeom prst="ellipse">
            <a:avLst/>
          </a:prstGeom>
          <a:solidFill>
            <a:schemeClr val="bg1"/>
          </a:solidFill>
          <a:ln/>
        </p:spPr>
      </p:sp>
      <p:pic>
        <p:nvPicPr>
          <p:cNvPr id="28" name="Image 1" descr="preencoded.png">    </p:cNvPr>
          <p:cNvPicPr>
            <a:picLocks noChangeAspect="1"/>
          </p:cNvPicPr>
          <p:nvPr/>
        </p:nvPicPr>
        <p:blipFill>
          <a:blip r:embed="rId2"/>
          <a:stretch>
            <a:fillRect/>
          </a:stretch>
        </p:blipFill>
        <p:spPr>
          <a:xfrm>
            <a:off x="7827264" y="5715000"/>
            <a:ext cx="256032" cy="256032"/>
          </a:xfrm>
          <a:prstGeom prst="rect">
            <a:avLst/>
          </a:prstGeom>
        </p:spPr>
      </p:pic>
      <p:sp>
        <p:nvSpPr>
          <p:cNvPr id="29" name="Text 24"/>
          <p:cNvSpPr txBox="1"/>
          <p:nvPr/>
        </p:nvSpPr>
        <p:spPr>
          <a:xfrm>
            <a:off x="8321040" y="5486400"/>
            <a:ext cx="3246120" cy="713232"/>
          </a:xfrm>
          <a:prstGeom prst="rect">
            <a:avLst/>
          </a:prstGeom>
          <a:noFill/>
          <a:ln/>
        </p:spPr>
        <p:txBody>
          <a:bodyPr wrap="square" lIns="0" tIns="0" rIns="0" bIns="0" rtlCol="0" anchor="ctr"/>
          <a:lstStyle/>
          <a:p>
            <a:pPr indent="0" marL="0">
              <a:buNone/>
            </a:pPr>
            <a:r>
              <a:rPr lang="en-US" sz="1300" dirty="0">
                <a:solidFill>
                  <a:schemeClr val="tx1"/>
                </a:solidFill>
              </a:rPr>
              <a:t>Android Back closes overlays first, then returns to Home.</a:t>
            </a:r>
            <a:endParaRPr lang="en-US" sz="1300" dirty="0"/>
          </a:p>
        </p:txBody>
      </p:sp>
      <p:sp>
        <p:nvSpPr>
          <p:cNvPr id="25" name="Slide Number Placeholder 0"/>
          <p:cNvSpPr>
            <a:spLocks noGrp="1"/>
          </p:cNvSpPr>
          <p:nvPr>
            <p:ph type="sldNum" sz="quarter" idx="4294967295"/>
          </p:nvPr>
        </p:nvSpPr>
        <p:spPr>
          <a:xfrm>
            <a:off x="11091672" y="642823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68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8229600" cy="274320"/>
          </a:xfrm>
          <a:prstGeom prst="rect">
            <a:avLst/>
          </a:prstGeom>
          <a:noFill/>
          <a:ln/>
        </p:spPr>
        <p:txBody>
          <a:bodyPr wrap="square" lIns="0" tIns="0" rIns="0" bIns="0" rtlCol="0" anchor="ctr"/>
          <a:lstStyle/>
          <a:p>
            <a:pPr algn="l" indent="0" marL="0">
              <a:buNone/>
            </a:pPr>
            <a:r>
              <a:rPr lang="en-US" sz="1200" b="1" spc="150" kern="0" dirty="0">
                <a:solidFill>
                  <a:srgbClr val="6955E8"/>
                </a:solidFill>
              </a:rPr>
              <a:t>05   LIVE DEMO</a:t>
            </a:r>
            <a:endParaRPr lang="en-US" sz="1200" dirty="0"/>
          </a:p>
        </p:txBody>
      </p:sp>
      <p:sp>
        <p:nvSpPr>
          <p:cNvPr id="3" name="Text 2"/>
          <p:cNvSpPr/>
          <p:nvPr>
            <p:ph idx="103" type="title" hasCustomPrompt="1"/>
          </p:nvPr>
        </p:nvSpPr>
        <p:spPr>
          <a:xfrm>
            <a:off x="548640" y="658368"/>
            <a:ext cx="11064240" cy="603504"/>
          </a:xfrm>
          <a:prstGeom prst="rect">
            <a:avLst/>
          </a:prstGeom>
          <a:noFill/>
          <a:ln/>
        </p:spPr>
        <p:txBody>
          <a:bodyPr wrap="square" lIns="0" tIns="0" rIns="0" bIns="0" rtlCol="0" anchor="t"/>
          <a:lstStyle/>
          <a:p>
            <a:pPr algn="l" indent="0" marL="0">
              <a:buNone/>
            </a:pPr>
            <a:r>
              <a:rPr lang="en-US" sz="3000" b="1" dirty="0">
                <a:solidFill>
                  <a:srgbClr val="1E1B2E"/>
                </a:solidFill>
              </a:rPr>
              <a:t>Two real checks on the live website</a:t>
            </a:r>
            <a:endParaRPr lang="en-US" sz="3000" dirty="0"/>
          </a:p>
        </p:txBody>
      </p:sp>
      <p:sp>
        <p:nvSpPr>
          <p:cNvPr id="5" name="chip 1  Type a message"/>
          <p:cNvSpPr/>
          <p:nvPr/>
        </p:nvSpPr>
        <p:spPr>
          <a:xfrm>
            <a:off x="548640" y="1371600"/>
            <a:ext cx="2395728" cy="384048"/>
          </a:xfrm>
          <a:prstGeom prst="roundRect">
            <a:avLst>
              <a:gd name="adj" fmla="val 50000"/>
            </a:avLst>
          </a:prstGeom>
          <a:solidFill>
            <a:schemeClr val="bg2"/>
          </a:solidFill>
          <a:ln/>
        </p:spPr>
      </p:sp>
      <p:sp>
        <p:nvSpPr>
          <p:cNvPr id="6" name="Text 3"/>
          <p:cNvSpPr txBox="1"/>
          <p:nvPr/>
        </p:nvSpPr>
        <p:spPr>
          <a:xfrm>
            <a:off x="548640" y="1371600"/>
            <a:ext cx="2395728" cy="384048"/>
          </a:xfrm>
          <a:prstGeom prst="rect">
            <a:avLst/>
          </a:prstGeom>
          <a:noFill/>
          <a:ln/>
        </p:spPr>
        <p:txBody>
          <a:bodyPr wrap="square" lIns="0" tIns="0" rIns="0" bIns="0" rtlCol="0" anchor="ctr"/>
          <a:lstStyle/>
          <a:p>
            <a:pPr algn="ctr" indent="0" marL="0">
              <a:buNone/>
            </a:pPr>
            <a:r>
              <a:rPr lang="en-US" sz="1300" b="1" dirty="0">
                <a:solidFill>
                  <a:schemeClr val="accent5"/>
                </a:solidFill>
              </a:rPr>
              <a:t>1  Type a message</a:t>
            </a:r>
            <a:endParaRPr lang="en-US" sz="1300" dirty="0"/>
          </a:p>
        </p:txBody>
      </p:sp>
      <p:sp>
        <p:nvSpPr>
          <p:cNvPr id="7" name="Shape 4"/>
          <p:cNvSpPr/>
          <p:nvPr/>
        </p:nvSpPr>
        <p:spPr>
          <a:xfrm>
            <a:off x="3017520" y="1563624"/>
            <a:ext cx="310896" cy="91"/>
          </a:xfrm>
          <a:prstGeom prst="line">
            <a:avLst/>
          </a:prstGeom>
          <a:noFill/>
          <a:ln w="22225">
            <a:solidFill>
              <a:schemeClr val="accent4"/>
            </a:solidFill>
            <a:prstDash val="solid"/>
            <a:tailEnd type="triangle"/>
          </a:ln>
        </p:spPr>
      </p:sp>
      <p:sp>
        <p:nvSpPr>
          <p:cNvPr id="8" name="chip 2  Check on the device"/>
          <p:cNvSpPr/>
          <p:nvPr/>
        </p:nvSpPr>
        <p:spPr>
          <a:xfrm>
            <a:off x="3401568" y="1371600"/>
            <a:ext cx="2395728" cy="384048"/>
          </a:xfrm>
          <a:prstGeom prst="roundRect">
            <a:avLst>
              <a:gd name="adj" fmla="val 50000"/>
            </a:avLst>
          </a:prstGeom>
          <a:solidFill>
            <a:schemeClr val="bg2"/>
          </a:solidFill>
          <a:ln/>
        </p:spPr>
      </p:sp>
      <p:sp>
        <p:nvSpPr>
          <p:cNvPr id="9" name="Text 6"/>
          <p:cNvSpPr txBox="1"/>
          <p:nvPr/>
        </p:nvSpPr>
        <p:spPr>
          <a:xfrm>
            <a:off x="3401568" y="1371600"/>
            <a:ext cx="2395728" cy="384048"/>
          </a:xfrm>
          <a:prstGeom prst="rect">
            <a:avLst/>
          </a:prstGeom>
          <a:noFill/>
          <a:ln/>
        </p:spPr>
        <p:txBody>
          <a:bodyPr wrap="square" lIns="0" tIns="0" rIns="0" bIns="0" rtlCol="0" anchor="ctr"/>
          <a:lstStyle/>
          <a:p>
            <a:pPr algn="ctr" indent="0" marL="0">
              <a:buNone/>
            </a:pPr>
            <a:r>
              <a:rPr lang="en-US" sz="1300" b="1" dirty="0">
                <a:solidFill>
                  <a:schemeClr val="accent5"/>
                </a:solidFill>
              </a:rPr>
              <a:t>2  Check on the device</a:t>
            </a:r>
            <a:endParaRPr lang="en-US" sz="1300" dirty="0"/>
          </a:p>
        </p:txBody>
      </p:sp>
      <p:sp>
        <p:nvSpPr>
          <p:cNvPr id="10" name="Shape 7"/>
          <p:cNvSpPr/>
          <p:nvPr/>
        </p:nvSpPr>
        <p:spPr>
          <a:xfrm>
            <a:off x="5870448" y="1563624"/>
            <a:ext cx="310896" cy="91"/>
          </a:xfrm>
          <a:prstGeom prst="line">
            <a:avLst/>
          </a:prstGeom>
          <a:noFill/>
          <a:ln w="22225">
            <a:solidFill>
              <a:schemeClr val="accent4"/>
            </a:solidFill>
            <a:prstDash val="solid"/>
            <a:tailEnd type="triangle"/>
          </a:ln>
        </p:spPr>
      </p:sp>
      <p:sp>
        <p:nvSpPr>
          <p:cNvPr id="11" name="chip 3  Allow the AI review"/>
          <p:cNvSpPr/>
          <p:nvPr/>
        </p:nvSpPr>
        <p:spPr>
          <a:xfrm>
            <a:off x="6254496" y="1371600"/>
            <a:ext cx="2395728" cy="384048"/>
          </a:xfrm>
          <a:prstGeom prst="roundRect">
            <a:avLst>
              <a:gd name="adj" fmla="val 50000"/>
            </a:avLst>
          </a:prstGeom>
          <a:solidFill>
            <a:schemeClr val="bg2"/>
          </a:solidFill>
          <a:ln/>
        </p:spPr>
      </p:sp>
      <p:sp>
        <p:nvSpPr>
          <p:cNvPr id="12" name="Text 9"/>
          <p:cNvSpPr txBox="1"/>
          <p:nvPr/>
        </p:nvSpPr>
        <p:spPr>
          <a:xfrm>
            <a:off x="6254496" y="1371600"/>
            <a:ext cx="2395728" cy="384048"/>
          </a:xfrm>
          <a:prstGeom prst="rect">
            <a:avLst/>
          </a:prstGeom>
          <a:noFill/>
          <a:ln/>
        </p:spPr>
        <p:txBody>
          <a:bodyPr wrap="square" lIns="0" tIns="0" rIns="0" bIns="0" rtlCol="0" anchor="ctr"/>
          <a:lstStyle/>
          <a:p>
            <a:pPr algn="ctr" indent="0" marL="0">
              <a:buNone/>
            </a:pPr>
            <a:r>
              <a:rPr lang="en-US" sz="1300" b="1" dirty="0">
                <a:solidFill>
                  <a:schemeClr val="accent5"/>
                </a:solidFill>
              </a:rPr>
              <a:t>3  Allow the AI review</a:t>
            </a:r>
            <a:endParaRPr lang="en-US" sz="1300" dirty="0"/>
          </a:p>
        </p:txBody>
      </p:sp>
      <p:sp>
        <p:nvSpPr>
          <p:cNvPr id="13" name="Shape 10"/>
          <p:cNvSpPr/>
          <p:nvPr/>
        </p:nvSpPr>
        <p:spPr>
          <a:xfrm>
            <a:off x="8723376" y="1563624"/>
            <a:ext cx="310896" cy="91"/>
          </a:xfrm>
          <a:prstGeom prst="line">
            <a:avLst/>
          </a:prstGeom>
          <a:noFill/>
          <a:ln w="22225">
            <a:solidFill>
              <a:schemeClr val="accent4"/>
            </a:solidFill>
            <a:prstDash val="solid"/>
            <a:tailEnd type="triangle"/>
          </a:ln>
        </p:spPr>
      </p:sp>
      <p:sp>
        <p:nvSpPr>
          <p:cNvPr id="14" name="chip 4  Read the result"/>
          <p:cNvSpPr/>
          <p:nvPr/>
        </p:nvSpPr>
        <p:spPr>
          <a:xfrm>
            <a:off x="9107424" y="1371600"/>
            <a:ext cx="2395728" cy="384048"/>
          </a:xfrm>
          <a:prstGeom prst="roundRect">
            <a:avLst>
              <a:gd name="adj" fmla="val 50000"/>
            </a:avLst>
          </a:prstGeom>
          <a:solidFill>
            <a:schemeClr val="bg2"/>
          </a:solidFill>
          <a:ln/>
        </p:spPr>
      </p:sp>
      <p:sp>
        <p:nvSpPr>
          <p:cNvPr id="15" name="Text 12"/>
          <p:cNvSpPr txBox="1"/>
          <p:nvPr/>
        </p:nvSpPr>
        <p:spPr>
          <a:xfrm>
            <a:off x="9107424" y="1371600"/>
            <a:ext cx="2395728" cy="384048"/>
          </a:xfrm>
          <a:prstGeom prst="rect">
            <a:avLst/>
          </a:prstGeom>
          <a:noFill/>
          <a:ln/>
        </p:spPr>
        <p:txBody>
          <a:bodyPr wrap="square" lIns="0" tIns="0" rIns="0" bIns="0" rtlCol="0" anchor="ctr"/>
          <a:lstStyle/>
          <a:p>
            <a:pPr algn="ctr" indent="0" marL="0">
              <a:buNone/>
            </a:pPr>
            <a:r>
              <a:rPr lang="en-US" sz="1300" b="1" dirty="0">
                <a:solidFill>
                  <a:schemeClr val="accent5"/>
                </a:solidFill>
              </a:rPr>
              <a:t>4  Read the result</a:t>
            </a:r>
            <a:endParaRPr lang="en-US" sz="1300" dirty="0"/>
          </a:p>
        </p:txBody>
      </p:sp>
      <p:pic>
        <p:nvPicPr>
          <p:cNvPr id="16" name="Image 0" descr="Parcel message result: potential scam indicators, kept after the AI review">    </p:cNvPr>
          <p:cNvPicPr>
            <a:picLocks noChangeAspect="1"/>
          </p:cNvPicPr>
          <p:nvPr/>
        </p:nvPicPr>
        <p:blipFill>
          <a:blip r:embed="rId1"/>
          <a:stretch>
            <a:fillRect/>
          </a:stretch>
        </p:blipFill>
        <p:spPr>
          <a:xfrm>
            <a:off x="384048" y="1901952"/>
            <a:ext cx="5669280" cy="3969446"/>
          </a:xfrm>
          <a:prstGeom prst="rect">
            <a:avLst/>
          </a:prstGeom>
        </p:spPr>
      </p:pic>
      <p:pic>
        <p:nvPicPr>
          <p:cNvPr id="17" name="Image 1" descr="Insurance notice result: the on-device warning was withdrawn by the AI review and stays visible as context">    </p:cNvPr>
          <p:cNvPicPr>
            <a:picLocks noChangeAspect="1"/>
          </p:cNvPicPr>
          <p:nvPr/>
        </p:nvPicPr>
        <p:blipFill>
          <a:blip r:embed="rId2"/>
          <a:stretch>
            <a:fillRect/>
          </a:stretch>
        </p:blipFill>
        <p:spPr>
          <a:xfrm>
            <a:off x="6144768" y="1901952"/>
            <a:ext cx="5669280" cy="3969446"/>
          </a:xfrm>
          <a:prstGeom prst="rect">
            <a:avLst/>
          </a:prstGeom>
        </p:spPr>
      </p:pic>
      <p:sp>
        <p:nvSpPr>
          <p:cNvPr id="18" name="parcel quote highlight"/>
          <p:cNvSpPr/>
          <p:nvPr/>
        </p:nvSpPr>
        <p:spPr>
          <a:xfrm>
            <a:off x="794150" y="4743102"/>
            <a:ext cx="3059028" cy="271869"/>
          </a:xfrm>
          <a:prstGeom prst="roundRect">
            <a:avLst>
              <a:gd name="adj" fmla="val 20180"/>
            </a:avLst>
          </a:prstGeom>
          <a:solidFill>
            <a:schemeClr val="bg1">
              <a:alpha val="0"/>
            </a:schemeClr>
          </a:solidFill>
          <a:ln w="31750">
            <a:solidFill>
              <a:schemeClr val="accent1"/>
            </a:solidFill>
            <a:prstDash val="solid"/>
          </a:ln>
        </p:spPr>
      </p:sp>
      <p:sp>
        <p:nvSpPr>
          <p:cNvPr id="19" name="AI review tag highlight"/>
          <p:cNvSpPr/>
          <p:nvPr/>
        </p:nvSpPr>
        <p:spPr>
          <a:xfrm>
            <a:off x="6554870" y="4244547"/>
            <a:ext cx="2550977" cy="219640"/>
          </a:xfrm>
          <a:prstGeom prst="roundRect">
            <a:avLst>
              <a:gd name="adj" fmla="val 24979"/>
            </a:avLst>
          </a:prstGeom>
          <a:solidFill>
            <a:schemeClr val="bg1">
              <a:alpha val="0"/>
            </a:schemeClr>
          </a:solidFill>
          <a:ln w="31750">
            <a:solidFill>
              <a:schemeClr val="accent1"/>
            </a:solidFill>
            <a:prstDash val="solid"/>
          </a:ln>
        </p:spPr>
      </p:sp>
      <p:sp>
        <p:nvSpPr>
          <p:cNvPr id="20" name="Shape 15"/>
          <p:cNvSpPr/>
          <p:nvPr/>
        </p:nvSpPr>
        <p:spPr>
          <a:xfrm>
            <a:off x="685800" y="5879592"/>
            <a:ext cx="164592" cy="164592"/>
          </a:xfrm>
          <a:prstGeom prst="ellipse">
            <a:avLst/>
          </a:prstGeom>
          <a:solidFill>
            <a:schemeClr val="accent2"/>
          </a:solidFill>
          <a:ln/>
        </p:spPr>
      </p:sp>
      <p:sp>
        <p:nvSpPr>
          <p:cNvPr id="21" name="Text 16"/>
          <p:cNvSpPr txBox="1"/>
          <p:nvPr/>
        </p:nvSpPr>
        <p:spPr>
          <a:xfrm>
            <a:off x="960120" y="5788152"/>
            <a:ext cx="5120640" cy="566928"/>
          </a:xfrm>
          <a:prstGeom prst="rect">
            <a:avLst/>
          </a:prstGeom>
          <a:noFill/>
          <a:ln/>
        </p:spPr>
        <p:txBody>
          <a:bodyPr wrap="square" lIns="0" tIns="0" rIns="0" bIns="0" rtlCol="0" anchor="t"/>
          <a:lstStyle/>
          <a:p>
            <a:pPr indent="0" marL="0">
              <a:buNone/>
            </a:pPr>
            <a:r>
              <a:rPr lang="en-US" sz="1350" b="1" dirty="0">
                <a:solidFill>
                  <a:schemeClr val="tx1"/>
                </a:solidFill>
              </a:rPr>
              <a:t>Parcel fee request</a:t>
            </a:r>
            <a:endParaRPr lang="en-US" sz="1350" dirty="0"/>
          </a:p>
          <a:p>
            <a:pPr indent="0" marL="0">
              <a:buNone/>
            </a:pPr>
            <a:r>
              <a:rPr lang="en-US" sz="1250" dirty="0">
                <a:solidFill>
                  <a:schemeClr val="accent6"/>
                </a:solidFill>
              </a:rPr>
              <a:t>The warning stays after the AI review.</a:t>
            </a:r>
            <a:endParaRPr lang="en-US" sz="1350" dirty="0"/>
          </a:p>
        </p:txBody>
      </p:sp>
      <p:sp>
        <p:nvSpPr>
          <p:cNvPr id="22" name="Shape 17"/>
          <p:cNvSpPr/>
          <p:nvPr/>
        </p:nvSpPr>
        <p:spPr>
          <a:xfrm>
            <a:off x="6446520" y="5879592"/>
            <a:ext cx="164592" cy="164592"/>
          </a:xfrm>
          <a:prstGeom prst="ellipse">
            <a:avLst/>
          </a:prstGeom>
          <a:solidFill>
            <a:schemeClr val="accent3"/>
          </a:solidFill>
          <a:ln/>
        </p:spPr>
      </p:sp>
      <p:sp>
        <p:nvSpPr>
          <p:cNvPr id="23" name="Text 18"/>
          <p:cNvSpPr txBox="1"/>
          <p:nvPr/>
        </p:nvSpPr>
        <p:spPr>
          <a:xfrm>
            <a:off x="6720840" y="5788152"/>
            <a:ext cx="5120640" cy="566928"/>
          </a:xfrm>
          <a:prstGeom prst="rect">
            <a:avLst/>
          </a:prstGeom>
          <a:noFill/>
          <a:ln/>
        </p:spPr>
        <p:txBody>
          <a:bodyPr wrap="square" lIns="0" tIns="0" rIns="0" bIns="0" rtlCol="0" anchor="t"/>
          <a:lstStyle/>
          <a:p>
            <a:pPr indent="0" marL="0">
              <a:buNone/>
            </a:pPr>
            <a:r>
              <a:rPr lang="en-US" sz="1350" b="1" dirty="0">
                <a:solidFill>
                  <a:schemeClr val="tx1"/>
                </a:solidFill>
              </a:rPr>
              <a:t>Insurance premium notice</a:t>
            </a:r>
            <a:endParaRPr lang="en-US" sz="1350" dirty="0"/>
          </a:p>
          <a:p>
            <a:pPr indent="0" marL="0">
              <a:buNone/>
            </a:pPr>
            <a:r>
              <a:rPr lang="en-US" sz="1250" dirty="0">
                <a:solidFill>
                  <a:schemeClr val="accent6"/>
                </a:solidFill>
              </a:rPr>
              <a:t>The AI review withdrew the warning; it stays visible as context.</a:t>
            </a:r>
            <a:endParaRPr lang="en-US" sz="1350" dirty="0"/>
          </a:p>
        </p:txBody>
      </p:sp>
      <p:sp>
        <p:nvSpPr>
          <p:cNvPr id="24" name="Text 19"/>
          <p:cNvSpPr txBox="1"/>
          <p:nvPr/>
        </p:nvSpPr>
        <p:spPr>
          <a:xfrm>
            <a:off x="7086600" y="365760"/>
            <a:ext cx="4572000" cy="274320"/>
          </a:xfrm>
          <a:prstGeom prst="rect">
            <a:avLst/>
          </a:prstGeom>
          <a:noFill/>
          <a:ln/>
        </p:spPr>
        <p:txBody>
          <a:bodyPr wrap="square" lIns="0" tIns="0" rIns="0" bIns="0" rtlCol="0" anchor="ctr"/>
          <a:lstStyle/>
          <a:p>
            <a:pPr algn="r" indent="0" marL="0">
              <a:buNone/>
            </a:pPr>
            <a:r>
              <a:rPr lang="en-US" sz="1100" i="1" dirty="0">
                <a:solidFill>
                  <a:schemeClr val="accent6"/>
                </a:solidFill>
              </a:rPr>
              <a:t>Fictional messages · AI can be wrong</a:t>
            </a:r>
            <a:endParaRPr lang="en-US" sz="1100" dirty="0"/>
          </a:p>
        </p:txBody>
      </p:sp>
      <p:sp>
        <p:nvSpPr>
          <p:cNvPr id="25" name="Slide Number Placeholder 0"/>
          <p:cNvSpPr>
            <a:spLocks noGrp="1"/>
          </p:cNvSpPr>
          <p:nvPr>
            <p:ph type="sldNum" sz="quarter" idx="4294967295"/>
          </p:nvPr>
        </p:nvSpPr>
        <p:spPr>
          <a:xfrm>
            <a:off x="11091672" y="642823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68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8229600" cy="274320"/>
          </a:xfrm>
          <a:prstGeom prst="rect">
            <a:avLst/>
          </a:prstGeom>
          <a:noFill/>
          <a:ln/>
        </p:spPr>
        <p:txBody>
          <a:bodyPr wrap="square" lIns="0" tIns="0" rIns="0" bIns="0" rtlCol="0" anchor="ctr"/>
          <a:lstStyle/>
          <a:p>
            <a:pPr algn="l" indent="0" marL="0">
              <a:buNone/>
            </a:pPr>
            <a:r>
              <a:rPr lang="en-US" sz="1200" b="1" spc="150" kern="0" dirty="0">
                <a:solidFill>
                  <a:srgbClr val="6955E8"/>
                </a:solidFill>
              </a:rPr>
              <a:t>06   LANGUAGES AND VOICE</a:t>
            </a:r>
            <a:endParaRPr lang="en-US" sz="1200" dirty="0"/>
          </a:p>
        </p:txBody>
      </p:sp>
      <p:sp>
        <p:nvSpPr>
          <p:cNvPr id="3" name="Text 2"/>
          <p:cNvSpPr/>
          <p:nvPr>
            <p:ph idx="103" type="title" hasCustomPrompt="1"/>
          </p:nvPr>
        </p:nvSpPr>
        <p:spPr>
          <a:xfrm>
            <a:off x="548640" y="658368"/>
            <a:ext cx="11064240" cy="603504"/>
          </a:xfrm>
          <a:prstGeom prst="rect">
            <a:avLst/>
          </a:prstGeom>
          <a:noFill/>
          <a:ln/>
        </p:spPr>
        <p:txBody>
          <a:bodyPr wrap="square" lIns="0" tIns="0" rIns="0" bIns="0" rtlCol="0" anchor="t"/>
          <a:lstStyle/>
          <a:p>
            <a:pPr algn="l" indent="0" marL="0">
              <a:buNone/>
            </a:pPr>
            <a:r>
              <a:rPr lang="en-US" sz="3000" b="1" dirty="0">
                <a:solidFill>
                  <a:srgbClr val="1E1B2E"/>
                </a:solidFill>
              </a:rPr>
              <a:t>Three languages, five ways of writing, and voice</a:t>
            </a:r>
            <a:endParaRPr lang="en-US" sz="3000" dirty="0"/>
          </a:p>
        </p:txBody>
      </p:sp>
      <p:pic>
        <p:nvPicPr>
          <p:cNvPr id="5" name="Image 0" descr="An English lesson">    </p:cNvPr>
          <p:cNvPicPr>
            <a:picLocks noChangeAspect="1"/>
          </p:cNvPicPr>
          <p:nvPr/>
        </p:nvPicPr>
        <p:blipFill>
          <a:blip r:embed="rId1"/>
          <a:stretch>
            <a:fillRect/>
          </a:stretch>
        </p:blipFill>
        <p:spPr>
          <a:xfrm>
            <a:off x="347472" y="1261872"/>
            <a:ext cx="5989320" cy="1755663"/>
          </a:xfrm>
          <a:prstGeom prst="rect">
            <a:avLst/>
          </a:prstGeom>
        </p:spPr>
      </p:pic>
      <p:pic>
        <p:nvPicPr>
          <p:cNvPr id="6" name="Image 1" descr="The same lesson in Hindi">    </p:cNvPr>
          <p:cNvPicPr>
            <a:picLocks noChangeAspect="1"/>
          </p:cNvPicPr>
          <p:nvPr/>
        </p:nvPicPr>
        <p:blipFill>
          <a:blip r:embed="rId2"/>
          <a:stretch>
            <a:fillRect/>
          </a:stretch>
        </p:blipFill>
        <p:spPr>
          <a:xfrm>
            <a:off x="347472" y="2816352"/>
            <a:ext cx="5989320" cy="1755663"/>
          </a:xfrm>
          <a:prstGeom prst="rect">
            <a:avLst/>
          </a:prstGeom>
        </p:spPr>
      </p:pic>
      <p:pic>
        <p:nvPicPr>
          <p:cNvPr id="7" name="Image 2" descr="A Bengali lesson">    </p:cNvPr>
          <p:cNvPicPr>
            <a:picLocks noChangeAspect="1"/>
          </p:cNvPicPr>
          <p:nvPr/>
        </p:nvPicPr>
        <p:blipFill>
          <a:blip r:embed="rId3"/>
          <a:stretch>
            <a:fillRect/>
          </a:stretch>
        </p:blipFill>
        <p:spPr>
          <a:xfrm>
            <a:off x="347472" y="4370832"/>
            <a:ext cx="5989320" cy="1755663"/>
          </a:xfrm>
          <a:prstGeom prst="rect">
            <a:avLst/>
          </a:prstGeom>
        </p:spPr>
      </p:pic>
      <p:sp>
        <p:nvSpPr>
          <p:cNvPr id="8" name="chip English"/>
          <p:cNvSpPr/>
          <p:nvPr/>
        </p:nvSpPr>
        <p:spPr>
          <a:xfrm>
            <a:off x="3122377" y="1572875"/>
            <a:ext cx="1920240" cy="329184"/>
          </a:xfrm>
          <a:prstGeom prst="roundRect">
            <a:avLst>
              <a:gd name="adj" fmla="val 50000"/>
            </a:avLst>
          </a:prstGeom>
          <a:solidFill>
            <a:schemeClr val="tx2"/>
          </a:solidFill>
          <a:ln/>
        </p:spPr>
      </p:sp>
      <p:sp>
        <p:nvSpPr>
          <p:cNvPr id="9" name="Text 3"/>
          <p:cNvSpPr txBox="1"/>
          <p:nvPr/>
        </p:nvSpPr>
        <p:spPr>
          <a:xfrm>
            <a:off x="3122377" y="1572875"/>
            <a:ext cx="1920240" cy="329184"/>
          </a:xfrm>
          <a:prstGeom prst="rect">
            <a:avLst/>
          </a:prstGeom>
          <a:noFill/>
          <a:ln/>
        </p:spPr>
        <p:txBody>
          <a:bodyPr wrap="square" lIns="0" tIns="0" rIns="0" bIns="0" rtlCol="0" anchor="ctr"/>
          <a:lstStyle/>
          <a:p>
            <a:pPr algn="ctr" indent="0" marL="0">
              <a:buNone/>
            </a:pPr>
            <a:r>
              <a:rPr lang="en-US" sz="1200" b="1" dirty="0">
                <a:solidFill>
                  <a:schemeClr val="bg1"/>
                </a:solidFill>
              </a:rPr>
              <a:t>English</a:t>
            </a:r>
            <a:endParaRPr lang="en-US" sz="1200" dirty="0"/>
          </a:p>
        </p:txBody>
      </p:sp>
      <p:sp>
        <p:nvSpPr>
          <p:cNvPr id="10" name="chip हिन्दी · Hindi"/>
          <p:cNvSpPr/>
          <p:nvPr/>
        </p:nvSpPr>
        <p:spPr>
          <a:xfrm>
            <a:off x="3122377" y="3127355"/>
            <a:ext cx="1920240" cy="329184"/>
          </a:xfrm>
          <a:prstGeom prst="roundRect">
            <a:avLst>
              <a:gd name="adj" fmla="val 50000"/>
            </a:avLst>
          </a:prstGeom>
          <a:solidFill>
            <a:schemeClr val="tx2"/>
          </a:solidFill>
          <a:ln/>
        </p:spPr>
      </p:sp>
      <p:sp>
        <p:nvSpPr>
          <p:cNvPr id="11" name="Text 5"/>
          <p:cNvSpPr txBox="1"/>
          <p:nvPr/>
        </p:nvSpPr>
        <p:spPr>
          <a:xfrm>
            <a:off x="3122377" y="3127355"/>
            <a:ext cx="1920240" cy="329184"/>
          </a:xfrm>
          <a:prstGeom prst="rect">
            <a:avLst/>
          </a:prstGeom>
          <a:noFill/>
          <a:ln/>
        </p:spPr>
        <p:txBody>
          <a:bodyPr wrap="square" lIns="0" tIns="0" rIns="0" bIns="0" rtlCol="0" anchor="ctr"/>
          <a:lstStyle/>
          <a:p>
            <a:pPr algn="ctr" indent="0" marL="0">
              <a:buNone/>
            </a:pPr>
            <a:r>
              <a:rPr lang="en-US" sz="1200" b="1" dirty="0">
                <a:solidFill>
                  <a:schemeClr val="bg1"/>
                </a:solidFill>
              </a:rPr>
              <a:t>हिन्दी · Hindi</a:t>
            </a:r>
            <a:endParaRPr lang="en-US" sz="1200" dirty="0"/>
          </a:p>
        </p:txBody>
      </p:sp>
      <p:sp>
        <p:nvSpPr>
          <p:cNvPr id="12" name="chip বাংলা · Bengali (beta)"/>
          <p:cNvSpPr/>
          <p:nvPr/>
        </p:nvSpPr>
        <p:spPr>
          <a:xfrm>
            <a:off x="3122377" y="4681835"/>
            <a:ext cx="1920240" cy="329184"/>
          </a:xfrm>
          <a:prstGeom prst="roundRect">
            <a:avLst>
              <a:gd name="adj" fmla="val 50000"/>
            </a:avLst>
          </a:prstGeom>
          <a:solidFill>
            <a:schemeClr val="tx2"/>
          </a:solidFill>
          <a:ln/>
        </p:spPr>
      </p:sp>
      <p:sp>
        <p:nvSpPr>
          <p:cNvPr id="13" name="Text 7"/>
          <p:cNvSpPr txBox="1"/>
          <p:nvPr/>
        </p:nvSpPr>
        <p:spPr>
          <a:xfrm>
            <a:off x="3122377" y="4681835"/>
            <a:ext cx="1920240" cy="329184"/>
          </a:xfrm>
          <a:prstGeom prst="rect">
            <a:avLst/>
          </a:prstGeom>
          <a:noFill/>
          <a:ln/>
        </p:spPr>
        <p:txBody>
          <a:bodyPr wrap="square" lIns="0" tIns="0" rIns="0" bIns="0" rtlCol="0" anchor="ctr"/>
          <a:lstStyle/>
          <a:p>
            <a:pPr algn="ctr" indent="0" marL="0">
              <a:buNone/>
            </a:pPr>
            <a:r>
              <a:rPr lang="en-US" sz="1200" b="1" dirty="0">
                <a:solidFill>
                  <a:schemeClr val="bg1"/>
                </a:solidFill>
              </a:rPr>
              <a:t>বাংলা · Bengali (beta)</a:t>
            </a:r>
            <a:endParaRPr lang="en-US" sz="1200" dirty="0"/>
          </a:p>
        </p:txBody>
      </p:sp>
      <p:sp>
        <p:nvSpPr>
          <p:cNvPr id="14" name="input forms panel"/>
          <p:cNvSpPr/>
          <p:nvPr/>
        </p:nvSpPr>
        <p:spPr>
          <a:xfrm>
            <a:off x="6720840" y="1325880"/>
            <a:ext cx="4937760" cy="2286000"/>
          </a:xfrm>
          <a:prstGeom prst="roundRect">
            <a:avLst>
              <a:gd name="adj" fmla="val 4800"/>
            </a:avLst>
          </a:prstGeom>
          <a:solidFill>
            <a:schemeClr val="bg2"/>
          </a:solidFill>
          <a:ln/>
        </p:spPr>
      </p:sp>
      <p:sp>
        <p:nvSpPr>
          <p:cNvPr id="15" name="Text 9"/>
          <p:cNvSpPr txBox="1"/>
          <p:nvPr/>
        </p:nvSpPr>
        <p:spPr>
          <a:xfrm>
            <a:off x="6922008" y="1389888"/>
            <a:ext cx="4572000" cy="621792"/>
          </a:xfrm>
          <a:prstGeom prst="rect">
            <a:avLst/>
          </a:prstGeom>
          <a:noFill/>
          <a:ln/>
        </p:spPr>
        <p:txBody>
          <a:bodyPr wrap="square" lIns="0" tIns="0" rIns="0" bIns="0" rtlCol="0" anchor="ctr"/>
          <a:lstStyle/>
          <a:p>
            <a:pPr indent="0" marL="0">
              <a:buNone/>
            </a:pPr>
            <a:r>
              <a:rPr lang="en-US" sz="3600" b="1" dirty="0">
                <a:solidFill>
                  <a:schemeClr val="accent1"/>
                </a:solidFill>
              </a:rPr>
              <a:t>5</a:t>
            </a:r>
            <a:pPr indent="0" marL="0">
              <a:buNone/>
            </a:pPr>
            <a:r>
              <a:rPr lang="en-US" sz="1500" b="1" dirty="0">
                <a:solidFill>
                  <a:schemeClr val="tx1"/>
                </a:solidFill>
              </a:rPr>
              <a:t>  tested ways of writing a message</a:t>
            </a:r>
            <a:endParaRPr lang="en-US" sz="1400" dirty="0"/>
          </a:p>
        </p:txBody>
      </p:sp>
      <p:sp>
        <p:nvSpPr>
          <p:cNvPr id="16" name="chip English"/>
          <p:cNvSpPr/>
          <p:nvPr/>
        </p:nvSpPr>
        <p:spPr>
          <a:xfrm>
            <a:off x="6903720" y="2084832"/>
            <a:ext cx="850392" cy="347472"/>
          </a:xfrm>
          <a:prstGeom prst="roundRect">
            <a:avLst>
              <a:gd name="adj" fmla="val 50000"/>
            </a:avLst>
          </a:prstGeom>
          <a:solidFill>
            <a:schemeClr val="bg1"/>
          </a:solidFill>
          <a:ln/>
        </p:spPr>
      </p:sp>
      <p:sp>
        <p:nvSpPr>
          <p:cNvPr id="17" name="Text 11"/>
          <p:cNvSpPr txBox="1"/>
          <p:nvPr/>
        </p:nvSpPr>
        <p:spPr>
          <a:xfrm>
            <a:off x="6903720" y="2084832"/>
            <a:ext cx="850392" cy="347472"/>
          </a:xfrm>
          <a:prstGeom prst="rect">
            <a:avLst/>
          </a:prstGeom>
          <a:noFill/>
          <a:ln/>
        </p:spPr>
        <p:txBody>
          <a:bodyPr wrap="square" lIns="0" tIns="0" rIns="0" bIns="0" rtlCol="0" anchor="ctr"/>
          <a:lstStyle/>
          <a:p>
            <a:pPr algn="ctr" indent="0" marL="0">
              <a:buNone/>
            </a:pPr>
            <a:r>
              <a:rPr lang="en-US" sz="1200" b="1" dirty="0">
                <a:solidFill>
                  <a:schemeClr val="accent5"/>
                </a:solidFill>
              </a:rPr>
              <a:t>English</a:t>
            </a:r>
            <a:endParaRPr lang="en-US" sz="1200" dirty="0"/>
          </a:p>
        </p:txBody>
      </p:sp>
      <p:sp>
        <p:nvSpPr>
          <p:cNvPr id="18" name="chip हिन्दी"/>
          <p:cNvSpPr/>
          <p:nvPr/>
        </p:nvSpPr>
        <p:spPr>
          <a:xfrm>
            <a:off x="7818120" y="2084832"/>
            <a:ext cx="850392" cy="347472"/>
          </a:xfrm>
          <a:prstGeom prst="roundRect">
            <a:avLst>
              <a:gd name="adj" fmla="val 50000"/>
            </a:avLst>
          </a:prstGeom>
          <a:solidFill>
            <a:schemeClr val="bg1"/>
          </a:solidFill>
          <a:ln/>
        </p:spPr>
      </p:sp>
      <p:sp>
        <p:nvSpPr>
          <p:cNvPr id="19" name="Text 13"/>
          <p:cNvSpPr txBox="1"/>
          <p:nvPr/>
        </p:nvSpPr>
        <p:spPr>
          <a:xfrm>
            <a:off x="7818120" y="2084832"/>
            <a:ext cx="850392" cy="347472"/>
          </a:xfrm>
          <a:prstGeom prst="rect">
            <a:avLst/>
          </a:prstGeom>
          <a:noFill/>
          <a:ln/>
        </p:spPr>
        <p:txBody>
          <a:bodyPr wrap="square" lIns="0" tIns="0" rIns="0" bIns="0" rtlCol="0" anchor="ctr"/>
          <a:lstStyle/>
          <a:p>
            <a:pPr algn="ctr" indent="0" marL="0">
              <a:buNone/>
            </a:pPr>
            <a:r>
              <a:rPr lang="en-US" sz="1200" b="1" dirty="0">
                <a:solidFill>
                  <a:schemeClr val="accent5"/>
                </a:solidFill>
              </a:rPr>
              <a:t>हिन्दी</a:t>
            </a:r>
            <a:endParaRPr lang="en-US" sz="1200" dirty="0"/>
          </a:p>
        </p:txBody>
      </p:sp>
      <p:sp>
        <p:nvSpPr>
          <p:cNvPr id="20" name="chip বাংলা"/>
          <p:cNvSpPr/>
          <p:nvPr/>
        </p:nvSpPr>
        <p:spPr>
          <a:xfrm>
            <a:off x="8732520" y="2084832"/>
            <a:ext cx="850392" cy="347472"/>
          </a:xfrm>
          <a:prstGeom prst="roundRect">
            <a:avLst>
              <a:gd name="adj" fmla="val 50000"/>
            </a:avLst>
          </a:prstGeom>
          <a:solidFill>
            <a:schemeClr val="bg1"/>
          </a:solidFill>
          <a:ln/>
        </p:spPr>
      </p:sp>
      <p:sp>
        <p:nvSpPr>
          <p:cNvPr id="21" name="Text 15"/>
          <p:cNvSpPr txBox="1"/>
          <p:nvPr/>
        </p:nvSpPr>
        <p:spPr>
          <a:xfrm>
            <a:off x="8732520" y="2084832"/>
            <a:ext cx="850392" cy="347472"/>
          </a:xfrm>
          <a:prstGeom prst="rect">
            <a:avLst/>
          </a:prstGeom>
          <a:noFill/>
          <a:ln/>
        </p:spPr>
        <p:txBody>
          <a:bodyPr wrap="square" lIns="0" tIns="0" rIns="0" bIns="0" rtlCol="0" anchor="ctr"/>
          <a:lstStyle/>
          <a:p>
            <a:pPr algn="ctr" indent="0" marL="0">
              <a:buNone/>
            </a:pPr>
            <a:r>
              <a:rPr lang="en-US" sz="1200" b="1" dirty="0">
                <a:solidFill>
                  <a:schemeClr val="accent5"/>
                </a:solidFill>
              </a:rPr>
              <a:t>বাংলা</a:t>
            </a:r>
            <a:endParaRPr lang="en-US" sz="1200" dirty="0"/>
          </a:p>
        </p:txBody>
      </p:sp>
      <p:sp>
        <p:nvSpPr>
          <p:cNvPr id="22" name="chip Hinglish"/>
          <p:cNvSpPr/>
          <p:nvPr/>
        </p:nvSpPr>
        <p:spPr>
          <a:xfrm>
            <a:off x="9646920" y="2084832"/>
            <a:ext cx="850392" cy="347472"/>
          </a:xfrm>
          <a:prstGeom prst="roundRect">
            <a:avLst>
              <a:gd name="adj" fmla="val 50000"/>
            </a:avLst>
          </a:prstGeom>
          <a:solidFill>
            <a:schemeClr val="bg1"/>
          </a:solidFill>
          <a:ln/>
        </p:spPr>
      </p:sp>
      <p:sp>
        <p:nvSpPr>
          <p:cNvPr id="23" name="Text 17"/>
          <p:cNvSpPr txBox="1"/>
          <p:nvPr/>
        </p:nvSpPr>
        <p:spPr>
          <a:xfrm>
            <a:off x="9646920" y="2084832"/>
            <a:ext cx="850392" cy="347472"/>
          </a:xfrm>
          <a:prstGeom prst="rect">
            <a:avLst/>
          </a:prstGeom>
          <a:noFill/>
          <a:ln/>
        </p:spPr>
        <p:txBody>
          <a:bodyPr wrap="square" lIns="0" tIns="0" rIns="0" bIns="0" rtlCol="0" anchor="ctr"/>
          <a:lstStyle/>
          <a:p>
            <a:pPr algn="ctr" indent="0" marL="0">
              <a:buNone/>
            </a:pPr>
            <a:r>
              <a:rPr lang="en-US" sz="1200" b="1" dirty="0">
                <a:solidFill>
                  <a:schemeClr val="accent5"/>
                </a:solidFill>
              </a:rPr>
              <a:t>Hinglish</a:t>
            </a:r>
            <a:endParaRPr lang="en-US" sz="1200" dirty="0"/>
          </a:p>
        </p:txBody>
      </p:sp>
      <p:sp>
        <p:nvSpPr>
          <p:cNvPr id="24" name="chip Banglish"/>
          <p:cNvSpPr/>
          <p:nvPr/>
        </p:nvSpPr>
        <p:spPr>
          <a:xfrm>
            <a:off x="10561320" y="2084832"/>
            <a:ext cx="850392" cy="347472"/>
          </a:xfrm>
          <a:prstGeom prst="roundRect">
            <a:avLst>
              <a:gd name="adj" fmla="val 50000"/>
            </a:avLst>
          </a:prstGeom>
          <a:solidFill>
            <a:schemeClr val="bg1"/>
          </a:solidFill>
          <a:ln/>
        </p:spPr>
      </p:sp>
      <p:sp>
        <p:nvSpPr>
          <p:cNvPr id="25" name="Text 19"/>
          <p:cNvSpPr txBox="1"/>
          <p:nvPr/>
        </p:nvSpPr>
        <p:spPr>
          <a:xfrm>
            <a:off x="10561320" y="2084832"/>
            <a:ext cx="850392" cy="347472"/>
          </a:xfrm>
          <a:prstGeom prst="rect">
            <a:avLst/>
          </a:prstGeom>
          <a:noFill/>
          <a:ln/>
        </p:spPr>
        <p:txBody>
          <a:bodyPr wrap="square" lIns="0" tIns="0" rIns="0" bIns="0" rtlCol="0" anchor="ctr"/>
          <a:lstStyle/>
          <a:p>
            <a:pPr algn="ctr" indent="0" marL="0">
              <a:buNone/>
            </a:pPr>
            <a:r>
              <a:rPr lang="en-US" sz="1200" b="1" dirty="0">
                <a:solidFill>
                  <a:schemeClr val="accent5"/>
                </a:solidFill>
              </a:rPr>
              <a:t>Banglish</a:t>
            </a:r>
            <a:endParaRPr lang="en-US" sz="1200" dirty="0"/>
          </a:p>
        </p:txBody>
      </p:sp>
      <p:sp>
        <p:nvSpPr>
          <p:cNvPr id="26" name="Text 20"/>
          <p:cNvSpPr txBox="1"/>
          <p:nvPr/>
        </p:nvSpPr>
        <p:spPr>
          <a:xfrm>
            <a:off x="6922008" y="2578608"/>
            <a:ext cx="4553712" cy="914400"/>
          </a:xfrm>
          <a:prstGeom prst="rect">
            <a:avLst/>
          </a:prstGeom>
          <a:noFill/>
          <a:ln/>
        </p:spPr>
        <p:txBody>
          <a:bodyPr wrap="square" lIns="0" tIns="0" rIns="0" bIns="0" rtlCol="0" anchor="t"/>
          <a:lstStyle/>
          <a:p>
            <a:pPr indent="0" marL="0">
              <a:buNone/>
            </a:pPr>
            <a:r>
              <a:rPr lang="en-US" sz="1200" dirty="0">
                <a:solidFill>
                  <a:schemeClr val="accent6"/>
                </a:solidFill>
              </a:rPr>
              <a:t>Hinglish and Banglish are Hindi and Bengali typed in English letters, as many people write in chats. Bengali is in beta, awaiting native-speaker review.</a:t>
            </a:r>
            <a:endParaRPr lang="en-US" sz="1200" dirty="0"/>
          </a:p>
        </p:txBody>
      </p:sp>
      <p:sp>
        <p:nvSpPr>
          <p:cNvPr id="27" name="voice panel"/>
          <p:cNvSpPr/>
          <p:nvPr/>
        </p:nvSpPr>
        <p:spPr>
          <a:xfrm>
            <a:off x="6720840" y="3794760"/>
            <a:ext cx="4937760" cy="2423160"/>
          </a:xfrm>
          <a:prstGeom prst="roundRect">
            <a:avLst>
              <a:gd name="adj" fmla="val 4528"/>
            </a:avLst>
          </a:prstGeom>
          <a:solidFill>
            <a:schemeClr val="bg2"/>
          </a:solidFill>
          <a:ln/>
        </p:spPr>
      </p:sp>
      <p:sp>
        <p:nvSpPr>
          <p:cNvPr id="28" name="Text 22"/>
          <p:cNvSpPr txBox="1"/>
          <p:nvPr/>
        </p:nvSpPr>
        <p:spPr>
          <a:xfrm>
            <a:off x="6922008" y="3904488"/>
            <a:ext cx="457200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VOICE, FOR PEOPLE WHO PREFER LISTENING</a:t>
            </a:r>
            <a:endParaRPr lang="en-US" sz="1100" dirty="0"/>
          </a:p>
        </p:txBody>
      </p:sp>
      <p:sp>
        <p:nvSpPr>
          <p:cNvPr id="29" name="Volume2 badge"/>
          <p:cNvSpPr/>
          <p:nvPr/>
        </p:nvSpPr>
        <p:spPr>
          <a:xfrm>
            <a:off x="6922008" y="4261104"/>
            <a:ext cx="512064" cy="512064"/>
          </a:xfrm>
          <a:prstGeom prst="ellipse">
            <a:avLst/>
          </a:prstGeom>
          <a:solidFill>
            <a:schemeClr val="bg1"/>
          </a:solidFill>
          <a:ln/>
        </p:spPr>
      </p:sp>
      <p:pic>
        <p:nvPicPr>
          <p:cNvPr id="30" name="Image 3" descr="preencoded.png">    </p:cNvPr>
          <p:cNvPicPr>
            <a:picLocks noChangeAspect="1"/>
          </p:cNvPicPr>
          <p:nvPr/>
        </p:nvPicPr>
        <p:blipFill>
          <a:blip r:embed="rId4"/>
          <a:stretch>
            <a:fillRect/>
          </a:stretch>
        </p:blipFill>
        <p:spPr>
          <a:xfrm>
            <a:off x="7050024" y="4389120"/>
            <a:ext cx="256032" cy="256032"/>
          </a:xfrm>
          <a:prstGeom prst="rect">
            <a:avLst/>
          </a:prstGeom>
        </p:spPr>
      </p:pic>
      <p:sp>
        <p:nvSpPr>
          <p:cNvPr id="31" name="Text 24"/>
          <p:cNvSpPr txBox="1"/>
          <p:nvPr/>
        </p:nvSpPr>
        <p:spPr>
          <a:xfrm>
            <a:off x="7589520" y="4242816"/>
            <a:ext cx="3886200" cy="566928"/>
          </a:xfrm>
          <a:prstGeom prst="rect">
            <a:avLst/>
          </a:prstGeom>
          <a:noFill/>
          <a:ln/>
        </p:spPr>
        <p:txBody>
          <a:bodyPr wrap="square" lIns="0" tIns="0" rIns="0" bIns="0" rtlCol="0" anchor="t"/>
          <a:lstStyle/>
          <a:p>
            <a:pPr indent="0" marL="0">
              <a:buNone/>
            </a:pPr>
            <a:r>
              <a:rPr lang="en-US" sz="1500" b="1" dirty="0">
                <a:solidFill>
                  <a:schemeClr val="tx1"/>
                </a:solidFill>
              </a:rPr>
              <a:t>Listen</a:t>
            </a:r>
            <a:endParaRPr lang="en-US" sz="1400" dirty="0"/>
          </a:p>
          <a:p>
            <a:pPr indent="0" marL="0">
              <a:buNone/>
            </a:pPr>
            <a:r>
              <a:rPr lang="en-US" sz="1250" dirty="0">
                <a:solidFill>
                  <a:schemeClr val="accent6"/>
                </a:solidFill>
              </a:rPr>
              <a:t>Hear results and lessons read aloud.</a:t>
            </a:r>
            <a:endParaRPr lang="en-US" sz="1400" dirty="0"/>
          </a:p>
        </p:txBody>
      </p:sp>
      <p:sp>
        <p:nvSpPr>
          <p:cNvPr id="32" name="Mic badge"/>
          <p:cNvSpPr/>
          <p:nvPr/>
        </p:nvSpPr>
        <p:spPr>
          <a:xfrm>
            <a:off x="6922008" y="4919472"/>
            <a:ext cx="512064" cy="512064"/>
          </a:xfrm>
          <a:prstGeom prst="ellipse">
            <a:avLst/>
          </a:prstGeom>
          <a:solidFill>
            <a:schemeClr val="bg1"/>
          </a:solidFill>
          <a:ln/>
        </p:spPr>
      </p:sp>
      <p:pic>
        <p:nvPicPr>
          <p:cNvPr id="33" name="Image 4" descr="preencoded.png">    </p:cNvPr>
          <p:cNvPicPr>
            <a:picLocks noChangeAspect="1"/>
          </p:cNvPicPr>
          <p:nvPr/>
        </p:nvPicPr>
        <p:blipFill>
          <a:blip r:embed="rId5"/>
          <a:stretch>
            <a:fillRect/>
          </a:stretch>
        </p:blipFill>
        <p:spPr>
          <a:xfrm>
            <a:off x="7050024" y="5047488"/>
            <a:ext cx="256032" cy="256032"/>
          </a:xfrm>
          <a:prstGeom prst="rect">
            <a:avLst/>
          </a:prstGeom>
        </p:spPr>
      </p:pic>
      <p:sp>
        <p:nvSpPr>
          <p:cNvPr id="34" name="Text 26"/>
          <p:cNvSpPr txBox="1"/>
          <p:nvPr/>
        </p:nvSpPr>
        <p:spPr>
          <a:xfrm>
            <a:off x="7589520" y="4901184"/>
            <a:ext cx="3886200" cy="566928"/>
          </a:xfrm>
          <a:prstGeom prst="rect">
            <a:avLst/>
          </a:prstGeom>
          <a:noFill/>
          <a:ln/>
        </p:spPr>
        <p:txBody>
          <a:bodyPr wrap="square" lIns="0" tIns="0" rIns="0" bIns="0" rtlCol="0" anchor="t"/>
          <a:lstStyle/>
          <a:p>
            <a:pPr indent="0" marL="0">
              <a:buNone/>
            </a:pPr>
            <a:r>
              <a:rPr lang="en-US" sz="1500" b="1" dirty="0">
                <a:solidFill>
                  <a:schemeClr val="tx1"/>
                </a:solidFill>
              </a:rPr>
              <a:t>Speak it</a:t>
            </a:r>
            <a:endParaRPr lang="en-US" sz="1400" dirty="0"/>
          </a:p>
          <a:p>
            <a:pPr indent="0" marL="0">
              <a:buNone/>
            </a:pPr>
            <a:r>
              <a:rPr lang="en-US" sz="1250" dirty="0">
                <a:solidFill>
                  <a:schemeClr val="accent6"/>
                </a:solidFill>
              </a:rPr>
              <a:t>Say the message instead of typing it.</a:t>
            </a:r>
            <a:endParaRPr lang="en-US" sz="1400" dirty="0"/>
          </a:p>
        </p:txBody>
      </p:sp>
      <p:sp>
        <p:nvSpPr>
          <p:cNvPr id="35" name="Text 27"/>
          <p:cNvSpPr txBox="1"/>
          <p:nvPr/>
        </p:nvSpPr>
        <p:spPr>
          <a:xfrm>
            <a:off x="6922008" y="5623560"/>
            <a:ext cx="4553712" cy="502920"/>
          </a:xfrm>
          <a:prstGeom prst="rect">
            <a:avLst/>
          </a:prstGeom>
          <a:noFill/>
          <a:ln/>
        </p:spPr>
        <p:txBody>
          <a:bodyPr wrap="square" lIns="0" tIns="0" rIns="0" bIns="0" rtlCol="0" anchor="t"/>
          <a:lstStyle/>
          <a:p>
            <a:pPr indent="0" marL="0">
              <a:buNone/>
            </a:pPr>
            <a:r>
              <a:rPr lang="en-US" sz="1100" i="1" dirty="0">
                <a:solidFill>
                  <a:schemeClr val="accent6"/>
                </a:solidFill>
              </a:rPr>
              <a:t>In English, Hindi and Bengali, using the phone’s speech services; available voices vary by device.</a:t>
            </a:r>
            <a:endParaRPr lang="en-US" sz="1100" dirty="0"/>
          </a:p>
        </p:txBody>
      </p:sp>
      <p:sp>
        <p:nvSpPr>
          <p:cNvPr id="25" name="Slide Number Placeholder 0"/>
          <p:cNvSpPr>
            <a:spLocks noGrp="1"/>
          </p:cNvSpPr>
          <p:nvPr>
            <p:ph type="sldNum" sz="quarter" idx="4294967295"/>
          </p:nvPr>
        </p:nvSpPr>
        <p:spPr>
          <a:xfrm>
            <a:off x="11091672" y="642823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68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8229600" cy="274320"/>
          </a:xfrm>
          <a:prstGeom prst="rect">
            <a:avLst/>
          </a:prstGeom>
          <a:noFill/>
          <a:ln/>
        </p:spPr>
        <p:txBody>
          <a:bodyPr wrap="square" lIns="0" tIns="0" rIns="0" bIns="0" rtlCol="0" anchor="ctr"/>
          <a:lstStyle/>
          <a:p>
            <a:pPr algn="l" indent="0" marL="0">
              <a:buNone/>
            </a:pPr>
            <a:r>
              <a:rPr lang="en-US" sz="1200" b="1" spc="150" kern="0" dirty="0">
                <a:solidFill>
                  <a:srgbClr val="6955E8"/>
                </a:solidFill>
              </a:rPr>
              <a:t>07   ACCURACY</a:t>
            </a:r>
            <a:endParaRPr lang="en-US" sz="1200" dirty="0"/>
          </a:p>
        </p:txBody>
      </p:sp>
      <p:sp>
        <p:nvSpPr>
          <p:cNvPr id="3" name="Text 2"/>
          <p:cNvSpPr/>
          <p:nvPr>
            <p:ph idx="103" type="title" hasCustomPrompt="1"/>
          </p:nvPr>
        </p:nvSpPr>
        <p:spPr>
          <a:xfrm>
            <a:off x="548640" y="658368"/>
            <a:ext cx="11064240" cy="603504"/>
          </a:xfrm>
          <a:prstGeom prst="rect">
            <a:avLst/>
          </a:prstGeom>
          <a:noFill/>
          <a:ln/>
        </p:spPr>
        <p:txBody>
          <a:bodyPr wrap="square" lIns="0" tIns="0" rIns="0" bIns="0" rtlCol="0" anchor="t"/>
          <a:lstStyle/>
          <a:p>
            <a:pPr algn="l" indent="0" marL="0">
              <a:buNone/>
            </a:pPr>
            <a:r>
              <a:rPr lang="en-US" sz="3000" b="1" dirty="0">
                <a:solidFill>
                  <a:srgbClr val="1E1B2E"/>
                </a:solidFill>
              </a:rPr>
              <a:t>Tested on 150 held-out messages</a:t>
            </a:r>
            <a:endParaRPr lang="en-US" sz="3000" dirty="0"/>
          </a:p>
        </p:txBody>
      </p:sp>
      <p:sp>
        <p:nvSpPr>
          <p:cNvPr id="5" name="kpi 1"/>
          <p:cNvSpPr/>
          <p:nvPr/>
        </p:nvSpPr>
        <p:spPr>
          <a:xfrm>
            <a:off x="548640" y="1325880"/>
            <a:ext cx="2651760" cy="1143000"/>
          </a:xfrm>
          <a:prstGeom prst="roundRect">
            <a:avLst>
              <a:gd name="adj" fmla="val 9600"/>
            </a:avLst>
          </a:prstGeom>
          <a:solidFill>
            <a:schemeClr val="bg2"/>
          </a:solidFill>
          <a:ln/>
        </p:spPr>
      </p:sp>
      <p:sp>
        <p:nvSpPr>
          <p:cNvPr id="6" name="Text 3"/>
          <p:cNvSpPr txBox="1"/>
          <p:nvPr/>
        </p:nvSpPr>
        <p:spPr>
          <a:xfrm>
            <a:off x="731520" y="1389888"/>
            <a:ext cx="2377440" cy="566928"/>
          </a:xfrm>
          <a:prstGeom prst="rect">
            <a:avLst/>
          </a:prstGeom>
          <a:noFill/>
          <a:ln/>
        </p:spPr>
        <p:txBody>
          <a:bodyPr wrap="square" lIns="0" tIns="0" rIns="0" bIns="0" rtlCol="0" anchor="ctr"/>
          <a:lstStyle/>
          <a:p>
            <a:pPr indent="0" marL="0">
              <a:buNone/>
            </a:pPr>
            <a:r>
              <a:rPr lang="en-US" sz="3000" b="1" dirty="0">
                <a:solidFill>
                  <a:schemeClr val="accent1"/>
                </a:solidFill>
              </a:rPr>
              <a:t>99.3%</a:t>
            </a:r>
            <a:endParaRPr lang="en-US" sz="3000" dirty="0"/>
          </a:p>
        </p:txBody>
      </p:sp>
      <p:sp>
        <p:nvSpPr>
          <p:cNvPr id="7" name="Text 4"/>
          <p:cNvSpPr txBox="1"/>
          <p:nvPr/>
        </p:nvSpPr>
        <p:spPr>
          <a:xfrm>
            <a:off x="731520" y="1938528"/>
            <a:ext cx="2377440" cy="475488"/>
          </a:xfrm>
          <a:prstGeom prst="rect">
            <a:avLst/>
          </a:prstGeom>
          <a:noFill/>
          <a:ln/>
        </p:spPr>
        <p:txBody>
          <a:bodyPr wrap="square" lIns="0" tIns="0" rIns="0" bIns="0" rtlCol="0" anchor="t"/>
          <a:lstStyle/>
          <a:p>
            <a:pPr indent="0" marL="0">
              <a:buNone/>
            </a:pPr>
            <a:r>
              <a:rPr lang="en-US" sz="1200" dirty="0">
                <a:solidFill>
                  <a:schemeClr val="tx1"/>
                </a:solidFill>
              </a:rPr>
              <a:t>correct with AI review · 149 of 150</a:t>
            </a:r>
            <a:endParaRPr lang="en-US" sz="1200" dirty="0"/>
          </a:p>
        </p:txBody>
      </p:sp>
      <p:sp>
        <p:nvSpPr>
          <p:cNvPr id="8" name="kpi 2"/>
          <p:cNvSpPr/>
          <p:nvPr/>
        </p:nvSpPr>
        <p:spPr>
          <a:xfrm>
            <a:off x="3346704" y="1325880"/>
            <a:ext cx="2651760" cy="1143000"/>
          </a:xfrm>
          <a:prstGeom prst="roundRect">
            <a:avLst>
              <a:gd name="adj" fmla="val 9600"/>
            </a:avLst>
          </a:prstGeom>
          <a:solidFill>
            <a:schemeClr val="bg2"/>
          </a:solidFill>
          <a:ln/>
        </p:spPr>
      </p:sp>
      <p:sp>
        <p:nvSpPr>
          <p:cNvPr id="9" name="Text 6"/>
          <p:cNvSpPr txBox="1"/>
          <p:nvPr/>
        </p:nvSpPr>
        <p:spPr>
          <a:xfrm>
            <a:off x="3529584" y="1389888"/>
            <a:ext cx="2377440" cy="566928"/>
          </a:xfrm>
          <a:prstGeom prst="rect">
            <a:avLst/>
          </a:prstGeom>
          <a:noFill/>
          <a:ln/>
        </p:spPr>
        <p:txBody>
          <a:bodyPr wrap="square" lIns="0" tIns="0" rIns="0" bIns="0" rtlCol="0" anchor="ctr"/>
          <a:lstStyle/>
          <a:p>
            <a:pPr indent="0" marL="0">
              <a:buNone/>
            </a:pPr>
            <a:r>
              <a:rPr lang="en-US" sz="3000" b="1" dirty="0">
                <a:solidFill>
                  <a:schemeClr val="accent3"/>
                </a:solidFill>
              </a:rPr>
              <a:t>0 of 75</a:t>
            </a:r>
            <a:endParaRPr lang="en-US" sz="3000" dirty="0"/>
          </a:p>
        </p:txBody>
      </p:sp>
      <p:sp>
        <p:nvSpPr>
          <p:cNvPr id="10" name="Text 7"/>
          <p:cNvSpPr txBox="1"/>
          <p:nvPr/>
        </p:nvSpPr>
        <p:spPr>
          <a:xfrm>
            <a:off x="3529584" y="1938528"/>
            <a:ext cx="2377440" cy="475488"/>
          </a:xfrm>
          <a:prstGeom prst="rect">
            <a:avLst/>
          </a:prstGeom>
          <a:noFill/>
          <a:ln/>
        </p:spPr>
        <p:txBody>
          <a:bodyPr wrap="square" lIns="0" tIns="0" rIns="0" bIns="0" rtlCol="0" anchor="t"/>
          <a:lstStyle/>
          <a:p>
            <a:pPr indent="0" marL="0">
              <a:buNone/>
            </a:pPr>
            <a:r>
              <a:rPr lang="en-US" sz="1200" dirty="0">
                <a:solidFill>
                  <a:schemeClr val="tx1"/>
                </a:solidFill>
              </a:rPr>
              <a:t>harmless messages wrongly flagged with AI</a:t>
            </a:r>
            <a:endParaRPr lang="en-US" sz="1200" dirty="0"/>
          </a:p>
        </p:txBody>
      </p:sp>
      <p:sp>
        <p:nvSpPr>
          <p:cNvPr id="11" name="kpi 3"/>
          <p:cNvSpPr/>
          <p:nvPr/>
        </p:nvSpPr>
        <p:spPr>
          <a:xfrm>
            <a:off x="6144768" y="1325880"/>
            <a:ext cx="2651760" cy="1143000"/>
          </a:xfrm>
          <a:prstGeom prst="roundRect">
            <a:avLst>
              <a:gd name="adj" fmla="val 9600"/>
            </a:avLst>
          </a:prstGeom>
          <a:solidFill>
            <a:schemeClr val="bg2"/>
          </a:solidFill>
          <a:ln/>
        </p:spPr>
      </p:sp>
      <p:sp>
        <p:nvSpPr>
          <p:cNvPr id="12" name="Text 9"/>
          <p:cNvSpPr txBox="1"/>
          <p:nvPr/>
        </p:nvSpPr>
        <p:spPr>
          <a:xfrm>
            <a:off x="6327648" y="1389888"/>
            <a:ext cx="2377440" cy="566928"/>
          </a:xfrm>
          <a:prstGeom prst="rect">
            <a:avLst/>
          </a:prstGeom>
          <a:noFill/>
          <a:ln/>
        </p:spPr>
        <p:txBody>
          <a:bodyPr wrap="square" lIns="0" tIns="0" rIns="0" bIns="0" rtlCol="0" anchor="ctr"/>
          <a:lstStyle/>
          <a:p>
            <a:pPr indent="0" marL="0">
              <a:buNone/>
            </a:pPr>
            <a:r>
              <a:rPr lang="en-US" sz="3000" b="1" dirty="0">
                <a:solidFill>
                  <a:schemeClr val="accent1"/>
                </a:solidFill>
              </a:rPr>
              <a:t>74 of 75</a:t>
            </a:r>
            <a:endParaRPr lang="en-US" sz="3000" dirty="0"/>
          </a:p>
        </p:txBody>
      </p:sp>
      <p:sp>
        <p:nvSpPr>
          <p:cNvPr id="13" name="Text 10"/>
          <p:cNvSpPr txBox="1"/>
          <p:nvPr/>
        </p:nvSpPr>
        <p:spPr>
          <a:xfrm>
            <a:off x="6327648" y="1938528"/>
            <a:ext cx="2377440" cy="475488"/>
          </a:xfrm>
          <a:prstGeom prst="rect">
            <a:avLst/>
          </a:prstGeom>
          <a:noFill/>
          <a:ln/>
        </p:spPr>
        <p:txBody>
          <a:bodyPr wrap="square" lIns="0" tIns="0" rIns="0" bIns="0" rtlCol="0" anchor="t"/>
          <a:lstStyle/>
          <a:p>
            <a:pPr indent="0" marL="0">
              <a:buNone/>
            </a:pPr>
            <a:r>
              <a:rPr lang="en-US" sz="1200" dirty="0">
                <a:solidFill>
                  <a:schemeClr val="tx1"/>
                </a:solidFill>
              </a:rPr>
              <a:t>risky messages flagged with AI · 57 offline</a:t>
            </a:r>
            <a:endParaRPr lang="en-US" sz="1200" dirty="0"/>
          </a:p>
        </p:txBody>
      </p:sp>
      <p:sp>
        <p:nvSpPr>
          <p:cNvPr id="14" name="kpi 4"/>
          <p:cNvSpPr/>
          <p:nvPr/>
        </p:nvSpPr>
        <p:spPr>
          <a:xfrm>
            <a:off x="8942832" y="1325880"/>
            <a:ext cx="2651760" cy="1143000"/>
          </a:xfrm>
          <a:prstGeom prst="roundRect">
            <a:avLst>
              <a:gd name="adj" fmla="val 9600"/>
            </a:avLst>
          </a:prstGeom>
          <a:solidFill>
            <a:schemeClr val="bg2"/>
          </a:solidFill>
          <a:ln/>
        </p:spPr>
      </p:sp>
      <p:sp>
        <p:nvSpPr>
          <p:cNvPr id="15" name="Text 12"/>
          <p:cNvSpPr txBox="1"/>
          <p:nvPr/>
        </p:nvSpPr>
        <p:spPr>
          <a:xfrm>
            <a:off x="9125712" y="1389888"/>
            <a:ext cx="2377440" cy="566928"/>
          </a:xfrm>
          <a:prstGeom prst="rect">
            <a:avLst/>
          </a:prstGeom>
          <a:noFill/>
          <a:ln/>
        </p:spPr>
        <p:txBody>
          <a:bodyPr wrap="square" lIns="0" tIns="0" rIns="0" bIns="0" rtlCol="0" anchor="ctr"/>
          <a:lstStyle/>
          <a:p>
            <a:pPr indent="0" marL="0">
              <a:buNone/>
            </a:pPr>
            <a:r>
              <a:rPr lang="en-US" sz="3000" b="1" dirty="0">
                <a:solidFill>
                  <a:schemeClr val="accent5"/>
                </a:solidFill>
              </a:rPr>
              <a:t>82.7%</a:t>
            </a:r>
            <a:endParaRPr lang="en-US" sz="3000" dirty="0"/>
          </a:p>
        </p:txBody>
      </p:sp>
      <p:sp>
        <p:nvSpPr>
          <p:cNvPr id="16" name="Text 13"/>
          <p:cNvSpPr txBox="1"/>
          <p:nvPr/>
        </p:nvSpPr>
        <p:spPr>
          <a:xfrm>
            <a:off x="9125712" y="1938528"/>
            <a:ext cx="2377440" cy="475488"/>
          </a:xfrm>
          <a:prstGeom prst="rect">
            <a:avLst/>
          </a:prstGeom>
          <a:noFill/>
          <a:ln/>
        </p:spPr>
        <p:txBody>
          <a:bodyPr wrap="square" lIns="0" tIns="0" rIns="0" bIns="0" rtlCol="0" anchor="t"/>
          <a:lstStyle/>
          <a:p>
            <a:pPr indent="0" marL="0">
              <a:buNone/>
            </a:pPr>
            <a:r>
              <a:rPr lang="en-US" sz="1200" dirty="0">
                <a:solidFill>
                  <a:schemeClr val="tx1"/>
                </a:solidFill>
              </a:rPr>
              <a:t>correct offline, without internet · 124 of 150</a:t>
            </a:r>
            <a:endParaRPr lang="en-US" sz="1200" dirty="0"/>
          </a:p>
        </p:txBody>
      </p:sp>
      <p:sp>
        <p:nvSpPr>
          <p:cNvPr id="17" name="Text 14"/>
          <p:cNvSpPr txBox="1"/>
          <p:nvPr/>
        </p:nvSpPr>
        <p:spPr>
          <a:xfrm>
            <a:off x="548640" y="2697480"/>
            <a:ext cx="3200400" cy="274320"/>
          </a:xfrm>
          <a:prstGeom prst="rect">
            <a:avLst/>
          </a:prstGeom>
          <a:noFill/>
          <a:ln/>
        </p:spPr>
        <p:txBody>
          <a:bodyPr wrap="square" lIns="0" tIns="0" rIns="0" bIns="0" rtlCol="0" anchor="t"/>
          <a:lstStyle/>
          <a:p>
            <a:pPr indent="0" marL="0">
              <a:buNone/>
            </a:pPr>
            <a:r>
              <a:rPr lang="en-US" sz="1400" b="1" dirty="0">
                <a:solidFill>
                  <a:schemeClr val="tx1"/>
                </a:solidFill>
              </a:rPr>
              <a:t>Offline vs with AI review</a:t>
            </a:r>
            <a:endParaRPr lang="en-US" sz="1400" dirty="0"/>
          </a:p>
        </p:txBody>
      </p:sp>
      <p:sp>
        <p:nvSpPr>
          <p:cNvPr id="18" name="Shape 15"/>
          <p:cNvSpPr/>
          <p:nvPr/>
        </p:nvSpPr>
        <p:spPr>
          <a:xfrm>
            <a:off x="3246120" y="2761488"/>
            <a:ext cx="146304" cy="146304"/>
          </a:xfrm>
          <a:prstGeom prst="rect">
            <a:avLst/>
          </a:prstGeom>
          <a:solidFill>
            <a:srgbClr val="BDB6E3"/>
          </a:solidFill>
          <a:ln/>
        </p:spPr>
      </p:sp>
      <p:sp>
        <p:nvSpPr>
          <p:cNvPr id="19" name="Text 16"/>
          <p:cNvSpPr txBox="1"/>
          <p:nvPr/>
        </p:nvSpPr>
        <p:spPr>
          <a:xfrm>
            <a:off x="3465576" y="2697480"/>
            <a:ext cx="1463040" cy="274320"/>
          </a:xfrm>
          <a:prstGeom prst="rect">
            <a:avLst/>
          </a:prstGeom>
          <a:noFill/>
          <a:ln/>
        </p:spPr>
        <p:txBody>
          <a:bodyPr wrap="square" lIns="0" tIns="0" rIns="0" bIns="0" rtlCol="0" anchor="ctr"/>
          <a:lstStyle/>
          <a:p>
            <a:pPr indent="0" marL="0">
              <a:buNone/>
            </a:pPr>
            <a:r>
              <a:rPr lang="en-US" sz="1100" dirty="0">
                <a:solidFill>
                  <a:schemeClr val="tx1"/>
                </a:solidFill>
              </a:rPr>
              <a:t>Offline</a:t>
            </a:r>
            <a:endParaRPr lang="en-US" sz="1100" dirty="0"/>
          </a:p>
        </p:txBody>
      </p:sp>
      <p:sp>
        <p:nvSpPr>
          <p:cNvPr id="20" name="Shape 17"/>
          <p:cNvSpPr/>
          <p:nvPr/>
        </p:nvSpPr>
        <p:spPr>
          <a:xfrm>
            <a:off x="4329684" y="2761488"/>
            <a:ext cx="146304" cy="146304"/>
          </a:xfrm>
          <a:prstGeom prst="rect">
            <a:avLst/>
          </a:prstGeom>
          <a:solidFill>
            <a:srgbClr val="6955E8"/>
          </a:solidFill>
          <a:ln/>
        </p:spPr>
      </p:sp>
      <p:sp>
        <p:nvSpPr>
          <p:cNvPr id="21" name="Text 18"/>
          <p:cNvSpPr txBox="1"/>
          <p:nvPr/>
        </p:nvSpPr>
        <p:spPr>
          <a:xfrm>
            <a:off x="4549140" y="2697480"/>
            <a:ext cx="1463040" cy="274320"/>
          </a:xfrm>
          <a:prstGeom prst="rect">
            <a:avLst/>
          </a:prstGeom>
          <a:noFill/>
          <a:ln/>
        </p:spPr>
        <p:txBody>
          <a:bodyPr wrap="square" lIns="0" tIns="0" rIns="0" bIns="0" rtlCol="0" anchor="ctr"/>
          <a:lstStyle/>
          <a:p>
            <a:pPr indent="0" marL="0">
              <a:buNone/>
            </a:pPr>
            <a:r>
              <a:rPr lang="en-US" sz="1100" dirty="0">
                <a:solidFill>
                  <a:schemeClr val="tx1"/>
                </a:solidFill>
              </a:rPr>
              <a:t>With AI review</a:t>
            </a:r>
            <a:endParaRPr lang="en-US" sz="1100" dirty="0"/>
          </a:p>
        </p:txBody>
      </p:sp>
      <p:sp>
        <p:nvSpPr>
          <p:cNvPr id="22" name="Correct:  Offline 124"/>
          <p:cNvSpPr/>
          <p:nvPr/>
        </p:nvSpPr>
        <p:spPr>
          <a:xfrm>
            <a:off x="809244" y="3669670"/>
            <a:ext cx="553212" cy="1496690"/>
          </a:xfrm>
          <a:prstGeom prst="rect">
            <a:avLst/>
          </a:prstGeom>
          <a:solidFill>
            <a:srgbClr val="BDB6E3"/>
          </a:solidFill>
          <a:ln/>
        </p:spPr>
      </p:sp>
      <p:sp>
        <p:nvSpPr>
          <p:cNvPr id="23" name="Text 20"/>
          <p:cNvSpPr txBox="1"/>
          <p:nvPr/>
        </p:nvSpPr>
        <p:spPr>
          <a:xfrm>
            <a:off x="580644" y="3386206"/>
            <a:ext cx="1010412" cy="256032"/>
          </a:xfrm>
          <a:prstGeom prst="rect">
            <a:avLst/>
          </a:prstGeom>
          <a:noFill/>
          <a:ln/>
        </p:spPr>
        <p:txBody>
          <a:bodyPr wrap="square" lIns="0" tIns="0" rIns="0" bIns="0" rtlCol="0" anchor="b"/>
          <a:lstStyle/>
          <a:p>
            <a:pPr algn="ctr" indent="0" marL="0">
              <a:buNone/>
            </a:pPr>
            <a:r>
              <a:rPr lang="en-US" sz="1400" b="1" dirty="0">
                <a:solidFill>
                  <a:schemeClr val="tx1"/>
                </a:solidFill>
              </a:rPr>
              <a:t>124</a:t>
            </a:r>
            <a:endParaRPr lang="en-US" sz="1400" dirty="0"/>
          </a:p>
        </p:txBody>
      </p:sp>
      <p:sp>
        <p:nvSpPr>
          <p:cNvPr id="24" name="Correct:  With AI review 149"/>
          <p:cNvSpPr/>
          <p:nvPr/>
        </p:nvSpPr>
        <p:spPr>
          <a:xfrm>
            <a:off x="1472184" y="3367918"/>
            <a:ext cx="553212" cy="1798442"/>
          </a:xfrm>
          <a:prstGeom prst="rect">
            <a:avLst/>
          </a:prstGeom>
          <a:solidFill>
            <a:srgbClr val="6955E8"/>
          </a:solidFill>
          <a:ln/>
        </p:spPr>
      </p:sp>
      <p:sp>
        <p:nvSpPr>
          <p:cNvPr id="25" name="Text 22"/>
          <p:cNvSpPr txBox="1"/>
          <p:nvPr/>
        </p:nvSpPr>
        <p:spPr>
          <a:xfrm>
            <a:off x="1243584" y="3084454"/>
            <a:ext cx="1010412" cy="256032"/>
          </a:xfrm>
          <a:prstGeom prst="rect">
            <a:avLst/>
          </a:prstGeom>
          <a:noFill/>
          <a:ln/>
        </p:spPr>
        <p:txBody>
          <a:bodyPr wrap="square" lIns="0" tIns="0" rIns="0" bIns="0" rtlCol="0" anchor="b"/>
          <a:lstStyle/>
          <a:p>
            <a:pPr algn="ctr" indent="0" marL="0">
              <a:buNone/>
            </a:pPr>
            <a:r>
              <a:rPr lang="en-US" sz="1400" b="1" dirty="0">
                <a:solidFill>
                  <a:schemeClr val="tx1"/>
                </a:solidFill>
              </a:rPr>
              <a:t>149</a:t>
            </a:r>
            <a:endParaRPr lang="en-US" sz="1400" dirty="0"/>
          </a:p>
        </p:txBody>
      </p:sp>
      <p:sp>
        <p:nvSpPr>
          <p:cNvPr id="26" name="Text 23"/>
          <p:cNvSpPr txBox="1"/>
          <p:nvPr/>
        </p:nvSpPr>
        <p:spPr>
          <a:xfrm>
            <a:off x="548640" y="5230368"/>
            <a:ext cx="1737360" cy="347472"/>
          </a:xfrm>
          <a:prstGeom prst="rect">
            <a:avLst/>
          </a:prstGeom>
          <a:noFill/>
          <a:ln/>
        </p:spPr>
        <p:txBody>
          <a:bodyPr wrap="square" lIns="0" tIns="0" rIns="0" bIns="0" rtlCol="0" anchor="t"/>
          <a:lstStyle/>
          <a:p>
            <a:pPr algn="ctr" indent="0" marL="0">
              <a:buNone/>
            </a:pPr>
            <a:endParaRPr lang="en-US" sz="1100" dirty="0"/>
          </a:p>
        </p:txBody>
      </p:sp>
      <p:sp>
        <p:nvSpPr>
          <p:cNvPr id="27" name="Shape 24"/>
          <p:cNvSpPr/>
          <p:nvPr/>
        </p:nvSpPr>
        <p:spPr>
          <a:xfrm>
            <a:off x="548640" y="5166360"/>
            <a:ext cx="1737360" cy="0"/>
          </a:xfrm>
          <a:prstGeom prst="line">
            <a:avLst/>
          </a:prstGeom>
          <a:noFill/>
          <a:ln w="12700">
            <a:solidFill>
              <a:srgbClr val="CFC9EA"/>
            </a:solidFill>
            <a:prstDash val="solid"/>
          </a:ln>
        </p:spPr>
      </p:sp>
      <p:sp>
        <p:nvSpPr>
          <p:cNvPr id="28" name="Text 25"/>
          <p:cNvSpPr txBox="1"/>
          <p:nvPr/>
        </p:nvSpPr>
        <p:spPr>
          <a:xfrm>
            <a:off x="548640" y="5440680"/>
            <a:ext cx="1737360" cy="502920"/>
          </a:xfrm>
          <a:prstGeom prst="rect">
            <a:avLst/>
          </a:prstGeom>
          <a:noFill/>
          <a:ln/>
        </p:spPr>
        <p:txBody>
          <a:bodyPr wrap="square" lIns="0" tIns="0" rIns="0" bIns="0" rtlCol="0" anchor="t"/>
          <a:lstStyle/>
          <a:p>
            <a:pPr algn="ctr" indent="0" marL="0">
              <a:buNone/>
            </a:pPr>
            <a:r>
              <a:rPr lang="en-US" sz="1250" b="1" dirty="0">
                <a:solidFill>
                  <a:schemeClr val="tx1"/>
                </a:solidFill>
              </a:rPr>
              <a:t>Correct</a:t>
            </a:r>
            <a:endParaRPr lang="en-US" sz="1250" dirty="0"/>
          </a:p>
          <a:p>
            <a:pPr algn="ctr" indent="0" marL="0">
              <a:buNone/>
            </a:pPr>
            <a:r>
              <a:rPr lang="en-US" sz="1100" dirty="0">
                <a:solidFill>
                  <a:schemeClr val="accent6"/>
                </a:solidFill>
              </a:rPr>
              <a:t>of 150</a:t>
            </a:r>
            <a:endParaRPr lang="en-US" sz="1250" dirty="0"/>
          </a:p>
        </p:txBody>
      </p:sp>
      <p:sp>
        <p:nvSpPr>
          <p:cNvPr id="29" name="Risky flagged:  Offline 57"/>
          <p:cNvSpPr/>
          <p:nvPr/>
        </p:nvSpPr>
        <p:spPr>
          <a:xfrm>
            <a:off x="2638044" y="3790371"/>
            <a:ext cx="553212" cy="1375989"/>
          </a:xfrm>
          <a:prstGeom prst="rect">
            <a:avLst/>
          </a:prstGeom>
          <a:solidFill>
            <a:srgbClr val="BDB6E3"/>
          </a:solidFill>
          <a:ln/>
        </p:spPr>
      </p:sp>
      <p:sp>
        <p:nvSpPr>
          <p:cNvPr id="30" name="Text 27"/>
          <p:cNvSpPr txBox="1"/>
          <p:nvPr/>
        </p:nvSpPr>
        <p:spPr>
          <a:xfrm>
            <a:off x="2409444" y="3506907"/>
            <a:ext cx="1010412" cy="256032"/>
          </a:xfrm>
          <a:prstGeom prst="rect">
            <a:avLst/>
          </a:prstGeom>
          <a:noFill/>
          <a:ln/>
        </p:spPr>
        <p:txBody>
          <a:bodyPr wrap="square" lIns="0" tIns="0" rIns="0" bIns="0" rtlCol="0" anchor="b"/>
          <a:lstStyle/>
          <a:p>
            <a:pPr algn="ctr" indent="0" marL="0">
              <a:buNone/>
            </a:pPr>
            <a:r>
              <a:rPr lang="en-US" sz="1400" b="1" dirty="0">
                <a:solidFill>
                  <a:schemeClr val="tx1"/>
                </a:solidFill>
              </a:rPr>
              <a:t>57</a:t>
            </a:r>
            <a:endParaRPr lang="en-US" sz="1400" dirty="0"/>
          </a:p>
        </p:txBody>
      </p:sp>
      <p:sp>
        <p:nvSpPr>
          <p:cNvPr id="31" name="Risky flagged:  With AI review 74"/>
          <p:cNvSpPr/>
          <p:nvPr/>
        </p:nvSpPr>
        <p:spPr>
          <a:xfrm>
            <a:off x="3300984" y="3379988"/>
            <a:ext cx="553212" cy="1786372"/>
          </a:xfrm>
          <a:prstGeom prst="rect">
            <a:avLst/>
          </a:prstGeom>
          <a:solidFill>
            <a:srgbClr val="6955E8"/>
          </a:solidFill>
          <a:ln/>
        </p:spPr>
      </p:sp>
      <p:sp>
        <p:nvSpPr>
          <p:cNvPr id="32" name="Text 29"/>
          <p:cNvSpPr txBox="1"/>
          <p:nvPr/>
        </p:nvSpPr>
        <p:spPr>
          <a:xfrm>
            <a:off x="3072384" y="3096524"/>
            <a:ext cx="1010412" cy="256032"/>
          </a:xfrm>
          <a:prstGeom prst="rect">
            <a:avLst/>
          </a:prstGeom>
          <a:noFill/>
          <a:ln/>
        </p:spPr>
        <p:txBody>
          <a:bodyPr wrap="square" lIns="0" tIns="0" rIns="0" bIns="0" rtlCol="0" anchor="b"/>
          <a:lstStyle/>
          <a:p>
            <a:pPr algn="ctr" indent="0" marL="0">
              <a:buNone/>
            </a:pPr>
            <a:r>
              <a:rPr lang="en-US" sz="1400" b="1" dirty="0">
                <a:solidFill>
                  <a:schemeClr val="tx1"/>
                </a:solidFill>
              </a:rPr>
              <a:t>74</a:t>
            </a:r>
            <a:endParaRPr lang="en-US" sz="1400" dirty="0"/>
          </a:p>
        </p:txBody>
      </p:sp>
      <p:sp>
        <p:nvSpPr>
          <p:cNvPr id="33" name="Text 30"/>
          <p:cNvSpPr txBox="1"/>
          <p:nvPr/>
        </p:nvSpPr>
        <p:spPr>
          <a:xfrm>
            <a:off x="2377440" y="5230368"/>
            <a:ext cx="1737360" cy="347472"/>
          </a:xfrm>
          <a:prstGeom prst="rect">
            <a:avLst/>
          </a:prstGeom>
          <a:noFill/>
          <a:ln/>
        </p:spPr>
        <p:txBody>
          <a:bodyPr wrap="square" lIns="0" tIns="0" rIns="0" bIns="0" rtlCol="0" anchor="t"/>
          <a:lstStyle/>
          <a:p>
            <a:pPr algn="ctr" indent="0" marL="0">
              <a:buNone/>
            </a:pPr>
            <a:endParaRPr lang="en-US" sz="1100" dirty="0"/>
          </a:p>
        </p:txBody>
      </p:sp>
      <p:sp>
        <p:nvSpPr>
          <p:cNvPr id="34" name="Shape 31"/>
          <p:cNvSpPr/>
          <p:nvPr/>
        </p:nvSpPr>
        <p:spPr>
          <a:xfrm>
            <a:off x="2377440" y="5166360"/>
            <a:ext cx="1737360" cy="0"/>
          </a:xfrm>
          <a:prstGeom prst="line">
            <a:avLst/>
          </a:prstGeom>
          <a:noFill/>
          <a:ln w="12700">
            <a:solidFill>
              <a:srgbClr val="CFC9EA"/>
            </a:solidFill>
            <a:prstDash val="solid"/>
          </a:ln>
        </p:spPr>
      </p:sp>
      <p:sp>
        <p:nvSpPr>
          <p:cNvPr id="35" name="Text 32"/>
          <p:cNvSpPr txBox="1"/>
          <p:nvPr/>
        </p:nvSpPr>
        <p:spPr>
          <a:xfrm>
            <a:off x="2377440" y="5440680"/>
            <a:ext cx="1737360" cy="502920"/>
          </a:xfrm>
          <a:prstGeom prst="rect">
            <a:avLst/>
          </a:prstGeom>
          <a:noFill/>
          <a:ln/>
        </p:spPr>
        <p:txBody>
          <a:bodyPr wrap="square" lIns="0" tIns="0" rIns="0" bIns="0" rtlCol="0" anchor="t"/>
          <a:lstStyle/>
          <a:p>
            <a:pPr algn="ctr" indent="0" marL="0">
              <a:buNone/>
            </a:pPr>
            <a:r>
              <a:rPr lang="en-US" sz="1250" b="1" dirty="0">
                <a:solidFill>
                  <a:schemeClr val="tx1"/>
                </a:solidFill>
              </a:rPr>
              <a:t>Risky flagged</a:t>
            </a:r>
            <a:endParaRPr lang="en-US" sz="1250" dirty="0"/>
          </a:p>
          <a:p>
            <a:pPr algn="ctr" indent="0" marL="0">
              <a:buNone/>
            </a:pPr>
            <a:r>
              <a:rPr lang="en-US" sz="1100" dirty="0">
                <a:solidFill>
                  <a:schemeClr val="accent6"/>
                </a:solidFill>
              </a:rPr>
              <a:t>of 75</a:t>
            </a:r>
            <a:endParaRPr lang="en-US" sz="1250" dirty="0"/>
          </a:p>
        </p:txBody>
      </p:sp>
      <p:sp>
        <p:nvSpPr>
          <p:cNvPr id="36" name="False alarms:  Offline 8"/>
          <p:cNvSpPr/>
          <p:nvPr/>
        </p:nvSpPr>
        <p:spPr>
          <a:xfrm>
            <a:off x="4466844" y="4973239"/>
            <a:ext cx="553212" cy="193121"/>
          </a:xfrm>
          <a:prstGeom prst="rect">
            <a:avLst/>
          </a:prstGeom>
          <a:solidFill>
            <a:srgbClr val="BDB6E3"/>
          </a:solidFill>
          <a:ln/>
        </p:spPr>
      </p:sp>
      <p:sp>
        <p:nvSpPr>
          <p:cNvPr id="37" name="Text 34"/>
          <p:cNvSpPr txBox="1"/>
          <p:nvPr/>
        </p:nvSpPr>
        <p:spPr>
          <a:xfrm>
            <a:off x="4238244" y="4689775"/>
            <a:ext cx="1010412" cy="256032"/>
          </a:xfrm>
          <a:prstGeom prst="rect">
            <a:avLst/>
          </a:prstGeom>
          <a:noFill/>
          <a:ln/>
        </p:spPr>
        <p:txBody>
          <a:bodyPr wrap="square" lIns="0" tIns="0" rIns="0" bIns="0" rtlCol="0" anchor="b"/>
          <a:lstStyle/>
          <a:p>
            <a:pPr algn="ctr" indent="0" marL="0">
              <a:buNone/>
            </a:pPr>
            <a:r>
              <a:rPr lang="en-US" sz="1400" b="1" dirty="0">
                <a:solidFill>
                  <a:schemeClr val="tx1"/>
                </a:solidFill>
              </a:rPr>
              <a:t>8</a:t>
            </a:r>
            <a:endParaRPr lang="en-US" sz="1400" dirty="0"/>
          </a:p>
        </p:txBody>
      </p:sp>
      <p:sp>
        <p:nvSpPr>
          <p:cNvPr id="38" name="Text 35"/>
          <p:cNvSpPr txBox="1"/>
          <p:nvPr/>
        </p:nvSpPr>
        <p:spPr>
          <a:xfrm>
            <a:off x="4901184" y="4882896"/>
            <a:ext cx="1010412" cy="256032"/>
          </a:xfrm>
          <a:prstGeom prst="rect">
            <a:avLst/>
          </a:prstGeom>
          <a:noFill/>
          <a:ln/>
        </p:spPr>
        <p:txBody>
          <a:bodyPr wrap="square" lIns="0" tIns="0" rIns="0" bIns="0" rtlCol="0" anchor="b"/>
          <a:lstStyle/>
          <a:p>
            <a:pPr algn="ctr" indent="0" marL="0">
              <a:buNone/>
            </a:pPr>
            <a:r>
              <a:rPr lang="en-US" sz="1400" b="1" dirty="0">
                <a:solidFill>
                  <a:schemeClr val="tx1"/>
                </a:solidFill>
              </a:rPr>
              <a:t>0</a:t>
            </a:r>
            <a:endParaRPr lang="en-US" sz="1400" dirty="0"/>
          </a:p>
        </p:txBody>
      </p:sp>
      <p:sp>
        <p:nvSpPr>
          <p:cNvPr id="39" name="Text 36"/>
          <p:cNvSpPr txBox="1"/>
          <p:nvPr/>
        </p:nvSpPr>
        <p:spPr>
          <a:xfrm>
            <a:off x="4206240" y="5230368"/>
            <a:ext cx="1737360" cy="347472"/>
          </a:xfrm>
          <a:prstGeom prst="rect">
            <a:avLst/>
          </a:prstGeom>
          <a:noFill/>
          <a:ln/>
        </p:spPr>
        <p:txBody>
          <a:bodyPr wrap="square" lIns="0" tIns="0" rIns="0" bIns="0" rtlCol="0" anchor="t"/>
          <a:lstStyle/>
          <a:p>
            <a:pPr algn="ctr" indent="0" marL="0">
              <a:buNone/>
            </a:pPr>
            <a:endParaRPr lang="en-US" sz="1100" dirty="0"/>
          </a:p>
        </p:txBody>
      </p:sp>
      <p:sp>
        <p:nvSpPr>
          <p:cNvPr id="40" name="Shape 37"/>
          <p:cNvSpPr/>
          <p:nvPr/>
        </p:nvSpPr>
        <p:spPr>
          <a:xfrm>
            <a:off x="4206240" y="5166360"/>
            <a:ext cx="1737360" cy="0"/>
          </a:xfrm>
          <a:prstGeom prst="line">
            <a:avLst/>
          </a:prstGeom>
          <a:noFill/>
          <a:ln w="12700">
            <a:solidFill>
              <a:srgbClr val="CFC9EA"/>
            </a:solidFill>
            <a:prstDash val="solid"/>
          </a:ln>
        </p:spPr>
      </p:sp>
      <p:sp>
        <p:nvSpPr>
          <p:cNvPr id="41" name="Text 38"/>
          <p:cNvSpPr txBox="1"/>
          <p:nvPr/>
        </p:nvSpPr>
        <p:spPr>
          <a:xfrm>
            <a:off x="4206240" y="5440680"/>
            <a:ext cx="1737360" cy="502920"/>
          </a:xfrm>
          <a:prstGeom prst="rect">
            <a:avLst/>
          </a:prstGeom>
          <a:noFill/>
          <a:ln/>
        </p:spPr>
        <p:txBody>
          <a:bodyPr wrap="square" lIns="0" tIns="0" rIns="0" bIns="0" rtlCol="0" anchor="t"/>
          <a:lstStyle/>
          <a:p>
            <a:pPr algn="ctr" indent="0" marL="0">
              <a:buNone/>
            </a:pPr>
            <a:r>
              <a:rPr lang="en-US" sz="1250" b="1" dirty="0">
                <a:solidFill>
                  <a:schemeClr val="tx1"/>
                </a:solidFill>
              </a:rPr>
              <a:t>False alarms</a:t>
            </a:r>
            <a:endParaRPr lang="en-US" sz="1250" dirty="0"/>
          </a:p>
          <a:p>
            <a:pPr algn="ctr" indent="0" marL="0">
              <a:buNone/>
            </a:pPr>
            <a:r>
              <a:rPr lang="en-US" sz="1100" dirty="0">
                <a:solidFill>
                  <a:schemeClr val="accent6"/>
                </a:solidFill>
              </a:rPr>
              <a:t>of 75 · lower is better</a:t>
            </a:r>
            <a:endParaRPr lang="en-US" sz="1250" dirty="0"/>
          </a:p>
        </p:txBody>
      </p:sp>
      <p:sp>
        <p:nvSpPr>
          <p:cNvPr id="42" name="Text 39"/>
          <p:cNvSpPr txBox="1"/>
          <p:nvPr/>
        </p:nvSpPr>
        <p:spPr>
          <a:xfrm>
            <a:off x="6355080" y="2697480"/>
            <a:ext cx="5303520" cy="274320"/>
          </a:xfrm>
          <a:prstGeom prst="rect">
            <a:avLst/>
          </a:prstGeom>
          <a:noFill/>
          <a:ln/>
        </p:spPr>
        <p:txBody>
          <a:bodyPr wrap="square" lIns="0" tIns="0" rIns="0" bIns="0" rtlCol="0" anchor="t"/>
          <a:lstStyle/>
          <a:p>
            <a:pPr indent="0" marL="0">
              <a:buNone/>
            </a:pPr>
            <a:r>
              <a:rPr lang="en-US" sz="1400" b="1" dirty="0">
                <a:solidFill>
                  <a:schemeClr val="tx1"/>
                </a:solidFill>
              </a:rPr>
              <a:t>Correct by language form (%)</a:t>
            </a:r>
            <a:endParaRPr lang="en-US" sz="1400" dirty="0"/>
          </a:p>
        </p:txBody>
      </p:sp>
      <p:sp>
        <p:nvSpPr>
          <p:cNvPr id="43" name="Accuracy by form: English Offline 83.3"/>
          <p:cNvSpPr/>
          <p:nvPr/>
        </p:nvSpPr>
        <p:spPr>
          <a:xfrm>
            <a:off x="6471757" y="3711650"/>
            <a:ext cx="390815" cy="1774750"/>
          </a:xfrm>
          <a:prstGeom prst="rect">
            <a:avLst/>
          </a:prstGeom>
          <a:solidFill>
            <a:srgbClr val="BDB6E3"/>
          </a:solidFill>
          <a:ln/>
        </p:spPr>
      </p:sp>
      <p:sp>
        <p:nvSpPr>
          <p:cNvPr id="44" name="Text 41"/>
          <p:cNvSpPr txBox="1"/>
          <p:nvPr/>
        </p:nvSpPr>
        <p:spPr>
          <a:xfrm>
            <a:off x="6243157" y="3428186"/>
            <a:ext cx="848015" cy="256032"/>
          </a:xfrm>
          <a:prstGeom prst="rect">
            <a:avLst/>
          </a:prstGeom>
          <a:noFill/>
          <a:ln/>
        </p:spPr>
        <p:txBody>
          <a:bodyPr wrap="square" lIns="0" tIns="0" rIns="0" bIns="0" rtlCol="0" anchor="b"/>
          <a:lstStyle/>
          <a:p>
            <a:pPr algn="ctr" indent="0" marL="0">
              <a:buNone/>
            </a:pPr>
            <a:r>
              <a:rPr lang="en-US" sz="1050" b="1" dirty="0">
                <a:solidFill>
                  <a:schemeClr val="tx1"/>
                </a:solidFill>
              </a:rPr>
              <a:t>83.3</a:t>
            </a:r>
            <a:endParaRPr lang="en-US" sz="1050" dirty="0"/>
          </a:p>
        </p:txBody>
      </p:sp>
      <p:sp>
        <p:nvSpPr>
          <p:cNvPr id="45" name="Accuracy by form: English With AI review 100.0"/>
          <p:cNvSpPr/>
          <p:nvPr/>
        </p:nvSpPr>
        <p:spPr>
          <a:xfrm>
            <a:off x="6908292" y="3355848"/>
            <a:ext cx="390815" cy="2130552"/>
          </a:xfrm>
          <a:prstGeom prst="rect">
            <a:avLst/>
          </a:prstGeom>
          <a:solidFill>
            <a:srgbClr val="6955E8"/>
          </a:solidFill>
          <a:ln/>
        </p:spPr>
      </p:sp>
      <p:sp>
        <p:nvSpPr>
          <p:cNvPr id="46" name="Text 43"/>
          <p:cNvSpPr txBox="1"/>
          <p:nvPr/>
        </p:nvSpPr>
        <p:spPr>
          <a:xfrm>
            <a:off x="6679692" y="3072384"/>
            <a:ext cx="848015" cy="256032"/>
          </a:xfrm>
          <a:prstGeom prst="rect">
            <a:avLst/>
          </a:prstGeom>
          <a:noFill/>
          <a:ln/>
        </p:spPr>
        <p:txBody>
          <a:bodyPr wrap="square" lIns="0" tIns="0" rIns="0" bIns="0" rtlCol="0" anchor="b"/>
          <a:lstStyle/>
          <a:p>
            <a:pPr algn="ctr" indent="0" marL="0">
              <a:buNone/>
            </a:pPr>
            <a:r>
              <a:rPr lang="en-US" sz="1050" b="1" dirty="0">
                <a:solidFill>
                  <a:schemeClr val="tx1"/>
                </a:solidFill>
              </a:rPr>
              <a:t>100.0</a:t>
            </a:r>
            <a:endParaRPr lang="en-US" sz="1050" dirty="0"/>
          </a:p>
        </p:txBody>
      </p:sp>
      <p:sp>
        <p:nvSpPr>
          <p:cNvPr id="47" name="Text 44"/>
          <p:cNvSpPr txBox="1"/>
          <p:nvPr/>
        </p:nvSpPr>
        <p:spPr>
          <a:xfrm>
            <a:off x="6355080" y="5550408"/>
            <a:ext cx="1060704" cy="347472"/>
          </a:xfrm>
          <a:prstGeom prst="rect">
            <a:avLst/>
          </a:prstGeom>
          <a:noFill/>
          <a:ln/>
        </p:spPr>
        <p:txBody>
          <a:bodyPr wrap="square" lIns="0" tIns="0" rIns="0" bIns="0" rtlCol="0" anchor="t"/>
          <a:lstStyle/>
          <a:p>
            <a:pPr algn="ctr" indent="0" marL="0">
              <a:buNone/>
            </a:pPr>
            <a:r>
              <a:rPr lang="en-US" sz="1150" dirty="0">
                <a:solidFill>
                  <a:schemeClr val="tx1"/>
                </a:solidFill>
              </a:rPr>
              <a:t>English</a:t>
            </a:r>
            <a:endParaRPr lang="en-US" sz="1150" dirty="0"/>
          </a:p>
        </p:txBody>
      </p:sp>
      <p:sp>
        <p:nvSpPr>
          <p:cNvPr id="48" name="Accuracy by form: Hindi Offline 83.3"/>
          <p:cNvSpPr/>
          <p:nvPr/>
        </p:nvSpPr>
        <p:spPr>
          <a:xfrm>
            <a:off x="7532461" y="3711650"/>
            <a:ext cx="390815" cy="1774750"/>
          </a:xfrm>
          <a:prstGeom prst="rect">
            <a:avLst/>
          </a:prstGeom>
          <a:solidFill>
            <a:srgbClr val="BDB6E3"/>
          </a:solidFill>
          <a:ln/>
        </p:spPr>
      </p:sp>
      <p:sp>
        <p:nvSpPr>
          <p:cNvPr id="49" name="Text 46"/>
          <p:cNvSpPr txBox="1"/>
          <p:nvPr/>
        </p:nvSpPr>
        <p:spPr>
          <a:xfrm>
            <a:off x="7303861" y="3428186"/>
            <a:ext cx="848015" cy="256032"/>
          </a:xfrm>
          <a:prstGeom prst="rect">
            <a:avLst/>
          </a:prstGeom>
          <a:noFill/>
          <a:ln/>
        </p:spPr>
        <p:txBody>
          <a:bodyPr wrap="square" lIns="0" tIns="0" rIns="0" bIns="0" rtlCol="0" anchor="b"/>
          <a:lstStyle/>
          <a:p>
            <a:pPr algn="ctr" indent="0" marL="0">
              <a:buNone/>
            </a:pPr>
            <a:r>
              <a:rPr lang="en-US" sz="1050" b="1" dirty="0">
                <a:solidFill>
                  <a:schemeClr val="tx1"/>
                </a:solidFill>
              </a:rPr>
              <a:t>83.3</a:t>
            </a:r>
            <a:endParaRPr lang="en-US" sz="1050" dirty="0"/>
          </a:p>
        </p:txBody>
      </p:sp>
      <p:sp>
        <p:nvSpPr>
          <p:cNvPr id="50" name="Accuracy by form: Hindi With AI review 96.7"/>
          <p:cNvSpPr/>
          <p:nvPr/>
        </p:nvSpPr>
        <p:spPr>
          <a:xfrm>
            <a:off x="7968996" y="3426156"/>
            <a:ext cx="390815" cy="2060244"/>
          </a:xfrm>
          <a:prstGeom prst="rect">
            <a:avLst/>
          </a:prstGeom>
          <a:solidFill>
            <a:srgbClr val="6955E8"/>
          </a:solidFill>
          <a:ln/>
        </p:spPr>
      </p:sp>
      <p:sp>
        <p:nvSpPr>
          <p:cNvPr id="51" name="Text 48"/>
          <p:cNvSpPr txBox="1"/>
          <p:nvPr/>
        </p:nvSpPr>
        <p:spPr>
          <a:xfrm>
            <a:off x="7740396" y="3142692"/>
            <a:ext cx="848015" cy="256032"/>
          </a:xfrm>
          <a:prstGeom prst="rect">
            <a:avLst/>
          </a:prstGeom>
          <a:noFill/>
          <a:ln/>
        </p:spPr>
        <p:txBody>
          <a:bodyPr wrap="square" lIns="0" tIns="0" rIns="0" bIns="0" rtlCol="0" anchor="b"/>
          <a:lstStyle/>
          <a:p>
            <a:pPr algn="ctr" indent="0" marL="0">
              <a:buNone/>
            </a:pPr>
            <a:r>
              <a:rPr lang="en-US" sz="1050" b="1" dirty="0">
                <a:solidFill>
                  <a:schemeClr val="tx1"/>
                </a:solidFill>
              </a:rPr>
              <a:t>96.7</a:t>
            </a:r>
            <a:endParaRPr lang="en-US" sz="1050" dirty="0"/>
          </a:p>
        </p:txBody>
      </p:sp>
      <p:sp>
        <p:nvSpPr>
          <p:cNvPr id="52" name="Text 49"/>
          <p:cNvSpPr txBox="1"/>
          <p:nvPr/>
        </p:nvSpPr>
        <p:spPr>
          <a:xfrm>
            <a:off x="7415784" y="5550408"/>
            <a:ext cx="1060704" cy="347472"/>
          </a:xfrm>
          <a:prstGeom prst="rect">
            <a:avLst/>
          </a:prstGeom>
          <a:noFill/>
          <a:ln/>
        </p:spPr>
        <p:txBody>
          <a:bodyPr wrap="square" lIns="0" tIns="0" rIns="0" bIns="0" rtlCol="0" anchor="t"/>
          <a:lstStyle/>
          <a:p>
            <a:pPr algn="ctr" indent="0" marL="0">
              <a:buNone/>
            </a:pPr>
            <a:r>
              <a:rPr lang="en-US" sz="1150" dirty="0">
                <a:solidFill>
                  <a:schemeClr val="tx1"/>
                </a:solidFill>
              </a:rPr>
              <a:t>Hindi</a:t>
            </a:r>
            <a:endParaRPr lang="en-US" sz="1150" dirty="0"/>
          </a:p>
        </p:txBody>
      </p:sp>
      <p:sp>
        <p:nvSpPr>
          <p:cNvPr id="53" name="Accuracy by form: Bengali Offline 83.3"/>
          <p:cNvSpPr/>
          <p:nvPr/>
        </p:nvSpPr>
        <p:spPr>
          <a:xfrm>
            <a:off x="8593165" y="3711650"/>
            <a:ext cx="390815" cy="1774750"/>
          </a:xfrm>
          <a:prstGeom prst="rect">
            <a:avLst/>
          </a:prstGeom>
          <a:solidFill>
            <a:srgbClr val="BDB6E3"/>
          </a:solidFill>
          <a:ln/>
        </p:spPr>
      </p:sp>
      <p:sp>
        <p:nvSpPr>
          <p:cNvPr id="54" name="Text 51"/>
          <p:cNvSpPr txBox="1"/>
          <p:nvPr/>
        </p:nvSpPr>
        <p:spPr>
          <a:xfrm>
            <a:off x="8364565" y="3428186"/>
            <a:ext cx="848015" cy="256032"/>
          </a:xfrm>
          <a:prstGeom prst="rect">
            <a:avLst/>
          </a:prstGeom>
          <a:noFill/>
          <a:ln/>
        </p:spPr>
        <p:txBody>
          <a:bodyPr wrap="square" lIns="0" tIns="0" rIns="0" bIns="0" rtlCol="0" anchor="b"/>
          <a:lstStyle/>
          <a:p>
            <a:pPr algn="ctr" indent="0" marL="0">
              <a:buNone/>
            </a:pPr>
            <a:r>
              <a:rPr lang="en-US" sz="1050" b="1" dirty="0">
                <a:solidFill>
                  <a:schemeClr val="tx1"/>
                </a:solidFill>
              </a:rPr>
              <a:t>83.3</a:t>
            </a:r>
            <a:endParaRPr lang="en-US" sz="1050" dirty="0"/>
          </a:p>
        </p:txBody>
      </p:sp>
      <p:sp>
        <p:nvSpPr>
          <p:cNvPr id="55" name="Accuracy by form: Bengali With AI review 100.0"/>
          <p:cNvSpPr/>
          <p:nvPr/>
        </p:nvSpPr>
        <p:spPr>
          <a:xfrm>
            <a:off x="9029700" y="3355848"/>
            <a:ext cx="390815" cy="2130552"/>
          </a:xfrm>
          <a:prstGeom prst="rect">
            <a:avLst/>
          </a:prstGeom>
          <a:solidFill>
            <a:srgbClr val="6955E8"/>
          </a:solidFill>
          <a:ln/>
        </p:spPr>
      </p:sp>
      <p:sp>
        <p:nvSpPr>
          <p:cNvPr id="56" name="Text 53"/>
          <p:cNvSpPr txBox="1"/>
          <p:nvPr/>
        </p:nvSpPr>
        <p:spPr>
          <a:xfrm>
            <a:off x="8801100" y="3072384"/>
            <a:ext cx="848015" cy="256032"/>
          </a:xfrm>
          <a:prstGeom prst="rect">
            <a:avLst/>
          </a:prstGeom>
          <a:noFill/>
          <a:ln/>
        </p:spPr>
        <p:txBody>
          <a:bodyPr wrap="square" lIns="0" tIns="0" rIns="0" bIns="0" rtlCol="0" anchor="b"/>
          <a:lstStyle/>
          <a:p>
            <a:pPr algn="ctr" indent="0" marL="0">
              <a:buNone/>
            </a:pPr>
            <a:r>
              <a:rPr lang="en-US" sz="1050" b="1" dirty="0">
                <a:solidFill>
                  <a:schemeClr val="tx1"/>
                </a:solidFill>
              </a:rPr>
              <a:t>100.0</a:t>
            </a:r>
            <a:endParaRPr lang="en-US" sz="1050" dirty="0"/>
          </a:p>
        </p:txBody>
      </p:sp>
      <p:sp>
        <p:nvSpPr>
          <p:cNvPr id="57" name="Text 54"/>
          <p:cNvSpPr txBox="1"/>
          <p:nvPr/>
        </p:nvSpPr>
        <p:spPr>
          <a:xfrm>
            <a:off x="8476488" y="5550408"/>
            <a:ext cx="1060704" cy="347472"/>
          </a:xfrm>
          <a:prstGeom prst="rect">
            <a:avLst/>
          </a:prstGeom>
          <a:noFill/>
          <a:ln/>
        </p:spPr>
        <p:txBody>
          <a:bodyPr wrap="square" lIns="0" tIns="0" rIns="0" bIns="0" rtlCol="0" anchor="t"/>
          <a:lstStyle/>
          <a:p>
            <a:pPr algn="ctr" indent="0" marL="0">
              <a:buNone/>
            </a:pPr>
            <a:r>
              <a:rPr lang="en-US" sz="1150" dirty="0">
                <a:solidFill>
                  <a:schemeClr val="tx1"/>
                </a:solidFill>
              </a:rPr>
              <a:t>Bengali</a:t>
            </a:r>
            <a:endParaRPr lang="en-US" sz="1150" dirty="0"/>
          </a:p>
        </p:txBody>
      </p:sp>
      <p:sp>
        <p:nvSpPr>
          <p:cNvPr id="58" name="Accuracy by form: Hinglish Offline 80.0"/>
          <p:cNvSpPr/>
          <p:nvPr/>
        </p:nvSpPr>
        <p:spPr>
          <a:xfrm>
            <a:off x="9653869" y="3781958"/>
            <a:ext cx="390815" cy="1704442"/>
          </a:xfrm>
          <a:prstGeom prst="rect">
            <a:avLst/>
          </a:prstGeom>
          <a:solidFill>
            <a:srgbClr val="BDB6E3"/>
          </a:solidFill>
          <a:ln/>
        </p:spPr>
      </p:sp>
      <p:sp>
        <p:nvSpPr>
          <p:cNvPr id="59" name="Text 56"/>
          <p:cNvSpPr txBox="1"/>
          <p:nvPr/>
        </p:nvSpPr>
        <p:spPr>
          <a:xfrm>
            <a:off x="9425269" y="3498494"/>
            <a:ext cx="848015" cy="256032"/>
          </a:xfrm>
          <a:prstGeom prst="rect">
            <a:avLst/>
          </a:prstGeom>
          <a:noFill/>
          <a:ln/>
        </p:spPr>
        <p:txBody>
          <a:bodyPr wrap="square" lIns="0" tIns="0" rIns="0" bIns="0" rtlCol="0" anchor="b"/>
          <a:lstStyle/>
          <a:p>
            <a:pPr algn="ctr" indent="0" marL="0">
              <a:buNone/>
            </a:pPr>
            <a:r>
              <a:rPr lang="en-US" sz="1050" b="1" dirty="0">
                <a:solidFill>
                  <a:schemeClr val="tx1"/>
                </a:solidFill>
              </a:rPr>
              <a:t>80.0</a:t>
            </a:r>
            <a:endParaRPr lang="en-US" sz="1050" dirty="0"/>
          </a:p>
        </p:txBody>
      </p:sp>
      <p:sp>
        <p:nvSpPr>
          <p:cNvPr id="60" name="Accuracy by form: Hinglish With AI review 100.0"/>
          <p:cNvSpPr/>
          <p:nvPr/>
        </p:nvSpPr>
        <p:spPr>
          <a:xfrm>
            <a:off x="10090404" y="3355848"/>
            <a:ext cx="390815" cy="2130552"/>
          </a:xfrm>
          <a:prstGeom prst="rect">
            <a:avLst/>
          </a:prstGeom>
          <a:solidFill>
            <a:srgbClr val="6955E8"/>
          </a:solidFill>
          <a:ln/>
        </p:spPr>
      </p:sp>
      <p:sp>
        <p:nvSpPr>
          <p:cNvPr id="61" name="Text 58"/>
          <p:cNvSpPr txBox="1"/>
          <p:nvPr/>
        </p:nvSpPr>
        <p:spPr>
          <a:xfrm>
            <a:off x="9861804" y="3072384"/>
            <a:ext cx="848015" cy="256032"/>
          </a:xfrm>
          <a:prstGeom prst="rect">
            <a:avLst/>
          </a:prstGeom>
          <a:noFill/>
          <a:ln/>
        </p:spPr>
        <p:txBody>
          <a:bodyPr wrap="square" lIns="0" tIns="0" rIns="0" bIns="0" rtlCol="0" anchor="b"/>
          <a:lstStyle/>
          <a:p>
            <a:pPr algn="ctr" indent="0" marL="0">
              <a:buNone/>
            </a:pPr>
            <a:r>
              <a:rPr lang="en-US" sz="1050" b="1" dirty="0">
                <a:solidFill>
                  <a:schemeClr val="tx1"/>
                </a:solidFill>
              </a:rPr>
              <a:t>100.0</a:t>
            </a:r>
            <a:endParaRPr lang="en-US" sz="1050" dirty="0"/>
          </a:p>
        </p:txBody>
      </p:sp>
      <p:sp>
        <p:nvSpPr>
          <p:cNvPr id="62" name="Text 59"/>
          <p:cNvSpPr txBox="1"/>
          <p:nvPr/>
        </p:nvSpPr>
        <p:spPr>
          <a:xfrm>
            <a:off x="9537192" y="5550408"/>
            <a:ext cx="1060704" cy="347472"/>
          </a:xfrm>
          <a:prstGeom prst="rect">
            <a:avLst/>
          </a:prstGeom>
          <a:noFill/>
          <a:ln/>
        </p:spPr>
        <p:txBody>
          <a:bodyPr wrap="square" lIns="0" tIns="0" rIns="0" bIns="0" rtlCol="0" anchor="t"/>
          <a:lstStyle/>
          <a:p>
            <a:pPr algn="ctr" indent="0" marL="0">
              <a:buNone/>
            </a:pPr>
            <a:r>
              <a:rPr lang="en-US" sz="1150" dirty="0">
                <a:solidFill>
                  <a:schemeClr val="tx1"/>
                </a:solidFill>
              </a:rPr>
              <a:t>Hinglish</a:t>
            </a:r>
            <a:endParaRPr lang="en-US" sz="1150" dirty="0"/>
          </a:p>
        </p:txBody>
      </p:sp>
      <p:sp>
        <p:nvSpPr>
          <p:cNvPr id="63" name="Accuracy by form: Banglish Offline 83.3"/>
          <p:cNvSpPr/>
          <p:nvPr/>
        </p:nvSpPr>
        <p:spPr>
          <a:xfrm>
            <a:off x="10714573" y="3711650"/>
            <a:ext cx="390815" cy="1774750"/>
          </a:xfrm>
          <a:prstGeom prst="rect">
            <a:avLst/>
          </a:prstGeom>
          <a:solidFill>
            <a:srgbClr val="BDB6E3"/>
          </a:solidFill>
          <a:ln/>
        </p:spPr>
      </p:sp>
      <p:sp>
        <p:nvSpPr>
          <p:cNvPr id="64" name="Text 61"/>
          <p:cNvSpPr txBox="1"/>
          <p:nvPr/>
        </p:nvSpPr>
        <p:spPr>
          <a:xfrm>
            <a:off x="10485973" y="3428186"/>
            <a:ext cx="848015" cy="256032"/>
          </a:xfrm>
          <a:prstGeom prst="rect">
            <a:avLst/>
          </a:prstGeom>
          <a:noFill/>
          <a:ln/>
        </p:spPr>
        <p:txBody>
          <a:bodyPr wrap="square" lIns="0" tIns="0" rIns="0" bIns="0" rtlCol="0" anchor="b"/>
          <a:lstStyle/>
          <a:p>
            <a:pPr algn="ctr" indent="0" marL="0">
              <a:buNone/>
            </a:pPr>
            <a:r>
              <a:rPr lang="en-US" sz="1050" b="1" dirty="0">
                <a:solidFill>
                  <a:schemeClr val="tx1"/>
                </a:solidFill>
              </a:rPr>
              <a:t>83.3</a:t>
            </a:r>
            <a:endParaRPr lang="en-US" sz="1050" dirty="0"/>
          </a:p>
        </p:txBody>
      </p:sp>
      <p:sp>
        <p:nvSpPr>
          <p:cNvPr id="65" name="Accuracy by form: Banglish With AI review 100.0"/>
          <p:cNvSpPr/>
          <p:nvPr/>
        </p:nvSpPr>
        <p:spPr>
          <a:xfrm>
            <a:off x="11151108" y="3355848"/>
            <a:ext cx="390815" cy="2130552"/>
          </a:xfrm>
          <a:prstGeom prst="rect">
            <a:avLst/>
          </a:prstGeom>
          <a:solidFill>
            <a:srgbClr val="6955E8"/>
          </a:solidFill>
          <a:ln/>
        </p:spPr>
      </p:sp>
      <p:sp>
        <p:nvSpPr>
          <p:cNvPr id="66" name="Text 63"/>
          <p:cNvSpPr txBox="1"/>
          <p:nvPr/>
        </p:nvSpPr>
        <p:spPr>
          <a:xfrm>
            <a:off x="10922508" y="3072384"/>
            <a:ext cx="848015" cy="256032"/>
          </a:xfrm>
          <a:prstGeom prst="rect">
            <a:avLst/>
          </a:prstGeom>
          <a:noFill/>
          <a:ln/>
        </p:spPr>
        <p:txBody>
          <a:bodyPr wrap="square" lIns="0" tIns="0" rIns="0" bIns="0" rtlCol="0" anchor="b"/>
          <a:lstStyle/>
          <a:p>
            <a:pPr algn="ctr" indent="0" marL="0">
              <a:buNone/>
            </a:pPr>
            <a:r>
              <a:rPr lang="en-US" sz="1050" b="1" dirty="0">
                <a:solidFill>
                  <a:schemeClr val="tx1"/>
                </a:solidFill>
              </a:rPr>
              <a:t>100.0</a:t>
            </a:r>
            <a:endParaRPr lang="en-US" sz="1050" dirty="0"/>
          </a:p>
        </p:txBody>
      </p:sp>
      <p:sp>
        <p:nvSpPr>
          <p:cNvPr id="67" name="Text 64"/>
          <p:cNvSpPr txBox="1"/>
          <p:nvPr/>
        </p:nvSpPr>
        <p:spPr>
          <a:xfrm>
            <a:off x="10597896" y="5550408"/>
            <a:ext cx="1060704" cy="347472"/>
          </a:xfrm>
          <a:prstGeom prst="rect">
            <a:avLst/>
          </a:prstGeom>
          <a:noFill/>
          <a:ln/>
        </p:spPr>
        <p:txBody>
          <a:bodyPr wrap="square" lIns="0" tIns="0" rIns="0" bIns="0" rtlCol="0" anchor="t"/>
          <a:lstStyle/>
          <a:p>
            <a:pPr algn="ctr" indent="0" marL="0">
              <a:buNone/>
            </a:pPr>
            <a:r>
              <a:rPr lang="en-US" sz="1150" dirty="0">
                <a:solidFill>
                  <a:schemeClr val="tx1"/>
                </a:solidFill>
              </a:rPr>
              <a:t>Banglish</a:t>
            </a:r>
            <a:endParaRPr lang="en-US" sz="1150" dirty="0"/>
          </a:p>
        </p:txBody>
      </p:sp>
      <p:sp>
        <p:nvSpPr>
          <p:cNvPr id="68" name="Shape 65"/>
          <p:cNvSpPr/>
          <p:nvPr/>
        </p:nvSpPr>
        <p:spPr>
          <a:xfrm>
            <a:off x="6355080" y="5486400"/>
            <a:ext cx="5303520" cy="0"/>
          </a:xfrm>
          <a:prstGeom prst="line">
            <a:avLst/>
          </a:prstGeom>
          <a:noFill/>
          <a:ln w="12700">
            <a:solidFill>
              <a:srgbClr val="CFC9EA"/>
            </a:solidFill>
            <a:prstDash val="solid"/>
          </a:ln>
        </p:spPr>
      </p:sp>
      <p:sp>
        <p:nvSpPr>
          <p:cNvPr id="69" name="Text 66"/>
          <p:cNvSpPr txBox="1"/>
          <p:nvPr/>
        </p:nvSpPr>
        <p:spPr>
          <a:xfrm>
            <a:off x="548640" y="6108192"/>
            <a:ext cx="11109960" cy="310896"/>
          </a:xfrm>
          <a:prstGeom prst="rect">
            <a:avLst/>
          </a:prstGeom>
          <a:noFill/>
          <a:ln/>
        </p:spPr>
        <p:txBody>
          <a:bodyPr wrap="square" lIns="0" tIns="0" rIns="0" bIns="0" rtlCol="0" anchor="t"/>
          <a:lstStyle/>
          <a:p>
            <a:pPr indent="0" marL="0">
              <a:buNone/>
            </a:pPr>
            <a:r>
              <a:rPr lang="en-US" sz="1000" dirty="0">
                <a:solidFill>
                  <a:schemeClr val="accent6"/>
                </a:solidFill>
              </a:rPr>
              <a:t>Held-out set of 150 synthetic messages (75 risky, 75 harmless) in English, Hindi, Bengali, Hinglish and Banglish, written before tuning and scored once. The AI completed 145 reviews; 5 used the offline result. Not a real-world guarantee.</a:t>
            </a:r>
            <a:endParaRPr lang="en-US" sz="1000" dirty="0"/>
          </a:p>
        </p:txBody>
      </p:sp>
      <p:sp>
        <p:nvSpPr>
          <p:cNvPr id="25" name="Slide Number Placeholder 0"/>
          <p:cNvSpPr>
            <a:spLocks noGrp="1"/>
          </p:cNvSpPr>
          <p:nvPr>
            <p:ph type="sldNum" sz="quarter" idx="4294967295"/>
          </p:nvPr>
        </p:nvSpPr>
        <p:spPr>
          <a:xfrm>
            <a:off x="11091672" y="642823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68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8229600" cy="274320"/>
          </a:xfrm>
          <a:prstGeom prst="rect">
            <a:avLst/>
          </a:prstGeom>
          <a:noFill/>
          <a:ln/>
        </p:spPr>
        <p:txBody>
          <a:bodyPr wrap="square" lIns="0" tIns="0" rIns="0" bIns="0" rtlCol="0" anchor="ctr"/>
          <a:lstStyle/>
          <a:p>
            <a:pPr algn="l" indent="0" marL="0">
              <a:buNone/>
            </a:pPr>
            <a:r>
              <a:rPr lang="en-US" sz="1200" b="1" spc="150" kern="0" dirty="0">
                <a:solidFill>
                  <a:srgbClr val="6955E8"/>
                </a:solidFill>
              </a:rPr>
              <a:t>08   ARCHITECTURE AND TECHNOLOGY</a:t>
            </a:r>
            <a:endParaRPr lang="en-US" sz="1200" dirty="0"/>
          </a:p>
        </p:txBody>
      </p:sp>
      <p:sp>
        <p:nvSpPr>
          <p:cNvPr id="3" name="Text 2"/>
          <p:cNvSpPr/>
          <p:nvPr>
            <p:ph idx="103" type="title" hasCustomPrompt="1"/>
          </p:nvPr>
        </p:nvSpPr>
        <p:spPr>
          <a:xfrm>
            <a:off x="548640" y="658368"/>
            <a:ext cx="11064240" cy="603504"/>
          </a:xfrm>
          <a:prstGeom prst="rect">
            <a:avLst/>
          </a:prstGeom>
          <a:noFill/>
          <a:ln/>
        </p:spPr>
        <p:txBody>
          <a:bodyPr wrap="square" lIns="0" tIns="0" rIns="0" bIns="0" rtlCol="0" anchor="t"/>
          <a:lstStyle/>
          <a:p>
            <a:pPr algn="l" indent="0" marL="0">
              <a:buNone/>
            </a:pPr>
            <a:r>
              <a:rPr lang="en-US" sz="3000" b="1" dirty="0">
                <a:solidFill>
                  <a:srgbClr val="1E1B2E"/>
                </a:solidFill>
              </a:rPr>
              <a:t>Two layers: offline first, AI when you choose</a:t>
            </a:r>
            <a:endParaRPr lang="en-US" sz="3000" dirty="0"/>
          </a:p>
        </p:txBody>
      </p:sp>
      <p:sp>
        <p:nvSpPr>
          <p:cNvPr id="5" name="message box"/>
          <p:cNvSpPr/>
          <p:nvPr/>
        </p:nvSpPr>
        <p:spPr>
          <a:xfrm>
            <a:off x="548640" y="1783080"/>
            <a:ext cx="1325880" cy="2834640"/>
          </a:xfrm>
          <a:prstGeom prst="roundRect">
            <a:avLst>
              <a:gd name="adj" fmla="val 8276"/>
            </a:avLst>
          </a:prstGeom>
          <a:solidFill>
            <a:schemeClr val="tx2"/>
          </a:solidFill>
          <a:ln/>
          <a:effectLst>
            <a:outerShdw sx="100000" sy="100000" kx="0" ky="0" algn="bl" rotWithShape="0" blurRad="127000" dist="38100" dir="5400000">
              <a:srgbClr val="241949">
                <a:alpha val="12000"/>
              </a:srgbClr>
            </a:outerShdw>
          </a:effectLst>
        </p:spPr>
      </p:sp>
      <p:pic>
        <p:nvPicPr>
          <p:cNvPr id="6" name="Image 0" descr="preencoded.png">    </p:cNvPr>
          <p:cNvPicPr>
            <a:picLocks noChangeAspect="1"/>
          </p:cNvPicPr>
          <p:nvPr/>
        </p:nvPicPr>
        <p:blipFill>
          <a:blip r:embed="rId1"/>
          <a:stretch>
            <a:fillRect/>
          </a:stretch>
        </p:blipFill>
        <p:spPr>
          <a:xfrm>
            <a:off x="978408" y="2514600"/>
            <a:ext cx="457200" cy="457200"/>
          </a:xfrm>
          <a:prstGeom prst="rect">
            <a:avLst/>
          </a:prstGeom>
        </p:spPr>
      </p:pic>
      <p:sp>
        <p:nvSpPr>
          <p:cNvPr id="7" name="Text 3"/>
          <p:cNvSpPr txBox="1"/>
          <p:nvPr/>
        </p:nvSpPr>
        <p:spPr>
          <a:xfrm>
            <a:off x="594360" y="3063240"/>
            <a:ext cx="1234440" cy="640080"/>
          </a:xfrm>
          <a:prstGeom prst="rect">
            <a:avLst/>
          </a:prstGeom>
          <a:noFill/>
          <a:ln/>
        </p:spPr>
        <p:txBody>
          <a:bodyPr wrap="square" lIns="0" tIns="0" rIns="0" bIns="0" rtlCol="0" anchor="t"/>
          <a:lstStyle/>
          <a:p>
            <a:pPr algn="ctr" indent="0" marL="0">
              <a:buNone/>
            </a:pPr>
            <a:r>
              <a:rPr lang="en-US" sz="1400" b="1" dirty="0">
                <a:solidFill>
                  <a:schemeClr val="bg1"/>
                </a:solidFill>
              </a:rPr>
              <a:t>Your message</a:t>
            </a:r>
            <a:endParaRPr lang="en-US" sz="1400" dirty="0"/>
          </a:p>
        </p:txBody>
      </p:sp>
      <p:sp>
        <p:nvSpPr>
          <p:cNvPr id="8" name="Text 4"/>
          <p:cNvSpPr txBox="1"/>
          <p:nvPr/>
        </p:nvSpPr>
        <p:spPr>
          <a:xfrm>
            <a:off x="2148840" y="1463040"/>
            <a:ext cx="676656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ON THE DEVICE · ALWAYS ON</a:t>
            </a:r>
            <a:endParaRPr lang="en-US" sz="1100" dirty="0"/>
          </a:p>
        </p:txBody>
      </p:sp>
      <p:sp>
        <p:nvSpPr>
          <p:cNvPr id="9" name="offline layer"/>
          <p:cNvSpPr/>
          <p:nvPr/>
        </p:nvSpPr>
        <p:spPr>
          <a:xfrm>
            <a:off x="2148840" y="1783080"/>
            <a:ext cx="6766560" cy="914400"/>
          </a:xfrm>
          <a:prstGeom prst="roundRect">
            <a:avLst>
              <a:gd name="adj" fmla="val 12000"/>
            </a:avLst>
          </a:prstGeom>
          <a:solidFill>
            <a:schemeClr val="bg2"/>
          </a:solidFill>
          <a:ln/>
        </p:spPr>
      </p:sp>
      <p:sp>
        <p:nvSpPr>
          <p:cNvPr id="10" name="Cpu badge"/>
          <p:cNvSpPr/>
          <p:nvPr/>
        </p:nvSpPr>
        <p:spPr>
          <a:xfrm>
            <a:off x="2331720" y="1947672"/>
            <a:ext cx="585216" cy="585216"/>
          </a:xfrm>
          <a:prstGeom prst="ellipse">
            <a:avLst/>
          </a:prstGeom>
          <a:solidFill>
            <a:schemeClr val="bg1"/>
          </a:solidFill>
          <a:ln/>
        </p:spPr>
      </p:sp>
      <p:pic>
        <p:nvPicPr>
          <p:cNvPr id="11" name="Image 1" descr="preencoded.png">    </p:cNvPr>
          <p:cNvPicPr>
            <a:picLocks noChangeAspect="1"/>
          </p:cNvPicPr>
          <p:nvPr/>
        </p:nvPicPr>
        <p:blipFill>
          <a:blip r:embed="rId2"/>
          <a:stretch>
            <a:fillRect/>
          </a:stretch>
        </p:blipFill>
        <p:spPr>
          <a:xfrm>
            <a:off x="2478024" y="2093976"/>
            <a:ext cx="292608" cy="292608"/>
          </a:xfrm>
          <a:prstGeom prst="rect">
            <a:avLst/>
          </a:prstGeom>
        </p:spPr>
      </p:pic>
      <p:sp>
        <p:nvSpPr>
          <p:cNvPr id="12" name="Text 7"/>
          <p:cNvSpPr txBox="1"/>
          <p:nvPr/>
        </p:nvSpPr>
        <p:spPr>
          <a:xfrm>
            <a:off x="3090672" y="1847088"/>
            <a:ext cx="5715000" cy="786384"/>
          </a:xfrm>
          <a:prstGeom prst="rect">
            <a:avLst/>
          </a:prstGeom>
          <a:noFill/>
          <a:ln/>
        </p:spPr>
        <p:txBody>
          <a:bodyPr wrap="square" lIns="0" tIns="0" rIns="0" bIns="0" rtlCol="0" anchor="ctr"/>
          <a:lstStyle/>
          <a:p>
            <a:pPr indent="0" marL="0">
              <a:buNone/>
            </a:pPr>
            <a:r>
              <a:rPr lang="en-US" sz="1500" b="1" dirty="0">
                <a:solidFill>
                  <a:schemeClr val="tx1"/>
                </a:solidFill>
              </a:rPr>
              <a:t>Context-aware rules + small pattern model</a:t>
            </a:r>
            <a:endParaRPr lang="en-US" sz="1400" dirty="0"/>
          </a:p>
          <a:p>
            <a:pPr indent="0" marL="0">
              <a:buNone/>
            </a:pPr>
            <a:r>
              <a:rPr lang="en-US" sz="1200" dirty="0">
                <a:solidFill>
                  <a:schemeClr val="accent6"/>
                </a:solidFill>
              </a:rPr>
              <a:t>Checks the wording without internet. Nothing is sent. Can raise Potential or Strong.</a:t>
            </a:r>
            <a:endParaRPr lang="en-US" sz="1400" dirty="0"/>
          </a:p>
        </p:txBody>
      </p:sp>
      <p:sp>
        <p:nvSpPr>
          <p:cNvPr id="13" name="Text 8"/>
          <p:cNvSpPr txBox="1"/>
          <p:nvPr/>
        </p:nvSpPr>
        <p:spPr>
          <a:xfrm>
            <a:off x="2148840" y="2990088"/>
            <a:ext cx="676656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ONLINE · ONLY WITH YOUR PERMISSION</a:t>
            </a:r>
            <a:endParaRPr lang="en-US" sz="1100" dirty="0"/>
          </a:p>
        </p:txBody>
      </p:sp>
      <p:sp>
        <p:nvSpPr>
          <p:cNvPr id="14" name="ai step 1"/>
          <p:cNvSpPr/>
          <p:nvPr/>
        </p:nvSpPr>
        <p:spPr>
          <a:xfrm>
            <a:off x="2148840" y="3310128"/>
            <a:ext cx="1207008" cy="1307592"/>
          </a:xfrm>
          <a:prstGeom prst="roundRect">
            <a:avLst>
              <a:gd name="adj" fmla="val 9091"/>
            </a:avLst>
          </a:prstGeom>
          <a:solidFill>
            <a:schemeClr val="bg1"/>
          </a:solidFill>
          <a:ln w="12700">
            <a:solidFill>
              <a:srgbClr val="D9D3F5"/>
            </a:solidFill>
            <a:prstDash val="solid"/>
          </a:ln>
        </p:spPr>
      </p:sp>
      <p:pic>
        <p:nvPicPr>
          <p:cNvPr id="15" name="Image 2" descr="preencoded.png">    </p:cNvPr>
          <p:cNvPicPr>
            <a:picLocks noChangeAspect="1"/>
          </p:cNvPicPr>
          <p:nvPr/>
        </p:nvPicPr>
        <p:blipFill>
          <a:blip r:embed="rId3"/>
          <a:stretch>
            <a:fillRect/>
          </a:stretch>
        </p:blipFill>
        <p:spPr>
          <a:xfrm>
            <a:off x="2578608" y="3429000"/>
            <a:ext cx="347472" cy="347472"/>
          </a:xfrm>
          <a:prstGeom prst="rect">
            <a:avLst/>
          </a:prstGeom>
        </p:spPr>
      </p:pic>
      <p:sp>
        <p:nvSpPr>
          <p:cNvPr id="16" name="Text 10"/>
          <p:cNvSpPr txBox="1"/>
          <p:nvPr/>
        </p:nvSpPr>
        <p:spPr>
          <a:xfrm>
            <a:off x="2221992" y="3840480"/>
            <a:ext cx="1060704" cy="731520"/>
          </a:xfrm>
          <a:prstGeom prst="rect">
            <a:avLst/>
          </a:prstGeom>
          <a:noFill/>
          <a:ln/>
        </p:spPr>
        <p:txBody>
          <a:bodyPr wrap="square" lIns="0" tIns="0" rIns="0" bIns="0" rtlCol="0" anchor="t"/>
          <a:lstStyle/>
          <a:p>
            <a:pPr algn="ctr" indent="0" marL="0">
              <a:buNone/>
            </a:pPr>
            <a:r>
              <a:rPr lang="en-US" sz="1150" b="1" dirty="0">
                <a:solidFill>
                  <a:schemeClr val="tx1"/>
                </a:solidFill>
              </a:rPr>
              <a:t>Mask personal details</a:t>
            </a:r>
            <a:endParaRPr lang="en-US" sz="1150" dirty="0"/>
          </a:p>
        </p:txBody>
      </p:sp>
      <p:sp>
        <p:nvSpPr>
          <p:cNvPr id="17" name="Shape 11"/>
          <p:cNvSpPr/>
          <p:nvPr/>
        </p:nvSpPr>
        <p:spPr>
          <a:xfrm>
            <a:off x="3374136" y="3959352"/>
            <a:ext cx="146304" cy="91"/>
          </a:xfrm>
          <a:prstGeom prst="line">
            <a:avLst/>
          </a:prstGeom>
          <a:noFill/>
          <a:ln w="22225">
            <a:solidFill>
              <a:schemeClr val="accent1"/>
            </a:solidFill>
            <a:prstDash val="solid"/>
            <a:tailEnd type="triangle"/>
          </a:ln>
        </p:spPr>
      </p:sp>
      <p:sp>
        <p:nvSpPr>
          <p:cNvPr id="18" name="ai step 2"/>
          <p:cNvSpPr/>
          <p:nvPr/>
        </p:nvSpPr>
        <p:spPr>
          <a:xfrm>
            <a:off x="3538728" y="3310128"/>
            <a:ext cx="1207008" cy="1307592"/>
          </a:xfrm>
          <a:prstGeom prst="roundRect">
            <a:avLst>
              <a:gd name="adj" fmla="val 9091"/>
            </a:avLst>
          </a:prstGeom>
          <a:solidFill>
            <a:schemeClr val="bg1"/>
          </a:solidFill>
          <a:ln w="12700">
            <a:solidFill>
              <a:srgbClr val="D9D3F5"/>
            </a:solidFill>
            <a:prstDash val="solid"/>
          </a:ln>
        </p:spPr>
      </p:sp>
      <p:pic>
        <p:nvPicPr>
          <p:cNvPr id="19" name="Image 3" descr="preencoded.png">    </p:cNvPr>
          <p:cNvPicPr>
            <a:picLocks noChangeAspect="1"/>
          </p:cNvPicPr>
          <p:nvPr/>
        </p:nvPicPr>
        <p:blipFill>
          <a:blip r:embed="rId4"/>
          <a:stretch>
            <a:fillRect/>
          </a:stretch>
        </p:blipFill>
        <p:spPr>
          <a:xfrm>
            <a:off x="3968496" y="3429000"/>
            <a:ext cx="347472" cy="347472"/>
          </a:xfrm>
          <a:prstGeom prst="rect">
            <a:avLst/>
          </a:prstGeom>
        </p:spPr>
      </p:pic>
      <p:sp>
        <p:nvSpPr>
          <p:cNvPr id="20" name="Text 13"/>
          <p:cNvSpPr txBox="1"/>
          <p:nvPr/>
        </p:nvSpPr>
        <p:spPr>
          <a:xfrm>
            <a:off x="3611880" y="3840480"/>
            <a:ext cx="1060704" cy="731520"/>
          </a:xfrm>
          <a:prstGeom prst="rect">
            <a:avLst/>
          </a:prstGeom>
          <a:noFill/>
          <a:ln/>
        </p:spPr>
        <p:txBody>
          <a:bodyPr wrap="square" lIns="0" tIns="0" rIns="0" bIns="0" rtlCol="0" anchor="t"/>
          <a:lstStyle/>
          <a:p>
            <a:pPr algn="ctr" indent="0" marL="0">
              <a:buNone/>
            </a:pPr>
            <a:r>
              <a:rPr lang="en-US" sz="1150" b="1" dirty="0">
                <a:solidFill>
                  <a:schemeClr val="tx1"/>
                </a:solidFill>
              </a:rPr>
              <a:t>RAG: SEBI, RBI and government guidance</a:t>
            </a:r>
            <a:endParaRPr lang="en-US" sz="1150" dirty="0"/>
          </a:p>
        </p:txBody>
      </p:sp>
      <p:sp>
        <p:nvSpPr>
          <p:cNvPr id="21" name="Shape 14"/>
          <p:cNvSpPr/>
          <p:nvPr/>
        </p:nvSpPr>
        <p:spPr>
          <a:xfrm>
            <a:off x="4764024" y="3959352"/>
            <a:ext cx="146304" cy="91"/>
          </a:xfrm>
          <a:prstGeom prst="line">
            <a:avLst/>
          </a:prstGeom>
          <a:noFill/>
          <a:ln w="22225">
            <a:solidFill>
              <a:schemeClr val="accent1"/>
            </a:solidFill>
            <a:prstDash val="solid"/>
            <a:tailEnd type="triangle"/>
          </a:ln>
        </p:spPr>
      </p:sp>
      <p:sp>
        <p:nvSpPr>
          <p:cNvPr id="22" name="ai step 3"/>
          <p:cNvSpPr/>
          <p:nvPr/>
        </p:nvSpPr>
        <p:spPr>
          <a:xfrm>
            <a:off x="4928616" y="3310128"/>
            <a:ext cx="1207008" cy="1307592"/>
          </a:xfrm>
          <a:prstGeom prst="roundRect">
            <a:avLst>
              <a:gd name="adj" fmla="val 9091"/>
            </a:avLst>
          </a:prstGeom>
          <a:solidFill>
            <a:schemeClr val="bg1"/>
          </a:solidFill>
          <a:ln w="12700">
            <a:solidFill>
              <a:srgbClr val="D9D3F5"/>
            </a:solidFill>
            <a:prstDash val="solid"/>
          </a:ln>
        </p:spPr>
      </p:sp>
      <p:pic>
        <p:nvPicPr>
          <p:cNvPr id="23" name="Image 4" descr="preencoded.png">    </p:cNvPr>
          <p:cNvPicPr>
            <a:picLocks noChangeAspect="1"/>
          </p:cNvPicPr>
          <p:nvPr/>
        </p:nvPicPr>
        <p:blipFill>
          <a:blip r:embed="rId5"/>
          <a:stretch>
            <a:fillRect/>
          </a:stretch>
        </p:blipFill>
        <p:spPr>
          <a:xfrm>
            <a:off x="5358384" y="3429000"/>
            <a:ext cx="347472" cy="347472"/>
          </a:xfrm>
          <a:prstGeom prst="rect">
            <a:avLst/>
          </a:prstGeom>
        </p:spPr>
      </p:pic>
      <p:sp>
        <p:nvSpPr>
          <p:cNvPr id="24" name="Text 16"/>
          <p:cNvSpPr txBox="1"/>
          <p:nvPr/>
        </p:nvSpPr>
        <p:spPr>
          <a:xfrm>
            <a:off x="5001768" y="3840480"/>
            <a:ext cx="1060704" cy="731520"/>
          </a:xfrm>
          <a:prstGeom prst="rect">
            <a:avLst/>
          </a:prstGeom>
          <a:noFill/>
          <a:ln/>
        </p:spPr>
        <p:txBody>
          <a:bodyPr wrap="square" lIns="0" tIns="0" rIns="0" bIns="0" rtlCol="0" anchor="t"/>
          <a:lstStyle/>
          <a:p>
            <a:pPr algn="ctr" indent="0" marL="0">
              <a:buNone/>
            </a:pPr>
            <a:r>
              <a:rPr lang="en-US" sz="1150" b="1" dirty="0">
                <a:solidFill>
                  <a:schemeClr val="tx1"/>
                </a:solidFill>
              </a:rPr>
              <a:t>Gemini 3.5 Flash-Lite reads the context</a:t>
            </a:r>
            <a:endParaRPr lang="en-US" sz="1150" dirty="0"/>
          </a:p>
        </p:txBody>
      </p:sp>
      <p:sp>
        <p:nvSpPr>
          <p:cNvPr id="25" name="Shape 17"/>
          <p:cNvSpPr/>
          <p:nvPr/>
        </p:nvSpPr>
        <p:spPr>
          <a:xfrm>
            <a:off x="6153912" y="3959352"/>
            <a:ext cx="146304" cy="91"/>
          </a:xfrm>
          <a:prstGeom prst="line">
            <a:avLst/>
          </a:prstGeom>
          <a:noFill/>
          <a:ln w="22225">
            <a:solidFill>
              <a:schemeClr val="accent1"/>
            </a:solidFill>
            <a:prstDash val="solid"/>
            <a:tailEnd type="triangle"/>
          </a:ln>
        </p:spPr>
      </p:sp>
      <p:sp>
        <p:nvSpPr>
          <p:cNvPr id="26" name="ai step 4"/>
          <p:cNvSpPr/>
          <p:nvPr/>
        </p:nvSpPr>
        <p:spPr>
          <a:xfrm>
            <a:off x="6318504" y="3310128"/>
            <a:ext cx="1207008" cy="1307592"/>
          </a:xfrm>
          <a:prstGeom prst="roundRect">
            <a:avLst>
              <a:gd name="adj" fmla="val 9091"/>
            </a:avLst>
          </a:prstGeom>
          <a:solidFill>
            <a:schemeClr val="bg1"/>
          </a:solidFill>
          <a:ln w="12700">
            <a:solidFill>
              <a:srgbClr val="D9D3F5"/>
            </a:solidFill>
            <a:prstDash val="solid"/>
          </a:ln>
        </p:spPr>
      </p:sp>
      <p:pic>
        <p:nvPicPr>
          <p:cNvPr id="27" name="Image 5" descr="preencoded.png">    </p:cNvPr>
          <p:cNvPicPr>
            <a:picLocks noChangeAspect="1"/>
          </p:cNvPicPr>
          <p:nvPr/>
        </p:nvPicPr>
        <p:blipFill>
          <a:blip r:embed="rId6"/>
          <a:stretch>
            <a:fillRect/>
          </a:stretch>
        </p:blipFill>
        <p:spPr>
          <a:xfrm>
            <a:off x="6748272" y="3429000"/>
            <a:ext cx="347472" cy="347472"/>
          </a:xfrm>
          <a:prstGeom prst="rect">
            <a:avLst/>
          </a:prstGeom>
        </p:spPr>
      </p:pic>
      <p:sp>
        <p:nvSpPr>
          <p:cNvPr id="28" name="Text 19"/>
          <p:cNvSpPr txBox="1"/>
          <p:nvPr/>
        </p:nvSpPr>
        <p:spPr>
          <a:xfrm>
            <a:off x="6391656" y="3840480"/>
            <a:ext cx="1060704" cy="731520"/>
          </a:xfrm>
          <a:prstGeom prst="rect">
            <a:avLst/>
          </a:prstGeom>
          <a:noFill/>
          <a:ln/>
        </p:spPr>
        <p:txBody>
          <a:bodyPr wrap="square" lIns="0" tIns="0" rIns="0" bIns="0" rtlCol="0" anchor="t"/>
          <a:lstStyle/>
          <a:p>
            <a:pPr algn="ctr" indent="0" marL="0">
              <a:buNone/>
            </a:pPr>
            <a:r>
              <a:rPr lang="en-US" sz="1150" b="1" dirty="0">
                <a:solidFill>
                  <a:schemeClr val="tx1"/>
                </a:solidFill>
              </a:rPr>
              <a:t>Exact quote and guidance check</a:t>
            </a:r>
            <a:endParaRPr lang="en-US" sz="1150" dirty="0"/>
          </a:p>
        </p:txBody>
      </p:sp>
      <p:sp>
        <p:nvSpPr>
          <p:cNvPr id="29" name="Shape 20"/>
          <p:cNvSpPr/>
          <p:nvPr/>
        </p:nvSpPr>
        <p:spPr>
          <a:xfrm>
            <a:off x="7543800" y="3959352"/>
            <a:ext cx="146304" cy="91"/>
          </a:xfrm>
          <a:prstGeom prst="line">
            <a:avLst/>
          </a:prstGeom>
          <a:noFill/>
          <a:ln w="22225">
            <a:solidFill>
              <a:schemeClr val="accent1"/>
            </a:solidFill>
            <a:prstDash val="solid"/>
            <a:tailEnd type="triangle"/>
          </a:ln>
        </p:spPr>
      </p:sp>
      <p:sp>
        <p:nvSpPr>
          <p:cNvPr id="30" name="ai step 5"/>
          <p:cNvSpPr/>
          <p:nvPr/>
        </p:nvSpPr>
        <p:spPr>
          <a:xfrm>
            <a:off x="7708392" y="3310128"/>
            <a:ext cx="1207008" cy="1307592"/>
          </a:xfrm>
          <a:prstGeom prst="roundRect">
            <a:avLst>
              <a:gd name="adj" fmla="val 9091"/>
            </a:avLst>
          </a:prstGeom>
          <a:solidFill>
            <a:schemeClr val="bg1"/>
          </a:solidFill>
          <a:ln w="12700">
            <a:solidFill>
              <a:srgbClr val="D9D3F5"/>
            </a:solidFill>
            <a:prstDash val="solid"/>
          </a:ln>
        </p:spPr>
      </p:sp>
      <p:pic>
        <p:nvPicPr>
          <p:cNvPr id="31" name="Image 6" descr="preencoded.png">    </p:cNvPr>
          <p:cNvPicPr>
            <a:picLocks noChangeAspect="1"/>
          </p:cNvPicPr>
          <p:nvPr/>
        </p:nvPicPr>
        <p:blipFill>
          <a:blip r:embed="rId7"/>
          <a:stretch>
            <a:fillRect/>
          </a:stretch>
        </p:blipFill>
        <p:spPr>
          <a:xfrm>
            <a:off x="8138160" y="3429000"/>
            <a:ext cx="347472" cy="347472"/>
          </a:xfrm>
          <a:prstGeom prst="rect">
            <a:avLst/>
          </a:prstGeom>
        </p:spPr>
      </p:pic>
      <p:sp>
        <p:nvSpPr>
          <p:cNvPr id="32" name="Text 22"/>
          <p:cNvSpPr txBox="1"/>
          <p:nvPr/>
        </p:nvSpPr>
        <p:spPr>
          <a:xfrm>
            <a:off x="7781544" y="3840480"/>
            <a:ext cx="1060704" cy="731520"/>
          </a:xfrm>
          <a:prstGeom prst="rect">
            <a:avLst/>
          </a:prstGeom>
          <a:noFill/>
          <a:ln/>
        </p:spPr>
        <p:txBody>
          <a:bodyPr wrap="square" lIns="0" tIns="0" rIns="0" bIns="0" rtlCol="0" anchor="t"/>
          <a:lstStyle/>
          <a:p>
            <a:pPr algn="ctr" indent="0" marL="0">
              <a:buNone/>
            </a:pPr>
            <a:r>
              <a:rPr lang="en-US" sz="1150" b="1" dirty="0">
                <a:solidFill>
                  <a:schemeClr val="tx1"/>
                </a:solidFill>
              </a:rPr>
              <a:t>Second pass confirms or withdraws</a:t>
            </a:r>
            <a:endParaRPr lang="en-US" sz="1150" dirty="0"/>
          </a:p>
        </p:txBody>
      </p:sp>
      <p:sp>
        <p:nvSpPr>
          <p:cNvPr id="33" name="result box"/>
          <p:cNvSpPr/>
          <p:nvPr/>
        </p:nvSpPr>
        <p:spPr>
          <a:xfrm>
            <a:off x="9235440" y="1783080"/>
            <a:ext cx="2423160" cy="2834640"/>
          </a:xfrm>
          <a:prstGeom prst="roundRect">
            <a:avLst>
              <a:gd name="adj" fmla="val 4528"/>
            </a:avLst>
          </a:prstGeom>
          <a:solidFill>
            <a:schemeClr val="tx2"/>
          </a:solidFill>
          <a:ln/>
          <a:effectLst>
            <a:outerShdw sx="100000" sy="100000" kx="0" ky="0" algn="bl" rotWithShape="0" blurRad="127000" dist="38100" dir="5400000">
              <a:srgbClr val="241949">
                <a:alpha val="12000"/>
              </a:srgbClr>
            </a:outerShdw>
          </a:effectLst>
        </p:spPr>
      </p:sp>
      <p:sp>
        <p:nvSpPr>
          <p:cNvPr id="34" name="Text 24"/>
          <p:cNvSpPr txBox="1"/>
          <p:nvPr/>
        </p:nvSpPr>
        <p:spPr>
          <a:xfrm>
            <a:off x="9418320" y="1920240"/>
            <a:ext cx="2103120" cy="2560320"/>
          </a:xfrm>
          <a:prstGeom prst="rect">
            <a:avLst/>
          </a:prstGeom>
          <a:noFill/>
          <a:ln/>
        </p:spPr>
        <p:txBody>
          <a:bodyPr wrap="square" lIns="0" tIns="0" rIns="0" bIns="0" rtlCol="0" anchor="ctr"/>
          <a:lstStyle/>
          <a:p>
            <a:pPr indent="0" marL="0">
              <a:spcAft>
                <a:spcPts val="400"/>
              </a:spcAft>
              <a:buNone/>
            </a:pPr>
            <a:r>
              <a:rPr lang="en-US" sz="1600" b="1" dirty="0">
                <a:solidFill>
                  <a:schemeClr val="bg1"/>
                </a:solidFill>
              </a:rPr>
              <a:t>Result you see</a:t>
            </a:r>
            <a:endParaRPr lang="en-US" sz="1400" dirty="0"/>
          </a:p>
          <a:p>
            <a:pPr indent="0" marL="0">
              <a:spcAft>
                <a:spcPts val="1200"/>
              </a:spcAft>
              <a:buNone/>
            </a:pPr>
            <a:r>
              <a:rPr lang="en-US" sz="1200" dirty="0">
                <a:solidFill>
                  <a:srgbClr val="C9C2F2"/>
                </a:solidFill>
              </a:rPr>
              <a:t>Potential · Strong · Not enough evidence</a:t>
            </a:r>
            <a:endParaRPr lang="en-US" sz="1400" dirty="0"/>
          </a:p>
          <a:p>
            <a:pPr indent="0" marL="0">
              <a:spcAft>
                <a:spcPts val="600"/>
              </a:spcAft>
              <a:buNone/>
            </a:pPr>
            <a:r>
              <a:rPr lang="en-US" sz="1200" dirty="0">
                <a:solidFill>
                  <a:schemeClr val="bg1"/>
                </a:solidFill>
              </a:rPr>
              <a:t>Strong results cannot be withdrawn.</a:t>
            </a:r>
            <a:endParaRPr lang="en-US" sz="1400" dirty="0"/>
          </a:p>
          <a:p>
            <a:pPr indent="0" marL="0">
              <a:buNone/>
            </a:pPr>
            <a:r>
              <a:rPr lang="en-US" sz="1200" dirty="0">
                <a:solidFill>
                  <a:schemeClr val="bg1"/>
                </a:solidFill>
              </a:rPr>
              <a:t>If the AI is unavailable, the offline result stands.</a:t>
            </a:r>
            <a:endParaRPr lang="en-US" sz="1400" dirty="0"/>
          </a:p>
        </p:txBody>
      </p:sp>
      <p:sp>
        <p:nvSpPr>
          <p:cNvPr id="35" name="Shape 25"/>
          <p:cNvSpPr/>
          <p:nvPr/>
        </p:nvSpPr>
        <p:spPr>
          <a:xfrm>
            <a:off x="1892808" y="2240280"/>
            <a:ext cx="237744" cy="91"/>
          </a:xfrm>
          <a:prstGeom prst="line">
            <a:avLst/>
          </a:prstGeom>
          <a:noFill/>
          <a:ln w="22225">
            <a:solidFill>
              <a:schemeClr val="accent1"/>
            </a:solidFill>
            <a:prstDash val="solid"/>
            <a:tailEnd type="triangle"/>
          </a:ln>
        </p:spPr>
      </p:sp>
      <p:sp>
        <p:nvSpPr>
          <p:cNvPr id="36" name="Shape 26"/>
          <p:cNvSpPr/>
          <p:nvPr/>
        </p:nvSpPr>
        <p:spPr>
          <a:xfrm>
            <a:off x="1892808" y="3959352"/>
            <a:ext cx="237744" cy="91"/>
          </a:xfrm>
          <a:prstGeom prst="line">
            <a:avLst/>
          </a:prstGeom>
          <a:noFill/>
          <a:ln w="22225">
            <a:solidFill>
              <a:schemeClr val="accent1"/>
            </a:solidFill>
            <a:prstDash val="solid"/>
            <a:tailEnd type="triangle"/>
          </a:ln>
        </p:spPr>
      </p:sp>
      <p:sp>
        <p:nvSpPr>
          <p:cNvPr id="37" name="Shape 27"/>
          <p:cNvSpPr/>
          <p:nvPr/>
        </p:nvSpPr>
        <p:spPr>
          <a:xfrm>
            <a:off x="8933688" y="2240280"/>
            <a:ext cx="283464" cy="91"/>
          </a:xfrm>
          <a:prstGeom prst="line">
            <a:avLst/>
          </a:prstGeom>
          <a:noFill/>
          <a:ln w="22225">
            <a:solidFill>
              <a:schemeClr val="accent1"/>
            </a:solidFill>
            <a:prstDash val="solid"/>
            <a:tailEnd type="triangle"/>
          </a:ln>
        </p:spPr>
      </p:sp>
      <p:sp>
        <p:nvSpPr>
          <p:cNvPr id="38" name="Shape 28"/>
          <p:cNvSpPr/>
          <p:nvPr/>
        </p:nvSpPr>
        <p:spPr>
          <a:xfrm>
            <a:off x="8933688" y="3959352"/>
            <a:ext cx="283464" cy="91"/>
          </a:xfrm>
          <a:prstGeom prst="line">
            <a:avLst/>
          </a:prstGeom>
          <a:noFill/>
          <a:ln w="22225">
            <a:solidFill>
              <a:schemeClr val="accent1"/>
            </a:solidFill>
            <a:prstDash val="solid"/>
            <a:tailEnd type="triangle"/>
          </a:ln>
        </p:spPr>
      </p:sp>
      <p:sp>
        <p:nvSpPr>
          <p:cNvPr id="39" name="why 1"/>
          <p:cNvSpPr/>
          <p:nvPr/>
        </p:nvSpPr>
        <p:spPr>
          <a:xfrm>
            <a:off x="548640" y="4919472"/>
            <a:ext cx="3584448" cy="1261872"/>
          </a:xfrm>
          <a:prstGeom prst="roundRect">
            <a:avLst>
              <a:gd name="adj" fmla="val 8696"/>
            </a:avLst>
          </a:prstGeom>
          <a:solidFill>
            <a:schemeClr val="bg2"/>
          </a:solidFill>
          <a:ln/>
        </p:spPr>
      </p:sp>
      <p:sp>
        <p:nvSpPr>
          <p:cNvPr id="40" name="WifiOff badge"/>
          <p:cNvSpPr/>
          <p:nvPr/>
        </p:nvSpPr>
        <p:spPr>
          <a:xfrm>
            <a:off x="731520" y="5074920"/>
            <a:ext cx="512064" cy="512064"/>
          </a:xfrm>
          <a:prstGeom prst="ellipse">
            <a:avLst/>
          </a:prstGeom>
          <a:solidFill>
            <a:schemeClr val="bg1"/>
          </a:solidFill>
          <a:ln/>
        </p:spPr>
      </p:sp>
      <p:pic>
        <p:nvPicPr>
          <p:cNvPr id="41" name="Image 7" descr="preencoded.png">    </p:cNvPr>
          <p:cNvPicPr>
            <a:picLocks noChangeAspect="1"/>
          </p:cNvPicPr>
          <p:nvPr/>
        </p:nvPicPr>
        <p:blipFill>
          <a:blip r:embed="rId8"/>
          <a:stretch>
            <a:fillRect/>
          </a:stretch>
        </p:blipFill>
        <p:spPr>
          <a:xfrm>
            <a:off x="859536" y="5202936"/>
            <a:ext cx="256032" cy="256032"/>
          </a:xfrm>
          <a:prstGeom prst="rect">
            <a:avLst/>
          </a:prstGeom>
        </p:spPr>
      </p:pic>
      <p:sp>
        <p:nvSpPr>
          <p:cNvPr id="42" name="Text 31"/>
          <p:cNvSpPr txBox="1"/>
          <p:nvPr/>
        </p:nvSpPr>
        <p:spPr>
          <a:xfrm>
            <a:off x="1389888" y="4992624"/>
            <a:ext cx="2651760" cy="1133856"/>
          </a:xfrm>
          <a:prstGeom prst="rect">
            <a:avLst/>
          </a:prstGeom>
          <a:noFill/>
          <a:ln/>
        </p:spPr>
        <p:txBody>
          <a:bodyPr wrap="square" lIns="0" tIns="0" rIns="0" bIns="0" rtlCol="0" anchor="ctr"/>
          <a:lstStyle/>
          <a:p>
            <a:pPr indent="0" marL="0">
              <a:buNone/>
            </a:pPr>
            <a:r>
              <a:rPr lang="en-US" sz="1400" b="1" dirty="0">
                <a:solidFill>
                  <a:schemeClr val="tx1"/>
                </a:solidFill>
              </a:rPr>
              <a:t>Offline gives access</a:t>
            </a:r>
            <a:endParaRPr lang="en-US" sz="1400" dirty="0"/>
          </a:p>
          <a:p>
            <a:pPr indent="0" marL="0">
              <a:buNone/>
            </a:pPr>
            <a:r>
              <a:rPr lang="en-US" sz="1200" dirty="0">
                <a:solidFill>
                  <a:schemeClr val="accent6"/>
                </a:solidFill>
              </a:rPr>
              <a:t>After a verified sign-in, the downloaded app checks without internet and keeps the message on the device.</a:t>
            </a:r>
            <a:endParaRPr lang="en-US" sz="1400" dirty="0"/>
          </a:p>
        </p:txBody>
      </p:sp>
      <p:sp>
        <p:nvSpPr>
          <p:cNvPr id="43" name="why 2"/>
          <p:cNvSpPr/>
          <p:nvPr/>
        </p:nvSpPr>
        <p:spPr>
          <a:xfrm>
            <a:off x="4279392" y="4919472"/>
            <a:ext cx="3584448" cy="1261872"/>
          </a:xfrm>
          <a:prstGeom prst="roundRect">
            <a:avLst>
              <a:gd name="adj" fmla="val 8696"/>
            </a:avLst>
          </a:prstGeom>
          <a:solidFill>
            <a:schemeClr val="bg2"/>
          </a:solidFill>
          <a:ln/>
        </p:spPr>
      </p:sp>
      <p:sp>
        <p:nvSpPr>
          <p:cNvPr id="44" name="Sparkles badge"/>
          <p:cNvSpPr/>
          <p:nvPr/>
        </p:nvSpPr>
        <p:spPr>
          <a:xfrm>
            <a:off x="4462272" y="5074920"/>
            <a:ext cx="512064" cy="512064"/>
          </a:xfrm>
          <a:prstGeom prst="ellipse">
            <a:avLst/>
          </a:prstGeom>
          <a:solidFill>
            <a:schemeClr val="bg1"/>
          </a:solidFill>
          <a:ln/>
        </p:spPr>
      </p:sp>
      <p:pic>
        <p:nvPicPr>
          <p:cNvPr id="45" name="Image 8" descr="preencoded.png">    </p:cNvPr>
          <p:cNvPicPr>
            <a:picLocks noChangeAspect="1"/>
          </p:cNvPicPr>
          <p:nvPr/>
        </p:nvPicPr>
        <p:blipFill>
          <a:blip r:embed="rId9"/>
          <a:stretch>
            <a:fillRect/>
          </a:stretch>
        </p:blipFill>
        <p:spPr>
          <a:xfrm>
            <a:off x="4590288" y="5202936"/>
            <a:ext cx="256032" cy="256032"/>
          </a:xfrm>
          <a:prstGeom prst="rect">
            <a:avLst/>
          </a:prstGeom>
        </p:spPr>
      </p:pic>
      <p:sp>
        <p:nvSpPr>
          <p:cNvPr id="46" name="Text 34"/>
          <p:cNvSpPr txBox="1"/>
          <p:nvPr/>
        </p:nvSpPr>
        <p:spPr>
          <a:xfrm>
            <a:off x="5120640" y="4992624"/>
            <a:ext cx="2651760" cy="1133856"/>
          </a:xfrm>
          <a:prstGeom prst="rect">
            <a:avLst/>
          </a:prstGeom>
          <a:noFill/>
          <a:ln/>
        </p:spPr>
        <p:txBody>
          <a:bodyPr wrap="square" lIns="0" tIns="0" rIns="0" bIns="0" rtlCol="0" anchor="ctr"/>
          <a:lstStyle/>
          <a:p>
            <a:pPr indent="0" marL="0">
              <a:buNone/>
            </a:pPr>
            <a:r>
              <a:rPr lang="en-US" sz="1400" b="1" dirty="0">
                <a:solidFill>
                  <a:schemeClr val="tx1"/>
                </a:solidFill>
              </a:rPr>
              <a:t>AI adds context</a:t>
            </a:r>
            <a:endParaRPr lang="en-US" sz="1400" dirty="0"/>
          </a:p>
          <a:p>
            <a:pPr indent="0" marL="0">
              <a:buNone/>
            </a:pPr>
            <a:r>
              <a:rPr lang="en-US" sz="1200" dirty="0">
                <a:solidFill>
                  <a:schemeClr val="accent6"/>
                </a:solidFill>
              </a:rPr>
              <a:t>In testing it cleared all 8 offline false alarms; 74 of 75 risky messages were flagged.</a:t>
            </a:r>
            <a:endParaRPr lang="en-US" sz="1400" dirty="0"/>
          </a:p>
        </p:txBody>
      </p:sp>
      <p:sp>
        <p:nvSpPr>
          <p:cNvPr id="47" name="why 3"/>
          <p:cNvSpPr/>
          <p:nvPr/>
        </p:nvSpPr>
        <p:spPr>
          <a:xfrm>
            <a:off x="8010144" y="4919472"/>
            <a:ext cx="3584448" cy="1261872"/>
          </a:xfrm>
          <a:prstGeom prst="roundRect">
            <a:avLst>
              <a:gd name="adj" fmla="val 8696"/>
            </a:avLst>
          </a:prstGeom>
          <a:solidFill>
            <a:schemeClr val="bg2"/>
          </a:solidFill>
          <a:ln/>
        </p:spPr>
      </p:sp>
      <p:sp>
        <p:nvSpPr>
          <p:cNvPr id="48" name="Code2 badge"/>
          <p:cNvSpPr/>
          <p:nvPr/>
        </p:nvSpPr>
        <p:spPr>
          <a:xfrm>
            <a:off x="8193024" y="5074920"/>
            <a:ext cx="512064" cy="512064"/>
          </a:xfrm>
          <a:prstGeom prst="ellipse">
            <a:avLst/>
          </a:prstGeom>
          <a:solidFill>
            <a:schemeClr val="bg1"/>
          </a:solidFill>
          <a:ln/>
        </p:spPr>
      </p:sp>
      <p:pic>
        <p:nvPicPr>
          <p:cNvPr id="49" name="Image 9" descr="preencoded.png">    </p:cNvPr>
          <p:cNvPicPr>
            <a:picLocks noChangeAspect="1"/>
          </p:cNvPicPr>
          <p:nvPr/>
        </p:nvPicPr>
        <p:blipFill>
          <a:blip r:embed="rId10"/>
          <a:stretch>
            <a:fillRect/>
          </a:stretch>
        </p:blipFill>
        <p:spPr>
          <a:xfrm>
            <a:off x="8321040" y="5202936"/>
            <a:ext cx="256032" cy="256032"/>
          </a:xfrm>
          <a:prstGeom prst="rect">
            <a:avLst/>
          </a:prstGeom>
        </p:spPr>
      </p:pic>
      <p:sp>
        <p:nvSpPr>
          <p:cNvPr id="50" name="Text 37"/>
          <p:cNvSpPr txBox="1"/>
          <p:nvPr/>
        </p:nvSpPr>
        <p:spPr>
          <a:xfrm>
            <a:off x="8851392" y="4992624"/>
            <a:ext cx="2651760" cy="1133856"/>
          </a:xfrm>
          <a:prstGeom prst="rect">
            <a:avLst/>
          </a:prstGeom>
          <a:noFill/>
          <a:ln/>
        </p:spPr>
        <p:txBody>
          <a:bodyPr wrap="square" lIns="0" tIns="0" rIns="0" bIns="0" rtlCol="0" anchor="ctr"/>
          <a:lstStyle/>
          <a:p>
            <a:pPr indent="0" marL="0">
              <a:buNone/>
            </a:pPr>
            <a:r>
              <a:rPr lang="en-US" sz="1400" b="1" dirty="0">
                <a:solidFill>
                  <a:schemeClr val="tx1"/>
                </a:solidFill>
              </a:rPr>
              <a:t>Built with</a:t>
            </a:r>
            <a:endParaRPr lang="en-US" sz="1400" dirty="0"/>
          </a:p>
          <a:p>
            <a:pPr indent="0" marL="0">
              <a:buNone/>
            </a:pPr>
            <a:r>
              <a:rPr lang="en-US" sz="1100" dirty="0">
                <a:solidFill>
                  <a:schemeClr val="accent6"/>
                </a:solidFill>
              </a:rPr>
              <a:t>React + Vite web app · Capacitor Android app · Express API on Vercel · Supabase sign-in · Gemini API · 22 curated guidance cards</a:t>
            </a:r>
            <a:endParaRPr lang="en-US" sz="1400" dirty="0"/>
          </a:p>
        </p:txBody>
      </p:sp>
      <p:sp>
        <p:nvSpPr>
          <p:cNvPr id="25" name="Slide Number Placeholder 0"/>
          <p:cNvSpPr>
            <a:spLocks noGrp="1"/>
          </p:cNvSpPr>
          <p:nvPr>
            <p:ph type="sldNum" sz="quarter" idx="4294967295"/>
          </p:nvPr>
        </p:nvSpPr>
        <p:spPr>
          <a:xfrm>
            <a:off x="11091672" y="642823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68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8229600" cy="274320"/>
          </a:xfrm>
          <a:prstGeom prst="rect">
            <a:avLst/>
          </a:prstGeom>
          <a:noFill/>
          <a:ln/>
        </p:spPr>
        <p:txBody>
          <a:bodyPr wrap="square" lIns="0" tIns="0" rIns="0" bIns="0" rtlCol="0" anchor="ctr"/>
          <a:lstStyle/>
          <a:p>
            <a:pPr algn="l" indent="0" marL="0">
              <a:buNone/>
            </a:pPr>
            <a:r>
              <a:rPr lang="en-US" sz="1200" b="1" spc="150" kern="0" dirty="0">
                <a:solidFill>
                  <a:srgbClr val="6955E8"/>
                </a:solidFill>
              </a:rPr>
              <a:t>09   LEARNING</a:t>
            </a:r>
            <a:endParaRPr lang="en-US" sz="1200" dirty="0"/>
          </a:p>
        </p:txBody>
      </p:sp>
      <p:sp>
        <p:nvSpPr>
          <p:cNvPr id="3" name="Text 2"/>
          <p:cNvSpPr/>
          <p:nvPr>
            <p:ph idx="103" type="title" hasCustomPrompt="1"/>
          </p:nvPr>
        </p:nvSpPr>
        <p:spPr>
          <a:xfrm>
            <a:off x="548640" y="658368"/>
            <a:ext cx="11064240" cy="603504"/>
          </a:xfrm>
          <a:prstGeom prst="rect">
            <a:avLst/>
          </a:prstGeom>
          <a:noFill/>
          <a:ln/>
        </p:spPr>
        <p:txBody>
          <a:bodyPr wrap="square" lIns="0" tIns="0" rIns="0" bIns="0" rtlCol="0" anchor="t"/>
          <a:lstStyle/>
          <a:p>
            <a:pPr algn="l" indent="0" marL="0">
              <a:buNone/>
            </a:pPr>
            <a:r>
              <a:rPr lang="en-US" sz="3000" b="1" dirty="0">
                <a:solidFill>
                  <a:srgbClr val="1E1B2E"/>
                </a:solidFill>
              </a:rPr>
              <a:t>Learning through consequences</a:t>
            </a:r>
            <a:endParaRPr lang="en-US" sz="3000" dirty="0"/>
          </a:p>
        </p:txBody>
      </p:sp>
      <p:sp>
        <p:nvSpPr>
          <p:cNvPr id="5" name="learning stat 1"/>
          <p:cNvSpPr/>
          <p:nvPr/>
        </p:nvSpPr>
        <p:spPr>
          <a:xfrm>
            <a:off x="548640" y="1371600"/>
            <a:ext cx="3429000" cy="1463040"/>
          </a:xfrm>
          <a:prstGeom prst="roundRect">
            <a:avLst>
              <a:gd name="adj" fmla="val 7500"/>
            </a:avLst>
          </a:prstGeom>
          <a:solidFill>
            <a:schemeClr val="bg2"/>
          </a:solidFill>
          <a:ln/>
        </p:spPr>
      </p:sp>
      <p:sp>
        <p:nvSpPr>
          <p:cNvPr id="6" name="Text 3"/>
          <p:cNvSpPr txBox="1"/>
          <p:nvPr/>
        </p:nvSpPr>
        <p:spPr>
          <a:xfrm>
            <a:off x="749808" y="1444752"/>
            <a:ext cx="3108960" cy="603504"/>
          </a:xfrm>
          <a:prstGeom prst="rect">
            <a:avLst/>
          </a:prstGeom>
          <a:noFill/>
          <a:ln/>
        </p:spPr>
        <p:txBody>
          <a:bodyPr wrap="square" lIns="0" tIns="0" rIns="0" bIns="0" rtlCol="0" anchor="ctr"/>
          <a:lstStyle/>
          <a:p>
            <a:pPr indent="0" marL="0">
              <a:buNone/>
            </a:pPr>
            <a:r>
              <a:rPr lang="en-US" sz="3800" b="1" dirty="0">
                <a:solidFill>
                  <a:schemeClr val="accent1"/>
                </a:solidFill>
              </a:rPr>
              <a:t>15</a:t>
            </a:r>
            <a:pPr indent="0" marL="0">
              <a:buNone/>
            </a:pPr>
            <a:r>
              <a:rPr lang="en-US" sz="1700" b="1" dirty="0">
                <a:solidFill>
                  <a:schemeClr val="tx1"/>
                </a:solidFill>
              </a:rPr>
              <a:t>  lessons</a:t>
            </a:r>
            <a:endParaRPr lang="en-US" sz="1400" dirty="0"/>
          </a:p>
        </p:txBody>
      </p:sp>
      <p:sp>
        <p:nvSpPr>
          <p:cNvPr id="7" name="Text 4"/>
          <p:cNvSpPr txBox="1"/>
          <p:nvPr/>
        </p:nvSpPr>
        <p:spPr>
          <a:xfrm>
            <a:off x="749808" y="2066544"/>
            <a:ext cx="3108960" cy="713232"/>
          </a:xfrm>
          <a:prstGeom prst="rect">
            <a:avLst/>
          </a:prstGeom>
          <a:noFill/>
          <a:ln/>
        </p:spPr>
        <p:txBody>
          <a:bodyPr wrap="square" lIns="0" tIns="0" rIns="0" bIns="0" rtlCol="0" anchor="t"/>
          <a:lstStyle/>
          <a:p>
            <a:pPr indent="0" marL="0">
              <a:buNone/>
            </a:pPr>
            <a:r>
              <a:rPr lang="en-US" sz="1200" dirty="0">
                <a:solidFill>
                  <a:schemeClr val="accent6"/>
                </a:solidFill>
              </a:rPr>
              <a:t>7 money terms (NAV, risk, diversification, volatility, compounding, fees, nomination) and 8 scam lessons</a:t>
            </a:r>
            <a:endParaRPr lang="en-US" sz="1200" dirty="0"/>
          </a:p>
        </p:txBody>
      </p:sp>
      <p:sp>
        <p:nvSpPr>
          <p:cNvPr id="8" name="learning stat 2"/>
          <p:cNvSpPr/>
          <p:nvPr/>
        </p:nvSpPr>
        <p:spPr>
          <a:xfrm>
            <a:off x="548640" y="2971800"/>
            <a:ext cx="3429000" cy="1463040"/>
          </a:xfrm>
          <a:prstGeom prst="roundRect">
            <a:avLst>
              <a:gd name="adj" fmla="val 7500"/>
            </a:avLst>
          </a:prstGeom>
          <a:solidFill>
            <a:schemeClr val="bg2"/>
          </a:solidFill>
          <a:ln/>
        </p:spPr>
      </p:sp>
      <p:sp>
        <p:nvSpPr>
          <p:cNvPr id="9" name="Text 6"/>
          <p:cNvSpPr txBox="1"/>
          <p:nvPr/>
        </p:nvSpPr>
        <p:spPr>
          <a:xfrm>
            <a:off x="749808" y="3044952"/>
            <a:ext cx="3108960" cy="603504"/>
          </a:xfrm>
          <a:prstGeom prst="rect">
            <a:avLst/>
          </a:prstGeom>
          <a:noFill/>
          <a:ln/>
        </p:spPr>
        <p:txBody>
          <a:bodyPr wrap="square" lIns="0" tIns="0" rIns="0" bIns="0" rtlCol="0" anchor="ctr"/>
          <a:lstStyle/>
          <a:p>
            <a:pPr indent="0" marL="0">
              <a:buNone/>
            </a:pPr>
            <a:r>
              <a:rPr lang="en-US" sz="3800" b="1" dirty="0">
                <a:solidFill>
                  <a:schemeClr val="accent1"/>
                </a:solidFill>
              </a:rPr>
              <a:t>4</a:t>
            </a:r>
            <a:pPr indent="0" marL="0">
              <a:buNone/>
            </a:pPr>
            <a:r>
              <a:rPr lang="en-US" sz="1700" b="1" dirty="0">
                <a:solidFill>
                  <a:schemeClr val="tx1"/>
                </a:solidFill>
              </a:rPr>
              <a:t>  chat stories</a:t>
            </a:r>
            <a:endParaRPr lang="en-US" sz="1400" dirty="0"/>
          </a:p>
        </p:txBody>
      </p:sp>
      <p:sp>
        <p:nvSpPr>
          <p:cNvPr id="10" name="Text 7"/>
          <p:cNvSpPr txBox="1"/>
          <p:nvPr/>
        </p:nvSpPr>
        <p:spPr>
          <a:xfrm>
            <a:off x="749808" y="3666744"/>
            <a:ext cx="3108960" cy="713232"/>
          </a:xfrm>
          <a:prstGeom prst="rect">
            <a:avLst/>
          </a:prstGeom>
          <a:noFill/>
          <a:ln/>
        </p:spPr>
        <p:txBody>
          <a:bodyPr wrap="square" lIns="0" tIns="0" rIns="0" bIns="0" rtlCol="0" anchor="t"/>
          <a:lstStyle/>
          <a:p>
            <a:pPr indent="0" marL="0">
              <a:buNone/>
            </a:pPr>
            <a:r>
              <a:rPr lang="en-US" sz="1200" dirty="0">
                <a:solidFill>
                  <a:schemeClr val="accent6"/>
                </a:solidFill>
              </a:rPr>
              <a:t>Fictional chats that reveal pressure tactics through your choices</a:t>
            </a:r>
            <a:endParaRPr lang="en-US" sz="1200" dirty="0"/>
          </a:p>
        </p:txBody>
      </p:sp>
      <p:sp>
        <p:nvSpPr>
          <p:cNvPr id="11" name="learning stat 3"/>
          <p:cNvSpPr/>
          <p:nvPr/>
        </p:nvSpPr>
        <p:spPr>
          <a:xfrm>
            <a:off x="548640" y="4572000"/>
            <a:ext cx="3429000" cy="1463040"/>
          </a:xfrm>
          <a:prstGeom prst="roundRect">
            <a:avLst>
              <a:gd name="adj" fmla="val 7500"/>
            </a:avLst>
          </a:prstGeom>
          <a:solidFill>
            <a:schemeClr val="bg2"/>
          </a:solidFill>
          <a:ln/>
        </p:spPr>
      </p:sp>
      <p:sp>
        <p:nvSpPr>
          <p:cNvPr id="12" name="Text 9"/>
          <p:cNvSpPr txBox="1"/>
          <p:nvPr/>
        </p:nvSpPr>
        <p:spPr>
          <a:xfrm>
            <a:off x="749808" y="4645152"/>
            <a:ext cx="3108960" cy="603504"/>
          </a:xfrm>
          <a:prstGeom prst="rect">
            <a:avLst/>
          </a:prstGeom>
          <a:noFill/>
          <a:ln/>
        </p:spPr>
        <p:txBody>
          <a:bodyPr wrap="square" lIns="0" tIns="0" rIns="0" bIns="0" rtlCol="0" anchor="ctr"/>
          <a:lstStyle/>
          <a:p>
            <a:pPr indent="0" marL="0">
              <a:buNone/>
            </a:pPr>
            <a:r>
              <a:rPr lang="en-US" sz="3800" b="1" dirty="0">
                <a:solidFill>
                  <a:schemeClr val="accent1"/>
                </a:solidFill>
              </a:rPr>
              <a:t>3</a:t>
            </a:r>
            <a:pPr indent="0" marL="0">
              <a:buNone/>
            </a:pPr>
            <a:r>
              <a:rPr lang="en-US" sz="1700" b="1" dirty="0">
                <a:solidFill>
                  <a:schemeClr val="tx1"/>
                </a:solidFill>
              </a:rPr>
              <a:t>  money scenarios</a:t>
            </a:r>
            <a:endParaRPr lang="en-US" sz="1400" dirty="0"/>
          </a:p>
        </p:txBody>
      </p:sp>
      <p:sp>
        <p:nvSpPr>
          <p:cNvPr id="13" name="Text 10"/>
          <p:cNvSpPr txBox="1"/>
          <p:nvPr/>
        </p:nvSpPr>
        <p:spPr>
          <a:xfrm>
            <a:off x="749808" y="5266944"/>
            <a:ext cx="3108960" cy="713232"/>
          </a:xfrm>
          <a:prstGeom prst="rect">
            <a:avLst/>
          </a:prstGeom>
          <a:noFill/>
          <a:ln/>
        </p:spPr>
        <p:txBody>
          <a:bodyPr wrap="square" lIns="0" tIns="0" rIns="0" bIns="0" rtlCol="0" anchor="t"/>
          <a:lstStyle/>
          <a:p>
            <a:pPr indent="0" marL="0">
              <a:buNone/>
            </a:pPr>
            <a:r>
              <a:rPr lang="en-US" sz="1200" dirty="0">
                <a:solidFill>
                  <a:schemeClr val="accent6"/>
                </a:solidFill>
              </a:rPr>
              <a:t>A sudden dip, an uneven journey and borrowing, with fictional tokens</a:t>
            </a:r>
            <a:endParaRPr lang="en-US" sz="1200" dirty="0"/>
          </a:p>
        </p:txBody>
      </p:sp>
      <p:pic>
        <p:nvPicPr>
          <p:cNvPr id="14" name="Image 0" descr="Task-job chat story: a small reward first, then a deposit demand">    </p:cNvPr>
          <p:cNvPicPr>
            <a:picLocks noChangeAspect="1"/>
          </p:cNvPicPr>
          <p:nvPr/>
        </p:nvPicPr>
        <p:blipFill>
          <a:blip r:embed="rId1"/>
          <a:stretch>
            <a:fillRect/>
          </a:stretch>
        </p:blipFill>
        <p:spPr>
          <a:xfrm>
            <a:off x="4114800" y="1325880"/>
            <a:ext cx="3931920" cy="3175782"/>
          </a:xfrm>
          <a:prstGeom prst="rect">
            <a:avLst/>
          </a:prstGeom>
        </p:spPr>
      </p:pic>
      <p:sp>
        <p:nvSpPr>
          <p:cNvPr id="15" name="Text 11"/>
          <p:cNvSpPr txBox="1"/>
          <p:nvPr/>
        </p:nvSpPr>
        <p:spPr>
          <a:xfrm>
            <a:off x="4343400" y="4572000"/>
            <a:ext cx="3520440" cy="548640"/>
          </a:xfrm>
          <a:prstGeom prst="rect">
            <a:avLst/>
          </a:prstGeom>
          <a:noFill/>
          <a:ln/>
        </p:spPr>
        <p:txBody>
          <a:bodyPr wrap="square" lIns="0" tIns="0" rIns="0" bIns="0" rtlCol="0" anchor="t"/>
          <a:lstStyle/>
          <a:p>
            <a:pPr indent="0" marL="0">
              <a:buNone/>
            </a:pPr>
            <a:r>
              <a:rPr lang="en-US" sz="1250" b="1" dirty="0">
                <a:solidFill>
                  <a:schemeClr val="tx1"/>
                </a:solidFill>
              </a:rPr>
              <a:t>Task-job story: </a:t>
            </a:r>
            <a:pPr indent="0" marL="0">
              <a:buNone/>
            </a:pPr>
            <a:r>
              <a:rPr lang="en-US" sz="1250" dirty="0">
                <a:solidFill>
                  <a:schemeClr val="accent6"/>
                </a:solidFill>
              </a:rPr>
              <a:t>a small reward builds trust before the deposit demand.</a:t>
            </a:r>
            <a:endParaRPr lang="en-US" sz="1250" dirty="0"/>
          </a:p>
        </p:txBody>
      </p:sp>
      <p:sp>
        <p:nvSpPr>
          <p:cNvPr id="16" name="Text 12"/>
          <p:cNvSpPr txBox="1"/>
          <p:nvPr/>
        </p:nvSpPr>
        <p:spPr>
          <a:xfrm>
            <a:off x="8229600" y="1417320"/>
            <a:ext cx="3474720" cy="548640"/>
          </a:xfrm>
          <a:prstGeom prst="rect">
            <a:avLst/>
          </a:prstGeom>
          <a:noFill/>
          <a:ln/>
        </p:spPr>
        <p:txBody>
          <a:bodyPr wrap="square" lIns="0" tIns="0" rIns="0" bIns="0" rtlCol="0" anchor="t"/>
          <a:lstStyle/>
          <a:p>
            <a:pPr indent="0" marL="0">
              <a:buNone/>
            </a:pPr>
            <a:r>
              <a:rPr lang="en-US" sz="1500" b="1" dirty="0">
                <a:solidFill>
                  <a:schemeClr val="tx1"/>
                </a:solidFill>
              </a:rPr>
              <a:t>A 20% fall needs a 25% rise to recover</a:t>
            </a:r>
            <a:endParaRPr lang="en-US" sz="1500" dirty="0"/>
          </a:p>
        </p:txBody>
      </p:sp>
      <p:sp>
        <p:nvSpPr>
          <p:cNvPr id="17" name="Tokens: Start Fictional tokens 10,000"/>
          <p:cNvSpPr/>
          <p:nvPr/>
        </p:nvSpPr>
        <p:spPr>
          <a:xfrm>
            <a:off x="8446770" y="2304288"/>
            <a:ext cx="708660" cy="2313432"/>
          </a:xfrm>
          <a:prstGeom prst="rect">
            <a:avLst/>
          </a:prstGeom>
          <a:solidFill>
            <a:srgbClr val="6955E8"/>
          </a:solidFill>
          <a:ln/>
        </p:spPr>
      </p:sp>
      <p:sp>
        <p:nvSpPr>
          <p:cNvPr id="18" name="Text 14"/>
          <p:cNvSpPr txBox="1"/>
          <p:nvPr/>
        </p:nvSpPr>
        <p:spPr>
          <a:xfrm>
            <a:off x="8218170" y="2020824"/>
            <a:ext cx="1165860" cy="256032"/>
          </a:xfrm>
          <a:prstGeom prst="rect">
            <a:avLst/>
          </a:prstGeom>
          <a:noFill/>
          <a:ln/>
        </p:spPr>
        <p:txBody>
          <a:bodyPr wrap="square" lIns="0" tIns="0" rIns="0" bIns="0" rtlCol="0" anchor="b"/>
          <a:lstStyle/>
          <a:p>
            <a:pPr algn="ctr" indent="0" marL="0">
              <a:buNone/>
            </a:pPr>
            <a:r>
              <a:rPr lang="en-US" sz="1300" b="1" dirty="0">
                <a:solidFill>
                  <a:schemeClr val="tx1"/>
                </a:solidFill>
              </a:rPr>
              <a:t>10,000</a:t>
            </a:r>
            <a:endParaRPr lang="en-US" sz="1300" dirty="0"/>
          </a:p>
        </p:txBody>
      </p:sp>
      <p:sp>
        <p:nvSpPr>
          <p:cNvPr id="19" name="Text 15"/>
          <p:cNvSpPr txBox="1"/>
          <p:nvPr/>
        </p:nvSpPr>
        <p:spPr>
          <a:xfrm>
            <a:off x="8229600" y="4681728"/>
            <a:ext cx="1143000" cy="347472"/>
          </a:xfrm>
          <a:prstGeom prst="rect">
            <a:avLst/>
          </a:prstGeom>
          <a:noFill/>
          <a:ln/>
        </p:spPr>
        <p:txBody>
          <a:bodyPr wrap="square" lIns="0" tIns="0" rIns="0" bIns="0" rtlCol="0" anchor="t"/>
          <a:lstStyle/>
          <a:p>
            <a:pPr algn="ctr" indent="0" marL="0">
              <a:buNone/>
            </a:pPr>
            <a:r>
              <a:rPr lang="en-US" sz="1100" dirty="0">
                <a:solidFill>
                  <a:schemeClr val="tx1"/>
                </a:solidFill>
              </a:rPr>
              <a:t>Start</a:t>
            </a:r>
            <a:endParaRPr lang="en-US" sz="1100" dirty="0"/>
          </a:p>
        </p:txBody>
      </p:sp>
      <p:sp>
        <p:nvSpPr>
          <p:cNvPr id="20" name="Tokens: After a 20% fall Fictional tokens 8,000"/>
          <p:cNvSpPr/>
          <p:nvPr/>
        </p:nvSpPr>
        <p:spPr>
          <a:xfrm>
            <a:off x="9589770" y="2766974"/>
            <a:ext cx="708660" cy="1850746"/>
          </a:xfrm>
          <a:prstGeom prst="rect">
            <a:avLst/>
          </a:prstGeom>
          <a:solidFill>
            <a:srgbClr val="D98A1C"/>
          </a:solidFill>
          <a:ln/>
        </p:spPr>
      </p:sp>
      <p:sp>
        <p:nvSpPr>
          <p:cNvPr id="21" name="Text 17"/>
          <p:cNvSpPr txBox="1"/>
          <p:nvPr/>
        </p:nvSpPr>
        <p:spPr>
          <a:xfrm>
            <a:off x="9361170" y="2483510"/>
            <a:ext cx="1165860" cy="256032"/>
          </a:xfrm>
          <a:prstGeom prst="rect">
            <a:avLst/>
          </a:prstGeom>
          <a:noFill/>
          <a:ln/>
        </p:spPr>
        <p:txBody>
          <a:bodyPr wrap="square" lIns="0" tIns="0" rIns="0" bIns="0" rtlCol="0" anchor="b"/>
          <a:lstStyle/>
          <a:p>
            <a:pPr algn="ctr" indent="0" marL="0">
              <a:buNone/>
            </a:pPr>
            <a:r>
              <a:rPr lang="en-US" sz="1300" b="1" dirty="0">
                <a:solidFill>
                  <a:schemeClr val="tx1"/>
                </a:solidFill>
              </a:rPr>
              <a:t>8,000</a:t>
            </a:r>
            <a:endParaRPr lang="en-US" sz="1300" dirty="0"/>
          </a:p>
        </p:txBody>
      </p:sp>
      <p:sp>
        <p:nvSpPr>
          <p:cNvPr id="22" name="Text 18"/>
          <p:cNvSpPr txBox="1"/>
          <p:nvPr/>
        </p:nvSpPr>
        <p:spPr>
          <a:xfrm>
            <a:off x="9372600" y="4681728"/>
            <a:ext cx="1143000" cy="347472"/>
          </a:xfrm>
          <a:prstGeom prst="rect">
            <a:avLst/>
          </a:prstGeom>
          <a:noFill/>
          <a:ln/>
        </p:spPr>
        <p:txBody>
          <a:bodyPr wrap="square" lIns="0" tIns="0" rIns="0" bIns="0" rtlCol="0" anchor="t"/>
          <a:lstStyle/>
          <a:p>
            <a:pPr algn="ctr" indent="0" marL="0">
              <a:buNone/>
            </a:pPr>
            <a:r>
              <a:rPr lang="en-US" sz="1100" dirty="0">
                <a:solidFill>
                  <a:schemeClr val="tx1"/>
                </a:solidFill>
              </a:rPr>
              <a:t>After a 20% fall</a:t>
            </a:r>
            <a:endParaRPr lang="en-US" sz="1100" dirty="0"/>
          </a:p>
        </p:txBody>
      </p:sp>
      <p:sp>
        <p:nvSpPr>
          <p:cNvPr id="23" name="Tokens: Back to start Fictional tokens 10,000"/>
          <p:cNvSpPr/>
          <p:nvPr/>
        </p:nvSpPr>
        <p:spPr>
          <a:xfrm>
            <a:off x="10732770" y="2304288"/>
            <a:ext cx="708660" cy="2313432"/>
          </a:xfrm>
          <a:prstGeom prst="rect">
            <a:avLst/>
          </a:prstGeom>
          <a:solidFill>
            <a:srgbClr val="1E9A6E"/>
          </a:solidFill>
          <a:ln/>
        </p:spPr>
      </p:sp>
      <p:sp>
        <p:nvSpPr>
          <p:cNvPr id="24" name="Text 20"/>
          <p:cNvSpPr txBox="1"/>
          <p:nvPr/>
        </p:nvSpPr>
        <p:spPr>
          <a:xfrm>
            <a:off x="10504170" y="2020824"/>
            <a:ext cx="1165860" cy="256032"/>
          </a:xfrm>
          <a:prstGeom prst="rect">
            <a:avLst/>
          </a:prstGeom>
          <a:noFill/>
          <a:ln/>
        </p:spPr>
        <p:txBody>
          <a:bodyPr wrap="square" lIns="0" tIns="0" rIns="0" bIns="0" rtlCol="0" anchor="b"/>
          <a:lstStyle/>
          <a:p>
            <a:pPr algn="ctr" indent="0" marL="0">
              <a:buNone/>
            </a:pPr>
            <a:r>
              <a:rPr lang="en-US" sz="1300" b="1" dirty="0">
                <a:solidFill>
                  <a:schemeClr val="tx1"/>
                </a:solidFill>
              </a:rPr>
              <a:t>10,000</a:t>
            </a:r>
            <a:endParaRPr lang="en-US" sz="1300" dirty="0"/>
          </a:p>
        </p:txBody>
      </p:sp>
      <p:sp>
        <p:nvSpPr>
          <p:cNvPr id="25" name="Text 21"/>
          <p:cNvSpPr txBox="1"/>
          <p:nvPr/>
        </p:nvSpPr>
        <p:spPr>
          <a:xfrm>
            <a:off x="10515600" y="4681728"/>
            <a:ext cx="1143000" cy="347472"/>
          </a:xfrm>
          <a:prstGeom prst="rect">
            <a:avLst/>
          </a:prstGeom>
          <a:noFill/>
          <a:ln/>
        </p:spPr>
        <p:txBody>
          <a:bodyPr wrap="square" lIns="0" tIns="0" rIns="0" bIns="0" rtlCol="0" anchor="t"/>
          <a:lstStyle/>
          <a:p>
            <a:pPr algn="ctr" indent="0" marL="0">
              <a:buNone/>
            </a:pPr>
            <a:r>
              <a:rPr lang="en-US" sz="1100" dirty="0">
                <a:solidFill>
                  <a:schemeClr val="tx1"/>
                </a:solidFill>
              </a:rPr>
              <a:t>Back to start</a:t>
            </a:r>
            <a:endParaRPr lang="en-US" sz="1100" dirty="0"/>
          </a:p>
        </p:txBody>
      </p:sp>
      <p:sp>
        <p:nvSpPr>
          <p:cNvPr id="26" name="Shape 22"/>
          <p:cNvSpPr/>
          <p:nvPr/>
        </p:nvSpPr>
        <p:spPr>
          <a:xfrm>
            <a:off x="8229600" y="4617720"/>
            <a:ext cx="3429000" cy="0"/>
          </a:xfrm>
          <a:prstGeom prst="line">
            <a:avLst/>
          </a:prstGeom>
          <a:noFill/>
          <a:ln w="12700">
            <a:solidFill>
              <a:srgbClr val="CFC9EA"/>
            </a:solidFill>
            <a:prstDash val="solid"/>
          </a:ln>
        </p:spPr>
      </p:sp>
      <p:sp>
        <p:nvSpPr>
          <p:cNvPr id="27" name="chip −2,000 = −20%"/>
          <p:cNvSpPr/>
          <p:nvPr/>
        </p:nvSpPr>
        <p:spPr>
          <a:xfrm>
            <a:off x="8229600" y="5166360"/>
            <a:ext cx="1600200" cy="329184"/>
          </a:xfrm>
          <a:prstGeom prst="roundRect">
            <a:avLst>
              <a:gd name="adj" fmla="val 50000"/>
            </a:avLst>
          </a:prstGeom>
          <a:solidFill>
            <a:srgbClr val="FFF1DC"/>
          </a:solidFill>
          <a:ln/>
        </p:spPr>
      </p:sp>
      <p:sp>
        <p:nvSpPr>
          <p:cNvPr id="28" name="Text 24"/>
          <p:cNvSpPr txBox="1"/>
          <p:nvPr/>
        </p:nvSpPr>
        <p:spPr>
          <a:xfrm>
            <a:off x="8229600" y="5166360"/>
            <a:ext cx="1600200" cy="329184"/>
          </a:xfrm>
          <a:prstGeom prst="rect">
            <a:avLst/>
          </a:prstGeom>
          <a:noFill/>
          <a:ln/>
        </p:spPr>
        <p:txBody>
          <a:bodyPr wrap="square" lIns="0" tIns="0" rIns="0" bIns="0" rtlCol="0" anchor="ctr"/>
          <a:lstStyle/>
          <a:p>
            <a:pPr algn="ctr" indent="0" marL="0">
              <a:buNone/>
            </a:pPr>
            <a:r>
              <a:rPr lang="en-US" sz="1200" b="1" dirty="0">
                <a:solidFill>
                  <a:srgbClr val="8A5A12"/>
                </a:solidFill>
              </a:rPr>
              <a:t>−2,000 = −20%</a:t>
            </a:r>
            <a:endParaRPr lang="en-US" sz="1200" dirty="0"/>
          </a:p>
        </p:txBody>
      </p:sp>
      <p:sp>
        <p:nvSpPr>
          <p:cNvPr id="29" name="chip +2,000 = +25% of 8,000"/>
          <p:cNvSpPr/>
          <p:nvPr/>
        </p:nvSpPr>
        <p:spPr>
          <a:xfrm>
            <a:off x="9948672" y="5166360"/>
            <a:ext cx="1737360" cy="329184"/>
          </a:xfrm>
          <a:prstGeom prst="roundRect">
            <a:avLst>
              <a:gd name="adj" fmla="val 50000"/>
            </a:avLst>
          </a:prstGeom>
          <a:solidFill>
            <a:srgbClr val="E3F5EE"/>
          </a:solidFill>
          <a:ln/>
        </p:spPr>
      </p:sp>
      <p:sp>
        <p:nvSpPr>
          <p:cNvPr id="30" name="Text 26"/>
          <p:cNvSpPr txBox="1"/>
          <p:nvPr/>
        </p:nvSpPr>
        <p:spPr>
          <a:xfrm>
            <a:off x="9948672" y="5166360"/>
            <a:ext cx="1737360" cy="329184"/>
          </a:xfrm>
          <a:prstGeom prst="rect">
            <a:avLst/>
          </a:prstGeom>
          <a:noFill/>
          <a:ln/>
        </p:spPr>
        <p:txBody>
          <a:bodyPr wrap="square" lIns="0" tIns="0" rIns="0" bIns="0" rtlCol="0" anchor="ctr"/>
          <a:lstStyle/>
          <a:p>
            <a:pPr algn="ctr" indent="0" marL="0">
              <a:buNone/>
            </a:pPr>
            <a:r>
              <a:rPr lang="en-US" sz="1100" b="1" dirty="0">
                <a:solidFill>
                  <a:srgbClr val="16714F"/>
                </a:solidFill>
              </a:rPr>
              <a:t>+2,000 = +25% of 8,000</a:t>
            </a:r>
            <a:endParaRPr lang="en-US" sz="1100" dirty="0"/>
          </a:p>
        </p:txBody>
      </p:sp>
      <p:sp>
        <p:nvSpPr>
          <p:cNvPr id="31" name="Text 27"/>
          <p:cNvSpPr txBox="1"/>
          <p:nvPr/>
        </p:nvSpPr>
        <p:spPr>
          <a:xfrm>
            <a:off x="8229600" y="5577840"/>
            <a:ext cx="3474720" cy="274320"/>
          </a:xfrm>
          <a:prstGeom prst="rect">
            <a:avLst/>
          </a:prstGeom>
          <a:noFill/>
          <a:ln/>
        </p:spPr>
        <p:txBody>
          <a:bodyPr wrap="square" lIns="0" tIns="0" rIns="0" bIns="0" rtlCol="0" anchor="t"/>
          <a:lstStyle/>
          <a:p>
            <a:pPr indent="0" marL="0">
              <a:buNone/>
            </a:pPr>
            <a:r>
              <a:rPr lang="en-US" sz="1100" i="1" dirty="0">
                <a:solidFill>
                  <a:schemeClr val="accent6"/>
                </a:solidFill>
              </a:rPr>
              <a:t>Fictional tokens · zero-fee example · arithmetic, not a forecast.</a:t>
            </a:r>
            <a:endParaRPr lang="en-US" sz="1100" dirty="0"/>
          </a:p>
        </p:txBody>
      </p:sp>
      <p:sp>
        <p:nvSpPr>
          <p:cNvPr id="25" name="Slide Number Placeholder 0"/>
          <p:cNvSpPr>
            <a:spLocks noGrp="1"/>
          </p:cNvSpPr>
          <p:nvPr>
            <p:ph type="sldNum" sz="quarter" idx="4294967295"/>
          </p:nvPr>
        </p:nvSpPr>
        <p:spPr>
          <a:xfrm>
            <a:off x="11091672" y="642823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68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8229600" cy="274320"/>
          </a:xfrm>
          <a:prstGeom prst="rect">
            <a:avLst/>
          </a:prstGeom>
          <a:noFill/>
          <a:ln/>
        </p:spPr>
        <p:txBody>
          <a:bodyPr wrap="square" lIns="0" tIns="0" rIns="0" bIns="0" rtlCol="0" anchor="ctr"/>
          <a:lstStyle/>
          <a:p>
            <a:pPr algn="l" indent="0" marL="0">
              <a:buNone/>
            </a:pPr>
            <a:r>
              <a:rPr lang="en-US" sz="1200" b="1" spc="150" kern="0" dirty="0">
                <a:solidFill>
                  <a:srgbClr val="6955E8"/>
                </a:solidFill>
              </a:rPr>
              <a:t>10   PRIVACY AND ACCOUNTS</a:t>
            </a:r>
            <a:endParaRPr lang="en-US" sz="1200" dirty="0"/>
          </a:p>
        </p:txBody>
      </p:sp>
      <p:sp>
        <p:nvSpPr>
          <p:cNvPr id="3" name="Text 2"/>
          <p:cNvSpPr/>
          <p:nvPr>
            <p:ph idx="103" type="title" hasCustomPrompt="1"/>
          </p:nvPr>
        </p:nvSpPr>
        <p:spPr>
          <a:xfrm>
            <a:off x="548640" y="658368"/>
            <a:ext cx="11064240" cy="603504"/>
          </a:xfrm>
          <a:prstGeom prst="rect">
            <a:avLst/>
          </a:prstGeom>
          <a:noFill/>
          <a:ln/>
        </p:spPr>
        <p:txBody>
          <a:bodyPr wrap="square" lIns="0" tIns="0" rIns="0" bIns="0" rtlCol="0" anchor="t"/>
          <a:lstStyle/>
          <a:p>
            <a:pPr algn="l" indent="0" marL="0">
              <a:buNone/>
            </a:pPr>
            <a:r>
              <a:rPr lang="en-US" sz="3000" b="1" dirty="0">
                <a:solidFill>
                  <a:srgbClr val="1E1B2E"/>
                </a:solidFill>
              </a:rPr>
              <a:t>Private by default, open about trade-offs</a:t>
            </a:r>
            <a:endParaRPr lang="en-US" sz="3000" dirty="0"/>
          </a:p>
        </p:txBody>
      </p:sp>
      <p:pic>
        <p:nvPicPr>
          <p:cNvPr id="5" name="Image 0" descr="Sajag sign-up form with email, password and confirm password fields">    </p:cNvPr>
          <p:cNvPicPr>
            <a:picLocks noChangeAspect="1"/>
          </p:cNvPicPr>
          <p:nvPr/>
        </p:nvPicPr>
        <p:blipFill>
          <a:blip r:embed="rId1"/>
          <a:stretch>
            <a:fillRect/>
          </a:stretch>
        </p:blipFill>
        <p:spPr>
          <a:xfrm>
            <a:off x="384048" y="1298448"/>
            <a:ext cx="3611880" cy="4932474"/>
          </a:xfrm>
          <a:prstGeom prst="rect">
            <a:avLst/>
          </a:prstGeom>
        </p:spPr>
      </p:pic>
      <p:sp>
        <p:nvSpPr>
          <p:cNvPr id="6" name="Text 2"/>
          <p:cNvSpPr txBox="1"/>
          <p:nvPr/>
        </p:nvSpPr>
        <p:spPr>
          <a:xfrm>
            <a:off x="4251960" y="1371600"/>
            <a:ext cx="329184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ACCOUNT</a:t>
            </a:r>
            <a:endParaRPr lang="en-US" sz="1100" dirty="0"/>
          </a:p>
        </p:txBody>
      </p:sp>
      <p:sp>
        <p:nvSpPr>
          <p:cNvPr id="7" name="marker 1"/>
          <p:cNvSpPr/>
          <p:nvPr/>
        </p:nvSpPr>
        <p:spPr>
          <a:xfrm>
            <a:off x="4251960" y="1755648"/>
            <a:ext cx="384048" cy="384048"/>
          </a:xfrm>
          <a:prstGeom prst="ellipse">
            <a:avLst/>
          </a:prstGeom>
          <a:solidFill>
            <a:schemeClr val="accent1"/>
          </a:solidFill>
          <a:ln w="19050">
            <a:solidFill>
              <a:schemeClr val="bg1"/>
            </a:solidFill>
            <a:prstDash val="solid"/>
          </a:ln>
        </p:spPr>
      </p:sp>
      <p:sp>
        <p:nvSpPr>
          <p:cNvPr id="8" name="Text 4"/>
          <p:cNvSpPr txBox="1"/>
          <p:nvPr/>
        </p:nvSpPr>
        <p:spPr>
          <a:xfrm>
            <a:off x="4251960" y="17556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5"/>
          <p:cNvSpPr txBox="1"/>
          <p:nvPr/>
        </p:nvSpPr>
        <p:spPr>
          <a:xfrm>
            <a:off x="4773168" y="1737360"/>
            <a:ext cx="2834640" cy="960120"/>
          </a:xfrm>
          <a:prstGeom prst="rect">
            <a:avLst/>
          </a:prstGeom>
          <a:noFill/>
          <a:ln/>
        </p:spPr>
        <p:txBody>
          <a:bodyPr wrap="square" lIns="0" tIns="0" rIns="0" bIns="0" rtlCol="0" anchor="t"/>
          <a:lstStyle/>
          <a:p>
            <a:pPr indent="0" marL="0">
              <a:buNone/>
            </a:pPr>
            <a:r>
              <a:rPr lang="en-US" sz="1500" b="1" dirty="0">
                <a:solidFill>
                  <a:schemeClr val="tx1"/>
                </a:solidFill>
              </a:rPr>
              <a:t>Create an account</a:t>
            </a:r>
            <a:endParaRPr lang="en-US" sz="1400" dirty="0"/>
          </a:p>
          <a:p>
            <a:pPr indent="0" marL="0">
              <a:buNone/>
            </a:pPr>
            <a:r>
              <a:rPr lang="en-US" sz="1250" dirty="0">
                <a:solidFill>
                  <a:schemeClr val="accent6"/>
                </a:solidFill>
              </a:rPr>
              <a:t>Email, a password and its confirmation.</a:t>
            </a:r>
            <a:endParaRPr lang="en-US" sz="1400" dirty="0"/>
          </a:p>
        </p:txBody>
      </p:sp>
      <p:sp>
        <p:nvSpPr>
          <p:cNvPr id="10" name="marker 2"/>
          <p:cNvSpPr/>
          <p:nvPr/>
        </p:nvSpPr>
        <p:spPr>
          <a:xfrm>
            <a:off x="4251960" y="2852928"/>
            <a:ext cx="384048" cy="384048"/>
          </a:xfrm>
          <a:prstGeom prst="ellipse">
            <a:avLst/>
          </a:prstGeom>
          <a:solidFill>
            <a:schemeClr val="accent1"/>
          </a:solidFill>
          <a:ln w="19050">
            <a:solidFill>
              <a:schemeClr val="bg1"/>
            </a:solidFill>
            <a:prstDash val="solid"/>
          </a:ln>
        </p:spPr>
      </p:sp>
      <p:sp>
        <p:nvSpPr>
          <p:cNvPr id="11" name="Text 7"/>
          <p:cNvSpPr txBox="1"/>
          <p:nvPr/>
        </p:nvSpPr>
        <p:spPr>
          <a:xfrm>
            <a:off x="4251960" y="28529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8"/>
          <p:cNvSpPr txBox="1"/>
          <p:nvPr/>
        </p:nvSpPr>
        <p:spPr>
          <a:xfrm>
            <a:off x="4773168" y="2834640"/>
            <a:ext cx="2834640" cy="960120"/>
          </a:xfrm>
          <a:prstGeom prst="rect">
            <a:avLst/>
          </a:prstGeom>
          <a:noFill/>
          <a:ln/>
        </p:spPr>
        <p:txBody>
          <a:bodyPr wrap="square" lIns="0" tIns="0" rIns="0" bIns="0" rtlCol="0" anchor="t"/>
          <a:lstStyle/>
          <a:p>
            <a:pPr indent="0" marL="0">
              <a:buNone/>
            </a:pPr>
            <a:r>
              <a:rPr lang="en-US" sz="1500" b="1" dirty="0">
                <a:solidFill>
                  <a:schemeClr val="tx1"/>
                </a:solidFill>
              </a:rPr>
              <a:t>Verify the email once</a:t>
            </a:r>
            <a:endParaRPr lang="en-US" sz="1400" dirty="0"/>
          </a:p>
          <a:p>
            <a:pPr indent="0" marL="0">
              <a:buNone/>
            </a:pPr>
            <a:r>
              <a:rPr lang="en-US" sz="1250" dirty="0">
                <a:solidFill>
                  <a:schemeClr val="accent6"/>
                </a:solidFill>
              </a:rPr>
              <a:t>A one-time code confirms the address.</a:t>
            </a:r>
            <a:endParaRPr lang="en-US" sz="1400" dirty="0"/>
          </a:p>
        </p:txBody>
      </p:sp>
      <p:sp>
        <p:nvSpPr>
          <p:cNvPr id="13" name="marker 3"/>
          <p:cNvSpPr/>
          <p:nvPr/>
        </p:nvSpPr>
        <p:spPr>
          <a:xfrm>
            <a:off x="4251960" y="3950208"/>
            <a:ext cx="384048" cy="384048"/>
          </a:xfrm>
          <a:prstGeom prst="ellipse">
            <a:avLst/>
          </a:prstGeom>
          <a:solidFill>
            <a:schemeClr val="accent1"/>
          </a:solidFill>
          <a:ln w="19050">
            <a:solidFill>
              <a:schemeClr val="bg1"/>
            </a:solidFill>
            <a:prstDash val="solid"/>
          </a:ln>
        </p:spPr>
      </p:sp>
      <p:sp>
        <p:nvSpPr>
          <p:cNvPr id="14" name="Text 10"/>
          <p:cNvSpPr txBox="1"/>
          <p:nvPr/>
        </p:nvSpPr>
        <p:spPr>
          <a:xfrm>
            <a:off x="4251960" y="39502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1"/>
          <p:cNvSpPr txBox="1"/>
          <p:nvPr/>
        </p:nvSpPr>
        <p:spPr>
          <a:xfrm>
            <a:off x="4773168" y="3931920"/>
            <a:ext cx="2834640" cy="960120"/>
          </a:xfrm>
          <a:prstGeom prst="rect">
            <a:avLst/>
          </a:prstGeom>
          <a:noFill/>
          <a:ln/>
        </p:spPr>
        <p:txBody>
          <a:bodyPr wrap="square" lIns="0" tIns="0" rIns="0" bIns="0" rtlCol="0" anchor="t"/>
          <a:lstStyle/>
          <a:p>
            <a:pPr indent="0" marL="0">
              <a:buNone/>
            </a:pPr>
            <a:r>
              <a:rPr lang="en-US" sz="1500" b="1" dirty="0">
                <a:solidFill>
                  <a:schemeClr val="tx1"/>
                </a:solidFill>
              </a:rPr>
              <a:t>Sign in with the password</a:t>
            </a:r>
            <a:endParaRPr lang="en-US" sz="1400" dirty="0"/>
          </a:p>
          <a:p>
            <a:pPr indent="0" marL="0">
              <a:buNone/>
            </a:pPr>
            <a:r>
              <a:rPr lang="en-US" sz="1250" dirty="0">
                <a:solidFill>
                  <a:schemeClr val="accent6"/>
                </a:solidFill>
              </a:rPr>
              <a:t>No code on later visits; a verified reset is available.</a:t>
            </a:r>
            <a:endParaRPr lang="en-US" sz="1400" dirty="0"/>
          </a:p>
        </p:txBody>
      </p:sp>
      <p:sp>
        <p:nvSpPr>
          <p:cNvPr id="16" name="Text 12"/>
          <p:cNvSpPr txBox="1"/>
          <p:nvPr/>
        </p:nvSpPr>
        <p:spPr>
          <a:xfrm>
            <a:off x="8001000" y="1371600"/>
            <a:ext cx="329184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PRIVACY</a:t>
            </a:r>
            <a:endParaRPr lang="en-US" sz="1100" dirty="0"/>
          </a:p>
        </p:txBody>
      </p:sp>
      <p:sp>
        <p:nvSpPr>
          <p:cNvPr id="17" name="ShieldCheck badge"/>
          <p:cNvSpPr/>
          <p:nvPr/>
        </p:nvSpPr>
        <p:spPr>
          <a:xfrm>
            <a:off x="8001000" y="1719072"/>
            <a:ext cx="512064" cy="512064"/>
          </a:xfrm>
          <a:prstGeom prst="ellipse">
            <a:avLst/>
          </a:prstGeom>
          <a:solidFill>
            <a:schemeClr val="bg2"/>
          </a:solidFill>
          <a:ln/>
        </p:spPr>
      </p:sp>
      <p:pic>
        <p:nvPicPr>
          <p:cNvPr id="18" name="Image 1" descr="preencoded.png">    </p:cNvPr>
          <p:cNvPicPr>
            <a:picLocks noChangeAspect="1"/>
          </p:cNvPicPr>
          <p:nvPr/>
        </p:nvPicPr>
        <p:blipFill>
          <a:blip r:embed="rId2"/>
          <a:stretch>
            <a:fillRect/>
          </a:stretch>
        </p:blipFill>
        <p:spPr>
          <a:xfrm>
            <a:off x="8129016" y="1847088"/>
            <a:ext cx="256032" cy="256032"/>
          </a:xfrm>
          <a:prstGeom prst="rect">
            <a:avLst/>
          </a:prstGeom>
        </p:spPr>
      </p:pic>
      <p:sp>
        <p:nvSpPr>
          <p:cNvPr id="19" name="Text 14"/>
          <p:cNvSpPr txBox="1"/>
          <p:nvPr/>
        </p:nvSpPr>
        <p:spPr>
          <a:xfrm>
            <a:off x="8641080" y="1700784"/>
            <a:ext cx="3063240" cy="777240"/>
          </a:xfrm>
          <a:prstGeom prst="rect">
            <a:avLst/>
          </a:prstGeom>
          <a:noFill/>
          <a:ln/>
        </p:spPr>
        <p:txBody>
          <a:bodyPr wrap="square" lIns="0" tIns="0" rIns="0" bIns="0" rtlCol="0" anchor="t"/>
          <a:lstStyle/>
          <a:p>
            <a:pPr indent="0" marL="0">
              <a:buNone/>
            </a:pPr>
            <a:r>
              <a:rPr lang="en-US" sz="1400" b="1" dirty="0">
                <a:solidFill>
                  <a:schemeClr val="tx1"/>
                </a:solidFill>
              </a:rPr>
              <a:t>Permission before every AI check</a:t>
            </a:r>
            <a:endParaRPr lang="en-US" sz="1400" dirty="0"/>
          </a:p>
          <a:p>
            <a:pPr indent="0" marL="0">
              <a:buNone/>
            </a:pPr>
            <a:r>
              <a:rPr lang="en-US" sz="1200" dirty="0">
                <a:solidFill>
                  <a:schemeClr val="accent6"/>
                </a:solidFill>
              </a:rPr>
              <a:t>You see what will be shared first.</a:t>
            </a:r>
            <a:endParaRPr lang="en-US" sz="1400" dirty="0"/>
          </a:p>
        </p:txBody>
      </p:sp>
      <p:sp>
        <p:nvSpPr>
          <p:cNvPr id="20" name="EyeOff badge"/>
          <p:cNvSpPr/>
          <p:nvPr/>
        </p:nvSpPr>
        <p:spPr>
          <a:xfrm>
            <a:off x="8001000" y="2587752"/>
            <a:ext cx="512064" cy="512064"/>
          </a:xfrm>
          <a:prstGeom prst="ellipse">
            <a:avLst/>
          </a:prstGeom>
          <a:solidFill>
            <a:schemeClr val="bg2"/>
          </a:solidFill>
          <a:ln/>
        </p:spPr>
      </p:sp>
      <p:pic>
        <p:nvPicPr>
          <p:cNvPr id="21" name="Image 2" descr="preencoded.png">    </p:cNvPr>
          <p:cNvPicPr>
            <a:picLocks noChangeAspect="1"/>
          </p:cNvPicPr>
          <p:nvPr/>
        </p:nvPicPr>
        <p:blipFill>
          <a:blip r:embed="rId3"/>
          <a:stretch>
            <a:fillRect/>
          </a:stretch>
        </p:blipFill>
        <p:spPr>
          <a:xfrm>
            <a:off x="8129016" y="2715768"/>
            <a:ext cx="256032" cy="256032"/>
          </a:xfrm>
          <a:prstGeom prst="rect">
            <a:avLst/>
          </a:prstGeom>
        </p:spPr>
      </p:pic>
      <p:sp>
        <p:nvSpPr>
          <p:cNvPr id="22" name="Text 16"/>
          <p:cNvSpPr txBox="1"/>
          <p:nvPr/>
        </p:nvSpPr>
        <p:spPr>
          <a:xfrm>
            <a:off x="8641080" y="2569464"/>
            <a:ext cx="3063240" cy="777240"/>
          </a:xfrm>
          <a:prstGeom prst="rect">
            <a:avLst/>
          </a:prstGeom>
          <a:noFill/>
          <a:ln/>
        </p:spPr>
        <p:txBody>
          <a:bodyPr wrap="square" lIns="0" tIns="0" rIns="0" bIns="0" rtlCol="0" anchor="t"/>
          <a:lstStyle/>
          <a:p>
            <a:pPr indent="0" marL="0">
              <a:buNone/>
            </a:pPr>
            <a:r>
              <a:rPr lang="en-US" sz="1400" b="1" dirty="0">
                <a:solidFill>
                  <a:schemeClr val="tx1"/>
                </a:solidFill>
              </a:rPr>
              <a:t>Masked before it leaves</a:t>
            </a:r>
            <a:endParaRPr lang="en-US" sz="1400" dirty="0"/>
          </a:p>
          <a:p>
            <a:pPr indent="0" marL="0">
              <a:buNone/>
            </a:pPr>
            <a:r>
              <a:rPr lang="en-US" sz="1200" dirty="0">
                <a:solidFill>
                  <a:schemeClr val="accent6"/>
                </a:solidFill>
              </a:rPr>
              <a:t>Best-effort masking can miss details, so review the text first.</a:t>
            </a:r>
            <a:endParaRPr lang="en-US" sz="1400" dirty="0"/>
          </a:p>
        </p:txBody>
      </p:sp>
      <p:sp>
        <p:nvSpPr>
          <p:cNvPr id="23" name="Bookmark badge"/>
          <p:cNvSpPr/>
          <p:nvPr/>
        </p:nvSpPr>
        <p:spPr>
          <a:xfrm>
            <a:off x="8001000" y="3456432"/>
            <a:ext cx="512064" cy="512064"/>
          </a:xfrm>
          <a:prstGeom prst="ellipse">
            <a:avLst/>
          </a:prstGeom>
          <a:solidFill>
            <a:schemeClr val="bg2"/>
          </a:solidFill>
          <a:ln/>
        </p:spPr>
      </p:sp>
      <p:pic>
        <p:nvPicPr>
          <p:cNvPr id="24" name="Image 3" descr="preencoded.png">    </p:cNvPr>
          <p:cNvPicPr>
            <a:picLocks noChangeAspect="1"/>
          </p:cNvPicPr>
          <p:nvPr/>
        </p:nvPicPr>
        <p:blipFill>
          <a:blip r:embed="rId4"/>
          <a:stretch>
            <a:fillRect/>
          </a:stretch>
        </p:blipFill>
        <p:spPr>
          <a:xfrm>
            <a:off x="8129016" y="3584448"/>
            <a:ext cx="256032" cy="256032"/>
          </a:xfrm>
          <a:prstGeom prst="rect">
            <a:avLst/>
          </a:prstGeom>
        </p:spPr>
      </p:pic>
      <p:sp>
        <p:nvSpPr>
          <p:cNvPr id="25" name="Text 18"/>
          <p:cNvSpPr txBox="1"/>
          <p:nvPr/>
        </p:nvSpPr>
        <p:spPr>
          <a:xfrm>
            <a:off x="8641080" y="3438144"/>
            <a:ext cx="3063240" cy="777240"/>
          </a:xfrm>
          <a:prstGeom prst="rect">
            <a:avLst/>
          </a:prstGeom>
          <a:noFill/>
          <a:ln/>
        </p:spPr>
        <p:txBody>
          <a:bodyPr wrap="square" lIns="0" tIns="0" rIns="0" bIns="0" rtlCol="0" anchor="t"/>
          <a:lstStyle/>
          <a:p>
            <a:pPr indent="0" marL="0">
              <a:buNone/>
            </a:pPr>
            <a:r>
              <a:rPr lang="en-US" sz="1400" b="1" dirty="0">
                <a:solidFill>
                  <a:schemeClr val="tx1"/>
                </a:solidFill>
              </a:rPr>
              <a:t>Saving is your choice</a:t>
            </a:r>
            <a:endParaRPr lang="en-US" sz="1400" dirty="0"/>
          </a:p>
          <a:p>
            <a:pPr indent="0" marL="0">
              <a:buNone/>
            </a:pPr>
            <a:r>
              <a:rPr lang="en-US" sz="1200" dirty="0">
                <a:solidFill>
                  <a:schemeClr val="accent6"/>
                </a:solidFill>
              </a:rPr>
              <a:t>Each account has its own notebook.</a:t>
            </a:r>
            <a:endParaRPr lang="en-US" sz="1400" dirty="0"/>
          </a:p>
        </p:txBody>
      </p:sp>
      <p:sp>
        <p:nvSpPr>
          <p:cNvPr id="26" name="WifiOff badge"/>
          <p:cNvSpPr/>
          <p:nvPr/>
        </p:nvSpPr>
        <p:spPr>
          <a:xfrm>
            <a:off x="8001000" y="4325112"/>
            <a:ext cx="512064" cy="512064"/>
          </a:xfrm>
          <a:prstGeom prst="ellipse">
            <a:avLst/>
          </a:prstGeom>
          <a:solidFill>
            <a:schemeClr val="bg2"/>
          </a:solidFill>
          <a:ln/>
        </p:spPr>
      </p:sp>
      <p:pic>
        <p:nvPicPr>
          <p:cNvPr id="27" name="Image 4" descr="preencoded.png">    </p:cNvPr>
          <p:cNvPicPr>
            <a:picLocks noChangeAspect="1"/>
          </p:cNvPicPr>
          <p:nvPr/>
        </p:nvPicPr>
        <p:blipFill>
          <a:blip r:embed="rId5"/>
          <a:stretch>
            <a:fillRect/>
          </a:stretch>
        </p:blipFill>
        <p:spPr>
          <a:xfrm>
            <a:off x="8129016" y="4453128"/>
            <a:ext cx="256032" cy="256032"/>
          </a:xfrm>
          <a:prstGeom prst="rect">
            <a:avLst/>
          </a:prstGeom>
        </p:spPr>
      </p:pic>
      <p:sp>
        <p:nvSpPr>
          <p:cNvPr id="28" name="Text 20"/>
          <p:cNvSpPr txBox="1"/>
          <p:nvPr/>
        </p:nvSpPr>
        <p:spPr>
          <a:xfrm>
            <a:off x="8641080" y="4306824"/>
            <a:ext cx="3063240" cy="777240"/>
          </a:xfrm>
          <a:prstGeom prst="rect">
            <a:avLst/>
          </a:prstGeom>
          <a:noFill/>
          <a:ln/>
        </p:spPr>
        <p:txBody>
          <a:bodyPr wrap="square" lIns="0" tIns="0" rIns="0" bIns="0" rtlCol="0" anchor="t"/>
          <a:lstStyle/>
          <a:p>
            <a:pPr indent="0" marL="0">
              <a:buNone/>
            </a:pPr>
            <a:r>
              <a:rPr lang="en-US" sz="1400" b="1" dirty="0">
                <a:solidFill>
                  <a:schemeClr val="tx1"/>
                </a:solidFill>
              </a:rPr>
              <a:t>Core features work offline</a:t>
            </a:r>
            <a:endParaRPr lang="en-US" sz="1400" dirty="0"/>
          </a:p>
          <a:p>
            <a:pPr indent="0" marL="0">
              <a:buNone/>
            </a:pPr>
            <a:r>
              <a:rPr lang="en-US" sz="1200" dirty="0">
                <a:solidFill>
                  <a:schemeClr val="accent6"/>
                </a:solidFill>
              </a:rPr>
              <a:t>After sign-in; AI is used only by choice.</a:t>
            </a:r>
            <a:endParaRPr lang="en-US" sz="1400" dirty="0"/>
          </a:p>
        </p:txBody>
      </p:sp>
      <p:sp>
        <p:nvSpPr>
          <p:cNvPr id="29" name="trade-offs"/>
          <p:cNvSpPr/>
          <p:nvPr/>
        </p:nvSpPr>
        <p:spPr>
          <a:xfrm>
            <a:off x="4251960" y="5285232"/>
            <a:ext cx="7406640" cy="896112"/>
          </a:xfrm>
          <a:prstGeom prst="roundRect">
            <a:avLst>
              <a:gd name="adj" fmla="val 12245"/>
            </a:avLst>
          </a:prstGeom>
          <a:solidFill>
            <a:srgbClr val="FFF4E2"/>
          </a:solidFill>
          <a:ln/>
        </p:spPr>
      </p:sp>
      <p:pic>
        <p:nvPicPr>
          <p:cNvPr id="30" name="Image 5" descr="preencoded.png">    </p:cNvPr>
          <p:cNvPicPr>
            <a:picLocks noChangeAspect="1"/>
          </p:cNvPicPr>
          <p:nvPr/>
        </p:nvPicPr>
        <p:blipFill>
          <a:blip r:embed="rId6"/>
          <a:stretch>
            <a:fillRect/>
          </a:stretch>
        </p:blipFill>
        <p:spPr>
          <a:xfrm>
            <a:off x="4434840" y="5577840"/>
            <a:ext cx="310896" cy="310896"/>
          </a:xfrm>
          <a:prstGeom prst="rect">
            <a:avLst/>
          </a:prstGeom>
        </p:spPr>
      </p:pic>
      <p:sp>
        <p:nvSpPr>
          <p:cNvPr id="31" name="Text 22"/>
          <p:cNvSpPr txBox="1"/>
          <p:nvPr/>
        </p:nvSpPr>
        <p:spPr>
          <a:xfrm>
            <a:off x="4892040" y="5340096"/>
            <a:ext cx="6629400" cy="786384"/>
          </a:xfrm>
          <a:prstGeom prst="rect">
            <a:avLst/>
          </a:prstGeom>
          <a:noFill/>
          <a:ln/>
        </p:spPr>
        <p:txBody>
          <a:bodyPr wrap="square" lIns="0" tIns="0" rIns="0" bIns="0" rtlCol="0" anchor="ctr"/>
          <a:lstStyle/>
          <a:p>
            <a:pPr indent="0" marL="0">
              <a:buNone/>
            </a:pPr>
            <a:r>
              <a:rPr lang="en-US" sz="1250" b="1" dirty="0">
                <a:solidFill>
                  <a:schemeClr val="tx1"/>
                </a:solidFill>
              </a:rPr>
              <a:t>Trade-offs we state openly: </a:t>
            </a:r>
            <a:pPr indent="0" marL="0">
              <a:buNone/>
            </a:pPr>
            <a:r>
              <a:rPr lang="en-US" sz="1250" dirty="0">
                <a:solidFill>
                  <a:schemeClr val="tx1"/>
                </a:solidFill>
              </a:rPr>
              <a:t>AI submissions follow Google’s data terms (the free tier may use them to improve its products). The notebook saved on the device is not encrypted.</a:t>
            </a:r>
            <a:endParaRPr lang="en-US" sz="1250" dirty="0"/>
          </a:p>
        </p:txBody>
      </p:sp>
      <p:sp>
        <p:nvSpPr>
          <p:cNvPr id="25" name="Slide Number Placeholder 0"/>
          <p:cNvSpPr>
            <a:spLocks noGrp="1"/>
          </p:cNvSpPr>
          <p:nvPr>
            <p:ph type="sldNum" sz="quarter" idx="4294967295"/>
          </p:nvPr>
        </p:nvSpPr>
        <p:spPr>
          <a:xfrm>
            <a:off x="11091672" y="642823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68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8229600" cy="274320"/>
          </a:xfrm>
          <a:prstGeom prst="rect">
            <a:avLst/>
          </a:prstGeom>
          <a:noFill/>
          <a:ln/>
        </p:spPr>
        <p:txBody>
          <a:bodyPr wrap="square" lIns="0" tIns="0" rIns="0" bIns="0" rtlCol="0" anchor="ctr"/>
          <a:lstStyle/>
          <a:p>
            <a:pPr algn="l" indent="0" marL="0">
              <a:buNone/>
            </a:pPr>
            <a:r>
              <a:rPr lang="en-US" sz="1200" b="1" spc="150" kern="0" dirty="0">
                <a:solidFill>
                  <a:srgbClr val="6955E8"/>
                </a:solidFill>
              </a:rPr>
              <a:t>11   EVALUATION CRITERIA</a:t>
            </a:r>
            <a:endParaRPr lang="en-US" sz="1200" dirty="0"/>
          </a:p>
        </p:txBody>
      </p:sp>
      <p:sp>
        <p:nvSpPr>
          <p:cNvPr id="3" name="Text 2"/>
          <p:cNvSpPr/>
          <p:nvPr>
            <p:ph idx="103" type="title" hasCustomPrompt="1"/>
          </p:nvPr>
        </p:nvSpPr>
        <p:spPr>
          <a:xfrm>
            <a:off x="548640" y="658368"/>
            <a:ext cx="11064240" cy="603504"/>
          </a:xfrm>
          <a:prstGeom prst="rect">
            <a:avLst/>
          </a:prstGeom>
          <a:noFill/>
          <a:ln/>
        </p:spPr>
        <p:txBody>
          <a:bodyPr wrap="square" lIns="0" tIns="0" rIns="0" bIns="0" rtlCol="0" anchor="t"/>
          <a:lstStyle/>
          <a:p>
            <a:pPr algn="l" indent="0" marL="0">
              <a:buNone/>
            </a:pPr>
            <a:r>
              <a:rPr lang="en-US" sz="3000" b="1" dirty="0">
                <a:solidFill>
                  <a:srgbClr val="1E1B2E"/>
                </a:solidFill>
              </a:rPr>
              <a:t>How Sajag meets the judging criteria</a:t>
            </a:r>
            <a:endParaRPr lang="en-US" sz="3000" dirty="0"/>
          </a:p>
        </p:txBody>
      </p:sp>
      <p:sp>
        <p:nvSpPr>
          <p:cNvPr id="5" name="criterion 1"/>
          <p:cNvSpPr/>
          <p:nvPr/>
        </p:nvSpPr>
        <p:spPr>
          <a:xfrm>
            <a:off x="548640" y="1371600"/>
            <a:ext cx="11109960" cy="868680"/>
          </a:xfrm>
          <a:prstGeom prst="roundRect">
            <a:avLst>
              <a:gd name="adj" fmla="val 12632"/>
            </a:avLst>
          </a:prstGeom>
          <a:solidFill>
            <a:schemeClr val="bg2"/>
          </a:solidFill>
          <a:ln/>
        </p:spPr>
      </p:sp>
      <p:sp>
        <p:nvSpPr>
          <p:cNvPr id="6" name="Shape 3"/>
          <p:cNvSpPr/>
          <p:nvPr/>
        </p:nvSpPr>
        <p:spPr>
          <a:xfrm>
            <a:off x="713232" y="1463040"/>
            <a:ext cx="685800" cy="685800"/>
          </a:xfrm>
          <a:prstGeom prst="ellipse">
            <a:avLst/>
          </a:prstGeom>
          <a:solidFill>
            <a:schemeClr val="accent1"/>
          </a:solidFill>
          <a:ln/>
        </p:spPr>
      </p:sp>
      <p:sp>
        <p:nvSpPr>
          <p:cNvPr id="7" name="Text 4"/>
          <p:cNvSpPr txBox="1"/>
          <p:nvPr/>
        </p:nvSpPr>
        <p:spPr>
          <a:xfrm>
            <a:off x="713232" y="1463040"/>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30%</a:t>
            </a:r>
            <a:endParaRPr lang="en-US" sz="1400" dirty="0"/>
          </a:p>
        </p:txBody>
      </p:sp>
      <p:sp>
        <p:nvSpPr>
          <p:cNvPr id="8" name="Text 5"/>
          <p:cNvSpPr txBox="1"/>
          <p:nvPr/>
        </p:nvSpPr>
        <p:spPr>
          <a:xfrm>
            <a:off x="1627632" y="1371600"/>
            <a:ext cx="2926080" cy="868680"/>
          </a:xfrm>
          <a:prstGeom prst="rect">
            <a:avLst/>
          </a:prstGeom>
          <a:noFill/>
          <a:ln/>
        </p:spPr>
        <p:txBody>
          <a:bodyPr wrap="square" lIns="0" tIns="0" rIns="0" bIns="0" rtlCol="0" anchor="ctr"/>
          <a:lstStyle/>
          <a:p>
            <a:pPr indent="0" marL="0">
              <a:buNone/>
            </a:pPr>
            <a:r>
              <a:rPr lang="en-US" sz="1500" b="1" dirty="0">
                <a:solidFill>
                  <a:schemeClr val="tx1"/>
                </a:solidFill>
              </a:rPr>
              <a:t>Resilience and safety impact</a:t>
            </a:r>
            <a:endParaRPr lang="en-US" sz="1500" dirty="0"/>
          </a:p>
        </p:txBody>
      </p:sp>
      <p:sp>
        <p:nvSpPr>
          <p:cNvPr id="9" name="Text 6"/>
          <p:cNvSpPr txBox="1"/>
          <p:nvPr/>
        </p:nvSpPr>
        <p:spPr>
          <a:xfrm>
            <a:off x="4617720" y="1371600"/>
            <a:ext cx="6858000" cy="868680"/>
          </a:xfrm>
          <a:prstGeom prst="rect">
            <a:avLst/>
          </a:prstGeom>
          <a:noFill/>
          <a:ln/>
        </p:spPr>
        <p:txBody>
          <a:bodyPr wrap="square" lIns="0" tIns="0" rIns="0" bIns="0" rtlCol="0" anchor="ctr"/>
          <a:lstStyle/>
          <a:p>
            <a:pPr indent="0" marL="0">
              <a:buNone/>
            </a:pPr>
            <a:r>
              <a:rPr lang="en-US" sz="1250" dirty="0">
                <a:solidFill>
                  <a:schemeClr val="tx1"/>
                </a:solidFill>
              </a:rPr>
              <a:t>Flags risky messages before money moves and explains why. With AI, 74 of 75 risky and 0 of 75 harmless test messages were flagged. Lessons and stories give practice for safer responses.</a:t>
            </a:r>
            <a:endParaRPr lang="en-US" sz="1250" dirty="0"/>
          </a:p>
        </p:txBody>
      </p:sp>
      <p:sp>
        <p:nvSpPr>
          <p:cNvPr id="10" name="criterion 2"/>
          <p:cNvSpPr/>
          <p:nvPr/>
        </p:nvSpPr>
        <p:spPr>
          <a:xfrm>
            <a:off x="548640" y="2350008"/>
            <a:ext cx="11109960" cy="868680"/>
          </a:xfrm>
          <a:prstGeom prst="roundRect">
            <a:avLst>
              <a:gd name="adj" fmla="val 12632"/>
            </a:avLst>
          </a:prstGeom>
          <a:solidFill>
            <a:schemeClr val="bg1"/>
          </a:solidFill>
          <a:ln w="12700">
            <a:solidFill>
              <a:srgbClr val="E6E2F7"/>
            </a:solidFill>
            <a:prstDash val="solid"/>
          </a:ln>
        </p:spPr>
      </p:sp>
      <p:sp>
        <p:nvSpPr>
          <p:cNvPr id="11" name="Shape 8"/>
          <p:cNvSpPr/>
          <p:nvPr/>
        </p:nvSpPr>
        <p:spPr>
          <a:xfrm>
            <a:off x="713232" y="2441448"/>
            <a:ext cx="685800" cy="685800"/>
          </a:xfrm>
          <a:prstGeom prst="ellipse">
            <a:avLst/>
          </a:prstGeom>
          <a:solidFill>
            <a:schemeClr val="accent1"/>
          </a:solidFill>
          <a:ln/>
        </p:spPr>
      </p:sp>
      <p:sp>
        <p:nvSpPr>
          <p:cNvPr id="12" name="Text 9"/>
          <p:cNvSpPr txBox="1"/>
          <p:nvPr/>
        </p:nvSpPr>
        <p:spPr>
          <a:xfrm>
            <a:off x="713232" y="2441448"/>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25%</a:t>
            </a:r>
            <a:endParaRPr lang="en-US" sz="1400" dirty="0"/>
          </a:p>
        </p:txBody>
      </p:sp>
      <p:sp>
        <p:nvSpPr>
          <p:cNvPr id="13" name="Text 10"/>
          <p:cNvSpPr txBox="1"/>
          <p:nvPr/>
        </p:nvSpPr>
        <p:spPr>
          <a:xfrm>
            <a:off x="1627632" y="2350008"/>
            <a:ext cx="2926080" cy="868680"/>
          </a:xfrm>
          <a:prstGeom prst="rect">
            <a:avLst/>
          </a:prstGeom>
          <a:noFill/>
          <a:ln/>
        </p:spPr>
        <p:txBody>
          <a:bodyPr wrap="square" lIns="0" tIns="0" rIns="0" bIns="0" rtlCol="0" anchor="ctr"/>
          <a:lstStyle/>
          <a:p>
            <a:pPr indent="0" marL="0">
              <a:buNone/>
            </a:pPr>
            <a:r>
              <a:rPr lang="en-US" sz="1500" b="1" dirty="0">
                <a:solidFill>
                  <a:schemeClr val="tx1"/>
                </a:solidFill>
              </a:rPr>
              <a:t>Bharat-first usability</a:t>
            </a:r>
            <a:endParaRPr lang="en-US" sz="1500" dirty="0"/>
          </a:p>
        </p:txBody>
      </p:sp>
      <p:sp>
        <p:nvSpPr>
          <p:cNvPr id="14" name="Text 11"/>
          <p:cNvSpPr txBox="1"/>
          <p:nvPr/>
        </p:nvSpPr>
        <p:spPr>
          <a:xfrm>
            <a:off x="4617720" y="2350008"/>
            <a:ext cx="6858000" cy="868680"/>
          </a:xfrm>
          <a:prstGeom prst="rect">
            <a:avLst/>
          </a:prstGeom>
          <a:noFill/>
          <a:ln/>
        </p:spPr>
        <p:txBody>
          <a:bodyPr wrap="square" lIns="0" tIns="0" rIns="0" bIns="0" rtlCol="0" anchor="ctr"/>
          <a:lstStyle/>
          <a:p>
            <a:pPr indent="0" marL="0">
              <a:buNone/>
            </a:pPr>
            <a:r>
              <a:rPr lang="en-US" sz="1250" dirty="0">
                <a:solidFill>
                  <a:schemeClr val="tx1"/>
                </a:solidFill>
              </a:rPr>
              <a:t>English, Hindi and Bengali screens; Hinglish and Banglish input; Listen and Speak it; core features offline; a 5.2 MB Android app.</a:t>
            </a:r>
            <a:endParaRPr lang="en-US" sz="1250" dirty="0"/>
          </a:p>
        </p:txBody>
      </p:sp>
      <p:sp>
        <p:nvSpPr>
          <p:cNvPr id="15" name="criterion 3"/>
          <p:cNvSpPr/>
          <p:nvPr/>
        </p:nvSpPr>
        <p:spPr>
          <a:xfrm>
            <a:off x="548640" y="3328416"/>
            <a:ext cx="11109960" cy="868680"/>
          </a:xfrm>
          <a:prstGeom prst="roundRect">
            <a:avLst>
              <a:gd name="adj" fmla="val 12632"/>
            </a:avLst>
          </a:prstGeom>
          <a:solidFill>
            <a:schemeClr val="bg2"/>
          </a:solidFill>
          <a:ln/>
        </p:spPr>
      </p:sp>
      <p:sp>
        <p:nvSpPr>
          <p:cNvPr id="16" name="Shape 13"/>
          <p:cNvSpPr/>
          <p:nvPr/>
        </p:nvSpPr>
        <p:spPr>
          <a:xfrm>
            <a:off x="713232" y="3419856"/>
            <a:ext cx="685800" cy="685800"/>
          </a:xfrm>
          <a:prstGeom prst="ellipse">
            <a:avLst/>
          </a:prstGeom>
          <a:solidFill>
            <a:schemeClr val="accent1"/>
          </a:solidFill>
          <a:ln/>
        </p:spPr>
      </p:sp>
      <p:sp>
        <p:nvSpPr>
          <p:cNvPr id="17" name="Text 14"/>
          <p:cNvSpPr txBox="1"/>
          <p:nvPr/>
        </p:nvSpPr>
        <p:spPr>
          <a:xfrm>
            <a:off x="713232" y="3419856"/>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15%</a:t>
            </a:r>
            <a:endParaRPr lang="en-US" sz="1400" dirty="0"/>
          </a:p>
        </p:txBody>
      </p:sp>
      <p:sp>
        <p:nvSpPr>
          <p:cNvPr id="18" name="Text 15"/>
          <p:cNvSpPr txBox="1"/>
          <p:nvPr/>
        </p:nvSpPr>
        <p:spPr>
          <a:xfrm>
            <a:off x="1627632" y="3328416"/>
            <a:ext cx="2926080" cy="868680"/>
          </a:xfrm>
          <a:prstGeom prst="rect">
            <a:avLst/>
          </a:prstGeom>
          <a:noFill/>
          <a:ln/>
        </p:spPr>
        <p:txBody>
          <a:bodyPr wrap="square" lIns="0" tIns="0" rIns="0" bIns="0" rtlCol="0" anchor="ctr"/>
          <a:lstStyle/>
          <a:p>
            <a:pPr indent="0" marL="0">
              <a:buNone/>
            </a:pPr>
            <a:r>
              <a:rPr lang="en-US" sz="1500" b="1" dirty="0">
                <a:solidFill>
                  <a:schemeClr val="tx1"/>
                </a:solidFill>
              </a:rPr>
              <a:t>Guardrail compliance and trust</a:t>
            </a:r>
            <a:endParaRPr lang="en-US" sz="1500" dirty="0"/>
          </a:p>
        </p:txBody>
      </p:sp>
      <p:sp>
        <p:nvSpPr>
          <p:cNvPr id="19" name="Text 16"/>
          <p:cNvSpPr txBox="1"/>
          <p:nvPr/>
        </p:nvSpPr>
        <p:spPr>
          <a:xfrm>
            <a:off x="4617720" y="3328416"/>
            <a:ext cx="6858000" cy="868680"/>
          </a:xfrm>
          <a:prstGeom prst="rect">
            <a:avLst/>
          </a:prstGeom>
          <a:noFill/>
          <a:ln/>
        </p:spPr>
        <p:txBody>
          <a:bodyPr wrap="square" lIns="0" tIns="0" rIns="0" bIns="0" rtlCol="0" anchor="ctr"/>
          <a:lstStyle/>
          <a:p>
            <a:pPr indent="0" marL="0">
              <a:buNone/>
            </a:pPr>
            <a:r>
              <a:rPr lang="en-US" sz="1250" dirty="0">
                <a:solidFill>
                  <a:schemeClr val="tx1"/>
                </a:solidFill>
              </a:rPr>
              <a:t>No tips, predictions, product promotion or monetisation. No SMS or OTP reading: people choose what to check. AI only with permission. Uncertainty shown, never “safe”.</a:t>
            </a:r>
            <a:endParaRPr lang="en-US" sz="1250" dirty="0"/>
          </a:p>
        </p:txBody>
      </p:sp>
      <p:sp>
        <p:nvSpPr>
          <p:cNvPr id="20" name="criterion 4"/>
          <p:cNvSpPr/>
          <p:nvPr/>
        </p:nvSpPr>
        <p:spPr>
          <a:xfrm>
            <a:off x="548640" y="4306824"/>
            <a:ext cx="11109960" cy="868680"/>
          </a:xfrm>
          <a:prstGeom prst="roundRect">
            <a:avLst>
              <a:gd name="adj" fmla="val 12632"/>
            </a:avLst>
          </a:prstGeom>
          <a:solidFill>
            <a:schemeClr val="bg1"/>
          </a:solidFill>
          <a:ln w="12700">
            <a:solidFill>
              <a:srgbClr val="E6E2F7"/>
            </a:solidFill>
            <a:prstDash val="solid"/>
          </a:ln>
        </p:spPr>
      </p:sp>
      <p:sp>
        <p:nvSpPr>
          <p:cNvPr id="21" name="Shape 18"/>
          <p:cNvSpPr/>
          <p:nvPr/>
        </p:nvSpPr>
        <p:spPr>
          <a:xfrm>
            <a:off x="713232" y="4398264"/>
            <a:ext cx="685800" cy="685800"/>
          </a:xfrm>
          <a:prstGeom prst="ellipse">
            <a:avLst/>
          </a:prstGeom>
          <a:solidFill>
            <a:schemeClr val="accent1"/>
          </a:solidFill>
          <a:ln/>
        </p:spPr>
      </p:sp>
      <p:sp>
        <p:nvSpPr>
          <p:cNvPr id="22" name="Text 19"/>
          <p:cNvSpPr txBox="1"/>
          <p:nvPr/>
        </p:nvSpPr>
        <p:spPr>
          <a:xfrm>
            <a:off x="713232" y="4398264"/>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15%</a:t>
            </a:r>
            <a:endParaRPr lang="en-US" sz="1400" dirty="0"/>
          </a:p>
        </p:txBody>
      </p:sp>
      <p:sp>
        <p:nvSpPr>
          <p:cNvPr id="23" name="Text 20"/>
          <p:cNvSpPr txBox="1"/>
          <p:nvPr/>
        </p:nvSpPr>
        <p:spPr>
          <a:xfrm>
            <a:off x="1627632" y="4306824"/>
            <a:ext cx="2926080" cy="868680"/>
          </a:xfrm>
          <a:prstGeom prst="rect">
            <a:avLst/>
          </a:prstGeom>
          <a:noFill/>
          <a:ln/>
        </p:spPr>
        <p:txBody>
          <a:bodyPr wrap="square" lIns="0" tIns="0" rIns="0" bIns="0" rtlCol="0" anchor="ctr"/>
          <a:lstStyle/>
          <a:p>
            <a:pPr indent="0" marL="0">
              <a:buNone/>
            </a:pPr>
            <a:r>
              <a:rPr lang="en-US" sz="1500" b="1" dirty="0">
                <a:solidFill>
                  <a:schemeClr val="tx1"/>
                </a:solidFill>
              </a:rPr>
              <a:t>Technical execution</a:t>
            </a:r>
            <a:endParaRPr lang="en-US" sz="1500" dirty="0"/>
          </a:p>
        </p:txBody>
      </p:sp>
      <p:sp>
        <p:nvSpPr>
          <p:cNvPr id="24" name="Text 21"/>
          <p:cNvSpPr txBox="1"/>
          <p:nvPr/>
        </p:nvSpPr>
        <p:spPr>
          <a:xfrm>
            <a:off x="4617720" y="4306824"/>
            <a:ext cx="6858000" cy="868680"/>
          </a:xfrm>
          <a:prstGeom prst="rect">
            <a:avLst/>
          </a:prstGeom>
          <a:noFill/>
          <a:ln/>
        </p:spPr>
        <p:txBody>
          <a:bodyPr wrap="square" lIns="0" tIns="0" rIns="0" bIns="0" rtlCol="0" anchor="ctr"/>
          <a:lstStyle/>
          <a:p>
            <a:pPr indent="0" marL="0">
              <a:buNone/>
            </a:pPr>
            <a:r>
              <a:rPr lang="en-US" sz="1250" dirty="0">
                <a:solidFill>
                  <a:schemeClr val="tx1"/>
                </a:solidFill>
              </a:rPr>
              <a:t>On-device rules and pattern model; RAG over 22 curated SEBI, RBI and government guidance cards with Gemini 3.5 Flash-Lite; quote checks and a second review pass.</a:t>
            </a:r>
            <a:endParaRPr lang="en-US" sz="1250" dirty="0"/>
          </a:p>
        </p:txBody>
      </p:sp>
      <p:sp>
        <p:nvSpPr>
          <p:cNvPr id="25" name="criterion 5"/>
          <p:cNvSpPr/>
          <p:nvPr/>
        </p:nvSpPr>
        <p:spPr>
          <a:xfrm>
            <a:off x="548640" y="5285232"/>
            <a:ext cx="11109960" cy="868680"/>
          </a:xfrm>
          <a:prstGeom prst="roundRect">
            <a:avLst>
              <a:gd name="adj" fmla="val 12632"/>
            </a:avLst>
          </a:prstGeom>
          <a:solidFill>
            <a:schemeClr val="bg2"/>
          </a:solidFill>
          <a:ln/>
        </p:spPr>
      </p:sp>
      <p:sp>
        <p:nvSpPr>
          <p:cNvPr id="26" name="Shape 23"/>
          <p:cNvSpPr/>
          <p:nvPr/>
        </p:nvSpPr>
        <p:spPr>
          <a:xfrm>
            <a:off x="713232" y="5376672"/>
            <a:ext cx="685800" cy="685800"/>
          </a:xfrm>
          <a:prstGeom prst="ellipse">
            <a:avLst/>
          </a:prstGeom>
          <a:solidFill>
            <a:schemeClr val="accent1"/>
          </a:solidFill>
          <a:ln/>
        </p:spPr>
      </p:sp>
      <p:sp>
        <p:nvSpPr>
          <p:cNvPr id="27" name="Text 24"/>
          <p:cNvSpPr txBox="1"/>
          <p:nvPr/>
        </p:nvSpPr>
        <p:spPr>
          <a:xfrm>
            <a:off x="713232" y="5376672"/>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15%</a:t>
            </a:r>
            <a:endParaRPr lang="en-US" sz="1400" dirty="0"/>
          </a:p>
        </p:txBody>
      </p:sp>
      <p:sp>
        <p:nvSpPr>
          <p:cNvPr id="28" name="Text 25"/>
          <p:cNvSpPr txBox="1"/>
          <p:nvPr/>
        </p:nvSpPr>
        <p:spPr>
          <a:xfrm>
            <a:off x="1627632" y="5285232"/>
            <a:ext cx="2926080" cy="868680"/>
          </a:xfrm>
          <a:prstGeom prst="rect">
            <a:avLst/>
          </a:prstGeom>
          <a:noFill/>
          <a:ln/>
        </p:spPr>
        <p:txBody>
          <a:bodyPr wrap="square" lIns="0" tIns="0" rIns="0" bIns="0" rtlCol="0" anchor="ctr"/>
          <a:lstStyle/>
          <a:p>
            <a:pPr indent="0" marL="0">
              <a:buNone/>
            </a:pPr>
            <a:r>
              <a:rPr lang="en-US" sz="1500" b="1" dirty="0">
                <a:solidFill>
                  <a:schemeClr val="tx1"/>
                </a:solidFill>
              </a:rPr>
              <a:t>Feasibility and scalability</a:t>
            </a:r>
            <a:endParaRPr lang="en-US" sz="1500" dirty="0"/>
          </a:p>
        </p:txBody>
      </p:sp>
      <p:sp>
        <p:nvSpPr>
          <p:cNvPr id="29" name="Text 26"/>
          <p:cNvSpPr txBox="1"/>
          <p:nvPr/>
        </p:nvSpPr>
        <p:spPr>
          <a:xfrm>
            <a:off x="4617720" y="5285232"/>
            <a:ext cx="6858000" cy="868680"/>
          </a:xfrm>
          <a:prstGeom prst="rect">
            <a:avLst/>
          </a:prstGeom>
          <a:noFill/>
          <a:ln/>
        </p:spPr>
        <p:txBody>
          <a:bodyPr wrap="square" lIns="0" tIns="0" rIns="0" bIns="0" rtlCol="0" anchor="ctr"/>
          <a:lstStyle/>
          <a:p>
            <a:pPr indent="0" marL="0">
              <a:buNone/>
            </a:pPr>
            <a:r>
              <a:rPr lang="en-US" sz="1250" dirty="0">
                <a:solidFill>
                  <a:schemeClr val="tx1"/>
                </a:solidFill>
              </a:rPr>
              <a:t>Live website and Android app today; a low-cost AI model; new languages and guidance cards plug into the same pipeline. Next: real-user validation.</a:t>
            </a:r>
            <a:endParaRPr lang="en-US" sz="1250" dirty="0"/>
          </a:p>
        </p:txBody>
      </p:sp>
      <p:sp>
        <p:nvSpPr>
          <p:cNvPr id="25" name="Slide Number Placeholder 0"/>
          <p:cNvSpPr>
            <a:spLocks noGrp="1"/>
          </p:cNvSpPr>
          <p:nvPr>
            <p:ph type="sldNum" sz="quarter" idx="4294967295"/>
          </p:nvPr>
        </p:nvSpPr>
        <p:spPr>
          <a:xfrm>
            <a:off x="11091672" y="642823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68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body" hasCustomPrompt="1"/>
          </p:nvPr>
        </p:nvSpPr>
        <p:spPr>
          <a:xfrm>
            <a:off x="640080" y="1207008"/>
            <a:ext cx="6126480" cy="292608"/>
          </a:xfrm>
          <a:prstGeom prst="rect">
            <a:avLst/>
          </a:prstGeom>
          <a:noFill/>
          <a:ln/>
        </p:spPr>
        <p:txBody>
          <a:bodyPr wrap="square" lIns="0" tIns="0" rIns="0" bIns="0" rtlCol="0" anchor="ctr"/>
          <a:lstStyle/>
          <a:p>
            <a:pPr algn="l" indent="0" marL="0">
              <a:buNone/>
            </a:pPr>
            <a:r>
              <a:rPr lang="en-US" sz="1200" b="1" spc="150" kern="0" dirty="0">
                <a:solidFill>
                  <a:srgbClr val="B9B1F5"/>
                </a:solidFill>
              </a:rPr>
              <a:t>12   IMPACT AND NEXT STEPS</a:t>
            </a:r>
            <a:endParaRPr lang="en-US" sz="1200" dirty="0"/>
          </a:p>
        </p:txBody>
      </p:sp>
      <p:sp>
        <p:nvSpPr>
          <p:cNvPr id="3" name="Text 2"/>
          <p:cNvSpPr/>
          <p:nvPr>
            <p:ph idx="103" type="title" hasCustomPrompt="1"/>
          </p:nvPr>
        </p:nvSpPr>
        <p:spPr>
          <a:xfrm>
            <a:off x="640080" y="1554480"/>
            <a:ext cx="6126480" cy="1280160"/>
          </a:xfrm>
          <a:prstGeom prst="rect">
            <a:avLst/>
          </a:prstGeom>
          <a:noFill/>
          <a:ln/>
        </p:spPr>
        <p:txBody>
          <a:bodyPr wrap="square" lIns="0" tIns="0" rIns="0" bIns="0" rtlCol="0" anchor="t"/>
          <a:lstStyle/>
          <a:p>
            <a:pPr algn="l" indent="0" marL="0">
              <a:buNone/>
            </a:pPr>
            <a:r>
              <a:rPr lang="en-US" sz="3800" b="1" dirty="0">
                <a:solidFill>
                  <a:srgbClr val="FFFFFF"/>
                </a:solidFill>
              </a:rPr>
              <a:t>From a warning to understanding</a:t>
            </a:r>
            <a:endParaRPr lang="en-US" sz="3800" dirty="0"/>
          </a:p>
        </p:txBody>
      </p:sp>
      <p:sp>
        <p:nvSpPr>
          <p:cNvPr id="5" name="Text 2"/>
          <p:cNvSpPr txBox="1"/>
          <p:nvPr/>
        </p:nvSpPr>
        <p:spPr>
          <a:xfrm>
            <a:off x="640080" y="2926080"/>
            <a:ext cx="5852160" cy="868680"/>
          </a:xfrm>
          <a:prstGeom prst="rect">
            <a:avLst/>
          </a:prstGeom>
          <a:noFill/>
          <a:ln/>
        </p:spPr>
        <p:txBody>
          <a:bodyPr wrap="square" lIns="0" tIns="0" rIns="0" bIns="0" rtlCol="0" anchor="t"/>
          <a:lstStyle/>
          <a:p>
            <a:pPr indent="0" marL="0">
              <a:lnSpc>
                <a:spcPct val="112000"/>
              </a:lnSpc>
              <a:buNone/>
            </a:pPr>
            <a:r>
              <a:rPr lang="en-US" sz="1600" dirty="0">
                <a:solidFill>
                  <a:srgbClr val="DAD5F7"/>
                </a:solidFill>
              </a:rPr>
              <a:t>Sajag brings warning, explanation and practice together. It is designed to help people understand why a message is risky and consider a safer next step.</a:t>
            </a:r>
            <a:endParaRPr lang="en-US" sz="1600" dirty="0"/>
          </a:p>
        </p:txBody>
      </p:sp>
      <p:sp>
        <p:nvSpPr>
          <p:cNvPr id="6" name="Text 3"/>
          <p:cNvSpPr txBox="1"/>
          <p:nvPr/>
        </p:nvSpPr>
        <p:spPr>
          <a:xfrm>
            <a:off x="640080" y="3986784"/>
            <a:ext cx="5486400" cy="274320"/>
          </a:xfrm>
          <a:prstGeom prst="rect">
            <a:avLst/>
          </a:prstGeom>
          <a:noFill/>
          <a:ln/>
        </p:spPr>
        <p:txBody>
          <a:bodyPr wrap="square" lIns="0" tIns="0" rIns="0" bIns="0" rtlCol="0" anchor="t"/>
          <a:lstStyle/>
          <a:p>
            <a:pPr indent="0" marL="0">
              <a:buNone/>
            </a:pPr>
            <a:r>
              <a:rPr lang="en-US" sz="1100" b="1" spc="150" kern="0" dirty="0">
                <a:solidFill>
                  <a:srgbClr val="B9B1F5"/>
                </a:solidFill>
              </a:rPr>
              <a:t>NEXT: REAL-WORLD VALIDATION</a:t>
            </a:r>
            <a:endParaRPr lang="en-US" sz="1100" dirty="0"/>
          </a:p>
        </p:txBody>
      </p:sp>
      <p:sp>
        <p:nvSpPr>
          <p:cNvPr id="7" name="Shape 4"/>
          <p:cNvSpPr/>
          <p:nvPr/>
        </p:nvSpPr>
        <p:spPr>
          <a:xfrm>
            <a:off x="640080" y="4334256"/>
            <a:ext cx="384048" cy="384048"/>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731520" y="4425696"/>
            <a:ext cx="201168" cy="201168"/>
          </a:xfrm>
          <a:prstGeom prst="rect">
            <a:avLst/>
          </a:prstGeom>
        </p:spPr>
      </p:pic>
      <p:sp>
        <p:nvSpPr>
          <p:cNvPr id="9" name="Text 5"/>
          <p:cNvSpPr txBox="1"/>
          <p:nvPr/>
        </p:nvSpPr>
        <p:spPr>
          <a:xfrm>
            <a:off x="1143000" y="4315968"/>
            <a:ext cx="5394960" cy="420624"/>
          </a:xfrm>
          <a:prstGeom prst="rect">
            <a:avLst/>
          </a:prstGeom>
          <a:noFill/>
          <a:ln/>
        </p:spPr>
        <p:txBody>
          <a:bodyPr wrap="square" lIns="0" tIns="0" rIns="0" bIns="0" rtlCol="0" anchor="ctr"/>
          <a:lstStyle/>
          <a:p>
            <a:pPr indent="0" marL="0">
              <a:buNone/>
            </a:pPr>
            <a:r>
              <a:rPr lang="en-US" sz="1350" dirty="0">
                <a:solidFill>
                  <a:srgbClr val="FFFFFF"/>
                </a:solidFill>
              </a:rPr>
              <a:t>Test with real users and real communication patterns</a:t>
            </a:r>
            <a:endParaRPr lang="en-US" sz="1350" dirty="0"/>
          </a:p>
        </p:txBody>
      </p:sp>
      <p:sp>
        <p:nvSpPr>
          <p:cNvPr id="10" name="Shape 6"/>
          <p:cNvSpPr/>
          <p:nvPr/>
        </p:nvSpPr>
        <p:spPr>
          <a:xfrm>
            <a:off x="640080" y="4846320"/>
            <a:ext cx="384048" cy="384048"/>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731520" y="4937760"/>
            <a:ext cx="201168" cy="201168"/>
          </a:xfrm>
          <a:prstGeom prst="rect">
            <a:avLst/>
          </a:prstGeom>
        </p:spPr>
      </p:pic>
      <p:sp>
        <p:nvSpPr>
          <p:cNvPr id="12" name="Text 7"/>
          <p:cNvSpPr txBox="1"/>
          <p:nvPr/>
        </p:nvSpPr>
        <p:spPr>
          <a:xfrm>
            <a:off x="1143000" y="4828032"/>
            <a:ext cx="5394960" cy="420624"/>
          </a:xfrm>
          <a:prstGeom prst="rect">
            <a:avLst/>
          </a:prstGeom>
          <a:noFill/>
          <a:ln/>
        </p:spPr>
        <p:txBody>
          <a:bodyPr wrap="square" lIns="0" tIns="0" rIns="0" bIns="0" rtlCol="0" anchor="ctr"/>
          <a:lstStyle/>
          <a:p>
            <a:pPr indent="0" marL="0">
              <a:buNone/>
            </a:pPr>
            <a:r>
              <a:rPr lang="en-US" sz="1350" dirty="0">
                <a:solidFill>
                  <a:srgbClr val="FFFFFF"/>
                </a:solidFill>
              </a:rPr>
              <a:t>Evaluate on a wider range of real scam messages</a:t>
            </a:r>
            <a:endParaRPr lang="en-US" sz="1350" dirty="0"/>
          </a:p>
        </p:txBody>
      </p:sp>
      <p:sp>
        <p:nvSpPr>
          <p:cNvPr id="13" name="Shape 8"/>
          <p:cNvSpPr/>
          <p:nvPr/>
        </p:nvSpPr>
        <p:spPr>
          <a:xfrm>
            <a:off x="640080" y="5358384"/>
            <a:ext cx="384048" cy="384048"/>
          </a:xfrm>
          <a:prstGeom prst="ellipse">
            <a:avLst/>
          </a:prstGeom>
          <a:solidFill>
            <a:schemeClr val="accent1"/>
          </a:solidFill>
          <a:ln/>
        </p:spPr>
      </p:sp>
      <p:pic>
        <p:nvPicPr>
          <p:cNvPr id="14" name="Image 2" descr="preencoded.png">    </p:cNvPr>
          <p:cNvPicPr>
            <a:picLocks noChangeAspect="1"/>
          </p:cNvPicPr>
          <p:nvPr/>
        </p:nvPicPr>
        <p:blipFill>
          <a:blip r:embed="rId3"/>
          <a:stretch>
            <a:fillRect/>
          </a:stretch>
        </p:blipFill>
        <p:spPr>
          <a:xfrm>
            <a:off x="731520" y="5449824"/>
            <a:ext cx="201168" cy="201168"/>
          </a:xfrm>
          <a:prstGeom prst="rect">
            <a:avLst/>
          </a:prstGeom>
        </p:spPr>
      </p:pic>
      <p:sp>
        <p:nvSpPr>
          <p:cNvPr id="15" name="Text 9"/>
          <p:cNvSpPr txBox="1"/>
          <p:nvPr/>
        </p:nvSpPr>
        <p:spPr>
          <a:xfrm>
            <a:off x="1143000" y="5340096"/>
            <a:ext cx="5394960" cy="420624"/>
          </a:xfrm>
          <a:prstGeom prst="rect">
            <a:avLst/>
          </a:prstGeom>
          <a:noFill/>
          <a:ln/>
        </p:spPr>
        <p:txBody>
          <a:bodyPr wrap="square" lIns="0" tIns="0" rIns="0" bIns="0" rtlCol="0" anchor="ctr"/>
          <a:lstStyle/>
          <a:p>
            <a:pPr indent="0" marL="0">
              <a:buNone/>
            </a:pPr>
            <a:r>
              <a:rPr lang="en-US" sz="1350" dirty="0">
                <a:solidFill>
                  <a:srgbClr val="FFFFFF"/>
                </a:solidFill>
              </a:rPr>
              <a:t>Measure where it works, where it fails, and whether decisions improve</a:t>
            </a:r>
            <a:endParaRPr lang="en-US" sz="1350" dirty="0"/>
          </a:p>
        </p:txBody>
      </p:sp>
      <p:sp>
        <p:nvSpPr>
          <p:cNvPr id="16" name="Text 10"/>
          <p:cNvSpPr txBox="1"/>
          <p:nvPr/>
        </p:nvSpPr>
        <p:spPr>
          <a:xfrm>
            <a:off x="640080" y="5897880"/>
            <a:ext cx="5852160" cy="365760"/>
          </a:xfrm>
          <a:prstGeom prst="rect">
            <a:avLst/>
          </a:prstGeom>
          <a:noFill/>
          <a:ln/>
        </p:spPr>
        <p:txBody>
          <a:bodyPr wrap="square" lIns="0" tIns="0" rIns="0" bIns="0" rtlCol="0" anchor="t"/>
          <a:lstStyle/>
          <a:p>
            <a:pPr indent="0" marL="0">
              <a:buNone/>
            </a:pPr>
            <a:r>
              <a:rPr lang="en-US" sz="1100" i="1" dirty="0">
                <a:solidFill>
                  <a:srgbClr val="A9A2D6"/>
                </a:solidFill>
              </a:rPr>
              <a:t>We do not yet claim a reduction in financial loss; the next stage is designed to measure it.</a:t>
            </a:r>
            <a:endParaRPr lang="en-US" sz="1100" dirty="0"/>
          </a:p>
        </p:txBody>
      </p:sp>
      <p:sp>
        <p:nvSpPr>
          <p:cNvPr id="17" name="logo tile"/>
          <p:cNvSpPr/>
          <p:nvPr/>
        </p:nvSpPr>
        <p:spPr>
          <a:xfrm>
            <a:off x="640080" y="457200"/>
            <a:ext cx="512064" cy="512064"/>
          </a:xfrm>
          <a:prstGeom prst="roundRect">
            <a:avLst>
              <a:gd name="adj" fmla="val 25000"/>
            </a:avLst>
          </a:prstGeom>
          <a:solidFill>
            <a:schemeClr val="accent1"/>
          </a:solidFill>
          <a:ln/>
        </p:spPr>
      </p:sp>
      <p:pic>
        <p:nvPicPr>
          <p:cNvPr id="18" name="Image 3" descr="Sajag shield">    </p:cNvPr>
          <p:cNvPicPr>
            <a:picLocks noChangeAspect="1"/>
          </p:cNvPicPr>
          <p:nvPr/>
        </p:nvPicPr>
        <p:blipFill>
          <a:blip r:embed="rId4"/>
          <a:stretch>
            <a:fillRect/>
          </a:stretch>
        </p:blipFill>
        <p:spPr>
          <a:xfrm>
            <a:off x="740664" y="557784"/>
            <a:ext cx="310896" cy="310896"/>
          </a:xfrm>
          <a:prstGeom prst="rect">
            <a:avLst/>
          </a:prstGeom>
        </p:spPr>
      </p:pic>
      <p:sp>
        <p:nvSpPr>
          <p:cNvPr id="19" name="Text 12"/>
          <p:cNvSpPr txBox="1"/>
          <p:nvPr/>
        </p:nvSpPr>
        <p:spPr>
          <a:xfrm>
            <a:off x="1298448" y="457200"/>
            <a:ext cx="5303520" cy="512064"/>
          </a:xfrm>
          <a:prstGeom prst="rect">
            <a:avLst/>
          </a:prstGeom>
          <a:noFill/>
          <a:ln/>
        </p:spPr>
        <p:txBody>
          <a:bodyPr wrap="square" lIns="0" tIns="0" rIns="0" bIns="0" rtlCol="0" anchor="ctr"/>
          <a:lstStyle/>
          <a:p>
            <a:pPr indent="0" marL="0">
              <a:buNone/>
            </a:pPr>
            <a:r>
              <a:rPr lang="en-US" sz="2400" b="1" dirty="0">
                <a:solidFill>
                  <a:srgbClr val="FFFFFF"/>
                </a:solidFill>
              </a:rPr>
              <a:t>sajag.</a:t>
            </a:r>
            <a:pPr indent="0" marL="0">
              <a:buNone/>
            </a:pPr>
            <a:r>
              <a:rPr lang="en-US" sz="1400" dirty="0">
                <a:solidFill>
                  <a:srgbClr val="C9C2F2"/>
                </a:solidFill>
              </a:rPr>
              <a:t>   Understand before you act.</a:t>
            </a:r>
            <a:endParaRPr lang="en-US" sz="1400" dirty="0"/>
          </a:p>
        </p:txBody>
      </p:sp>
      <p:sp>
        <p:nvSpPr>
          <p:cNvPr id="20" name="try it"/>
          <p:cNvSpPr/>
          <p:nvPr/>
        </p:nvSpPr>
        <p:spPr>
          <a:xfrm>
            <a:off x="7086600" y="1097280"/>
            <a:ext cx="4526280" cy="1783080"/>
          </a:xfrm>
          <a:prstGeom prst="roundRect">
            <a:avLst>
              <a:gd name="adj" fmla="val 9231"/>
            </a:avLst>
          </a:prstGeom>
          <a:solidFill>
            <a:srgbClr val="FFFFFF">
              <a:alpha val="8000"/>
            </a:srgbClr>
          </a:solidFill>
          <a:ln w="12700">
            <a:solidFill>
              <a:srgbClr val="6D62B8"/>
            </a:solidFill>
            <a:prstDash val="solid"/>
          </a:ln>
        </p:spPr>
      </p:sp>
      <p:sp>
        <p:nvSpPr>
          <p:cNvPr id="21" name="Text 14"/>
          <p:cNvSpPr txBox="1"/>
          <p:nvPr/>
        </p:nvSpPr>
        <p:spPr>
          <a:xfrm>
            <a:off x="7406640" y="1261872"/>
            <a:ext cx="3657600" cy="274320"/>
          </a:xfrm>
          <a:prstGeom prst="rect">
            <a:avLst/>
          </a:prstGeom>
          <a:noFill/>
          <a:ln/>
        </p:spPr>
        <p:txBody>
          <a:bodyPr wrap="square" lIns="0" tIns="0" rIns="0" bIns="0" rtlCol="0" anchor="t"/>
          <a:lstStyle/>
          <a:p>
            <a:pPr indent="0" marL="0">
              <a:buNone/>
            </a:pPr>
            <a:r>
              <a:rPr lang="en-US" sz="1200" b="1" spc="150" kern="0" dirty="0">
                <a:solidFill>
                  <a:srgbClr val="B9B1F5"/>
                </a:solidFill>
              </a:rPr>
              <a:t>TRY IT</a:t>
            </a:r>
            <a:endParaRPr lang="en-US" sz="1200" dirty="0"/>
          </a:p>
        </p:txBody>
      </p:sp>
      <p:pic>
        <p:nvPicPr>
          <p:cNvPr id="22" name="Image 4" descr="preencoded.png">    </p:cNvPr>
          <p:cNvPicPr>
            <a:picLocks noChangeAspect="1"/>
          </p:cNvPicPr>
          <p:nvPr/>
        </p:nvPicPr>
        <p:blipFill>
          <a:blip r:embed="rId5"/>
          <a:stretch>
            <a:fillRect/>
          </a:stretch>
        </p:blipFill>
        <p:spPr>
          <a:xfrm>
            <a:off x="7406640" y="1700784"/>
            <a:ext cx="310896" cy="310896"/>
          </a:xfrm>
          <a:prstGeom prst="rect">
            <a:avLst/>
          </a:prstGeom>
        </p:spPr>
      </p:pic>
      <p:sp>
        <p:nvSpPr>
          <p:cNvPr id="23" name="Text 15">
            <a:hlinkClick r:id="rId6" tooltip=""/>
          </p:cNvPr>
          <p:cNvSpPr txBox="1"/>
          <p:nvPr/>
        </p:nvSpPr>
        <p:spPr>
          <a:xfrm>
            <a:off x="7863840" y="1636776"/>
            <a:ext cx="3566160" cy="438912"/>
          </a:xfrm>
          <a:prstGeom prst="rect">
            <a:avLst/>
          </a:prstGeom>
          <a:noFill/>
          <a:ln/>
        </p:spPr>
        <p:txBody>
          <a:bodyPr wrap="square" lIns="0" tIns="0" rIns="0" bIns="0" rtlCol="0" anchor="ctr"/>
          <a:lstStyle/>
          <a:p>
            <a:pPr indent="0" marL="0">
              <a:buNone/>
            </a:pPr>
            <a:r>
              <a:rPr lang="en-US" sz="1800" b="1" u="sng" dirty="0">
                <a:solidFill>
                  <a:srgbClr val="FFFFFF"/>
                </a:solidFill>
                <a:hlinkClick r:id="rId6" invalidUrl="" action="" tgtFrame="" tooltip="" history="1" highlightClick="0" endSnd="0">
                  <a:extLst>
                    <a:ext uri="{A12FA001-AC4F-418D-AE19-62706E023703}">
                      <ahyp:hlinkClr xmlns:ahyp="http://schemas.microsoft.com/office/drawing/2018/hyperlinkcolor" val="tx"/>
                    </a:ext>
                  </a:extLst>
                </a:hlinkClick>
              </a:rPr>
              <a:t>sajag-ashen.vercel.app</a:t>
            </a:r>
            <a:endParaRPr lang="en-US" sz="1800" dirty="0"/>
          </a:p>
        </p:txBody>
      </p:sp>
      <p:pic>
        <p:nvPicPr>
          <p:cNvPr id="24" name="Image 5" descr="preencoded.png">    </p:cNvPr>
          <p:cNvPicPr>
            <a:picLocks noChangeAspect="1"/>
          </p:cNvPicPr>
          <p:nvPr/>
        </p:nvPicPr>
        <p:blipFill>
          <a:blip r:embed="rId7"/>
          <a:stretch>
            <a:fillRect/>
          </a:stretch>
        </p:blipFill>
        <p:spPr>
          <a:xfrm>
            <a:off x="7406640" y="2286000"/>
            <a:ext cx="310896" cy="310896"/>
          </a:xfrm>
          <a:prstGeom prst="rect">
            <a:avLst/>
          </a:prstGeom>
        </p:spPr>
      </p:pic>
      <p:sp>
        <p:nvSpPr>
          <p:cNvPr id="25" name="Text 16"/>
          <p:cNvSpPr txBox="1"/>
          <p:nvPr/>
        </p:nvSpPr>
        <p:spPr>
          <a:xfrm>
            <a:off x="7863840" y="2194560"/>
            <a:ext cx="3566160" cy="594360"/>
          </a:xfrm>
          <a:prstGeom prst="rect">
            <a:avLst/>
          </a:prstGeom>
          <a:noFill/>
          <a:ln/>
        </p:spPr>
        <p:txBody>
          <a:bodyPr wrap="square" lIns="0" tIns="0" rIns="0" bIns="0" rtlCol="0" anchor="t"/>
          <a:lstStyle/>
          <a:p>
            <a:pPr indent="0" marL="0">
              <a:buNone/>
            </a:pPr>
            <a:r>
              <a:rPr lang="en-US" sz="1600" b="1" dirty="0">
                <a:solidFill>
                  <a:srgbClr val="FFFFFF"/>
                </a:solidFill>
              </a:rPr>
              <a:t>Android app 2.0</a:t>
            </a:r>
            <a:endParaRPr lang="en-US" sz="1600" dirty="0"/>
          </a:p>
          <a:p>
            <a:pPr indent="0" marL="0">
              <a:buNone/>
            </a:pPr>
            <a:r>
              <a:rPr lang="en-US" sz="1200" dirty="0">
                <a:solidFill>
                  <a:srgbClr val="C9C2F2"/>
                </a:solidFill>
              </a:rPr>
              <a:t>Download from the website</a:t>
            </a:r>
            <a:endParaRPr lang="en-US" sz="1600" dirty="0"/>
          </a:p>
        </p:txBody>
      </p:sp>
      <p:sp>
        <p:nvSpPr>
          <p:cNvPr id="26" name="team"/>
          <p:cNvSpPr/>
          <p:nvPr/>
        </p:nvSpPr>
        <p:spPr>
          <a:xfrm>
            <a:off x="7086600" y="3108960"/>
            <a:ext cx="4526280" cy="1325880"/>
          </a:xfrm>
          <a:prstGeom prst="roundRect">
            <a:avLst>
              <a:gd name="adj" fmla="val 12414"/>
            </a:avLst>
          </a:prstGeom>
          <a:solidFill>
            <a:srgbClr val="FFFFFF">
              <a:alpha val="8000"/>
            </a:srgbClr>
          </a:solidFill>
          <a:ln w="12700">
            <a:solidFill>
              <a:srgbClr val="6D62B8"/>
            </a:solidFill>
            <a:prstDash val="solid"/>
          </a:ln>
        </p:spPr>
      </p:sp>
      <p:sp>
        <p:nvSpPr>
          <p:cNvPr id="27" name="Text 18"/>
          <p:cNvSpPr txBox="1"/>
          <p:nvPr/>
        </p:nvSpPr>
        <p:spPr>
          <a:xfrm>
            <a:off x="7406640" y="3273552"/>
            <a:ext cx="3657600" cy="274320"/>
          </a:xfrm>
          <a:prstGeom prst="rect">
            <a:avLst/>
          </a:prstGeom>
          <a:noFill/>
          <a:ln/>
        </p:spPr>
        <p:txBody>
          <a:bodyPr wrap="square" lIns="0" tIns="0" rIns="0" bIns="0" rtlCol="0" anchor="t"/>
          <a:lstStyle/>
          <a:p>
            <a:pPr indent="0" marL="0">
              <a:buNone/>
            </a:pPr>
            <a:r>
              <a:rPr lang="en-US" sz="1200" b="1" spc="150" kern="0" dirty="0">
                <a:solidFill>
                  <a:srgbClr val="B9B1F5"/>
                </a:solidFill>
              </a:rPr>
              <a:t>THE TEAM</a:t>
            </a:r>
            <a:endParaRPr lang="en-US" sz="1200" dirty="0"/>
          </a:p>
        </p:txBody>
      </p:sp>
      <p:sp>
        <p:nvSpPr>
          <p:cNvPr id="28" name="Text 19"/>
          <p:cNvSpPr txBox="1"/>
          <p:nvPr/>
        </p:nvSpPr>
        <p:spPr>
          <a:xfrm>
            <a:off x="7406640" y="3584448"/>
            <a:ext cx="3931920" cy="777240"/>
          </a:xfrm>
          <a:prstGeom prst="rect">
            <a:avLst/>
          </a:prstGeom>
          <a:noFill/>
          <a:ln/>
        </p:spPr>
        <p:txBody>
          <a:bodyPr wrap="square" lIns="0" tIns="0" rIns="0" bIns="0" rtlCol="0" anchor="t"/>
          <a:lstStyle/>
          <a:p>
            <a:pPr indent="0" marL="0">
              <a:buNone/>
            </a:pPr>
            <a:r>
              <a:rPr lang="en-US" sz="2000" b="1" dirty="0">
                <a:solidFill>
                  <a:srgbClr val="FFFFFF"/>
                </a:solidFill>
              </a:rPr>
              <a:t>Team FirstBest</a:t>
            </a:r>
            <a:endParaRPr lang="en-US" sz="1400" dirty="0"/>
          </a:p>
          <a:p>
            <a:pPr indent="0" marL="0">
              <a:buNone/>
            </a:pPr>
            <a:r>
              <a:rPr lang="en-US" sz="1500" dirty="0">
                <a:solidFill>
                  <a:srgbClr val="DAD5F7"/>
                </a:solidFill>
              </a:rPr>
              <a:t>Anshuman Biswal · Masud Ali</a:t>
            </a:r>
            <a:endParaRPr lang="en-US" sz="1400" dirty="0"/>
          </a:p>
        </p:txBody>
      </p:sp>
      <p:sp>
        <p:nvSpPr>
          <p:cNvPr id="29" name="tracks"/>
          <p:cNvSpPr/>
          <p:nvPr/>
        </p:nvSpPr>
        <p:spPr>
          <a:xfrm>
            <a:off x="7086600" y="4663440"/>
            <a:ext cx="4526280" cy="1325880"/>
          </a:xfrm>
          <a:prstGeom prst="roundRect">
            <a:avLst>
              <a:gd name="adj" fmla="val 12414"/>
            </a:avLst>
          </a:prstGeom>
          <a:solidFill>
            <a:srgbClr val="FFFFFF">
              <a:alpha val="8000"/>
            </a:srgbClr>
          </a:solidFill>
          <a:ln w="12700">
            <a:solidFill>
              <a:srgbClr val="6D62B8"/>
            </a:solidFill>
            <a:prstDash val="solid"/>
          </a:ln>
        </p:spPr>
      </p:sp>
      <p:sp>
        <p:nvSpPr>
          <p:cNvPr id="30" name="Text 21"/>
          <p:cNvSpPr txBox="1"/>
          <p:nvPr/>
        </p:nvSpPr>
        <p:spPr>
          <a:xfrm>
            <a:off x="7406640" y="4828032"/>
            <a:ext cx="4023360" cy="274320"/>
          </a:xfrm>
          <a:prstGeom prst="rect">
            <a:avLst/>
          </a:prstGeom>
          <a:noFill/>
          <a:ln/>
        </p:spPr>
        <p:txBody>
          <a:bodyPr wrap="square" lIns="0" tIns="0" rIns="0" bIns="0" rtlCol="0" anchor="t"/>
          <a:lstStyle/>
          <a:p>
            <a:pPr indent="0" marL="0">
              <a:buNone/>
            </a:pPr>
            <a:r>
              <a:rPr lang="en-US" sz="1100" b="1" spc="100" kern="0" dirty="0">
                <a:solidFill>
                  <a:srgbClr val="B9B1F5"/>
                </a:solidFill>
              </a:rPr>
              <a:t>SANGYAN INVESTOR RESILIENCE HACKATHON</a:t>
            </a:r>
            <a:endParaRPr lang="en-US" sz="1100" dirty="0"/>
          </a:p>
        </p:txBody>
      </p:sp>
      <p:sp>
        <p:nvSpPr>
          <p:cNvPr id="31" name="Text 22"/>
          <p:cNvSpPr txBox="1"/>
          <p:nvPr/>
        </p:nvSpPr>
        <p:spPr>
          <a:xfrm>
            <a:off x="7406640" y="5175504"/>
            <a:ext cx="4069080" cy="914400"/>
          </a:xfrm>
          <a:prstGeom prst="rect">
            <a:avLst/>
          </a:prstGeom>
          <a:noFill/>
          <a:ln/>
        </p:spPr>
        <p:txBody>
          <a:bodyPr wrap="square" lIns="0" tIns="0" rIns="0" bIns="0" rtlCol="0" anchor="t"/>
          <a:lstStyle/>
          <a:p>
            <a:pPr indent="0" marL="0">
              <a:lnSpc>
                <a:spcPct val="115000"/>
              </a:lnSpc>
              <a:buNone/>
            </a:pPr>
            <a:r>
              <a:rPr lang="en-US" sz="1300" b="1" dirty="0">
                <a:solidFill>
                  <a:srgbClr val="FFFFFF"/>
                </a:solidFill>
              </a:rPr>
              <a:t>Track C  </a:t>
            </a:r>
            <a:pPr indent="0" marL="0">
              <a:lnSpc>
                <a:spcPct val="115000"/>
              </a:lnSpc>
              <a:buNone/>
            </a:pPr>
            <a:r>
              <a:rPr lang="en-US" sz="1300" dirty="0">
                <a:solidFill>
                  <a:srgbClr val="DAD5F7"/>
                </a:solidFill>
              </a:rPr>
              <a:t>Investor Education for Bharat</a:t>
            </a:r>
            <a:endParaRPr lang="en-US" sz="1300" dirty="0"/>
          </a:p>
          <a:p>
            <a:pPr indent="0" marL="0">
              <a:lnSpc>
                <a:spcPct val="115000"/>
              </a:lnSpc>
              <a:buNone/>
            </a:pPr>
            <a:r>
              <a:rPr lang="en-US" sz="1300" b="1" dirty="0">
                <a:solidFill>
                  <a:srgbClr val="FFFFFF"/>
                </a:solidFill>
              </a:rPr>
              <a:t>Track E  </a:t>
            </a:r>
            <a:pPr indent="0" marL="0">
              <a:lnSpc>
                <a:spcPct val="115000"/>
              </a:lnSpc>
              <a:buNone/>
            </a:pPr>
            <a:r>
              <a:rPr lang="en-US" sz="1300" dirty="0">
                <a:solidFill>
                  <a:srgbClr val="DAD5F7"/>
                </a:solidFill>
              </a:rPr>
              <a:t>Misinformation &amp; Financial Content Literacy</a:t>
            </a:r>
            <a:endParaRPr lang="en-US" sz="1300" dirty="0"/>
          </a:p>
        </p:txBody>
      </p:sp>
      <p:sp>
        <p:nvSpPr>
          <p:cNvPr id="25" name="Slide Number Placeholder 0"/>
          <p:cNvSpPr>
            <a:spLocks noGrp="1"/>
          </p:cNvSpPr>
          <p:nvPr>
            <p:ph type="sldNum" sz="quarter" idx="4294967295"/>
          </p:nvPr>
        </p:nvSpPr>
        <p:spPr>
          <a:xfrm>
            <a:off x="11091672" y="642823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A2D6"/>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Sajag">
  <a:themeElements>
    <a:clrScheme name="Sajag">
      <a:dk1>
        <a:srgbClr val="1E1B2E"/>
      </a:dk1>
      <a:lt1>
        <a:srgbClr val="FFFFFF"/>
      </a:lt1>
      <a:dk2>
        <a:srgbClr val="241949"/>
      </a:dk2>
      <a:lt2>
        <a:srgbClr val="F4F1FE"/>
      </a:lt2>
      <a:accent1>
        <a:srgbClr val="6955E8"/>
      </a:accent1>
      <a:accent2>
        <a:srgbClr val="D98A1C"/>
      </a:accent2>
      <a:accent3>
        <a:srgbClr val="1E9A6E"/>
      </a:accent3>
      <a:accent4>
        <a:srgbClr val="BDB6E3"/>
      </a:accent4>
      <a:accent5>
        <a:srgbClr val="4B3BB5"/>
      </a:accent5>
      <a:accent6>
        <a:srgbClr val="6B6685"/>
      </a:accent6>
      <a:hlink>
        <a:srgbClr val="6955E8"/>
      </a:hlink>
      <a:folHlink>
        <a:srgbClr val="4B3BB5"/>
      </a:folHlink>
    </a:clrScheme>
    <a:fontScheme name="Saja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Team FirstBest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Sajag: understand before you act</dc:title>
  <dc:subject>SANGYAN Investor Resilience Hackathon</dc:subject>
  <dc:creator>Team FirstBest</dc:creator>
  <cp:lastModifiedBy>Team FirstBest</cp:lastModifiedBy>
  <cp:revision>1</cp:revision>
  <dcterms:created xsi:type="dcterms:W3CDTF">2026-10-04T14:05:36Z</dcterms:created>
  <dcterms:modified xsi:type="dcterms:W3CDTF">2026-10-04T14:05:36Z</dcterms:modified>
</cp:coreProperties>
</file>